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60" r:id="rId4"/>
  </p:sldMasterIdLst>
  <p:notesMasterIdLst>
    <p:notesMasterId r:id="rId10"/>
  </p:notesMasterIdLst>
  <p:sldIdLst>
    <p:sldId id="2147483571" r:id="rId5"/>
    <p:sldId id="2147483646" r:id="rId6"/>
    <p:sldId id="2147483643" r:id="rId7"/>
    <p:sldId id="2147483644" r:id="rId8"/>
    <p:sldId id="214748364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5DCB9AD-8C2B-472D-B210-7CADBA8EC3A3}">
          <p14:sldIdLst>
            <p14:sldId id="2147483571"/>
            <p14:sldId id="2147483646"/>
            <p14:sldId id="2147483643"/>
            <p14:sldId id="2147483644"/>
            <p14:sldId id="214748364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500607-9069-CB8A-56A7-849E66ED3667}" name="Michael Lomas" initials="ML" userId="S::Michael_Lomas@bnz.co.nz::703e9ef1-1f43-431d-b2ef-6489ca380ede" providerId="AD"/>
  <p188:author id="{70F64607-35DD-3C0A-3849-70DFD03C5FC9}" name="Ann Tiatia" initials="AT" userId="S::Ann_Tiatia@bnz.co.nz::c391a497-40e9-4836-88c5-dcf68a32a839" providerId="AD"/>
  <p188:author id="{D1F8EC50-2014-3C47-6A2F-0A813D156210}" name="Tanya Boelema" initials="TB" userId="S::Tanya_Boelema@bnz.co.nz::35e9b5ff-bb2f-436a-9896-6640054e676c" providerId="AD"/>
  <p188:author id="{F760C55B-68BF-BC88-8317-E9AB36C8AA96}" name="Paul Furkert" initials="PF" userId="S::paul_furkert@bnz.co.nz::ce038a1e-fe5a-40a5-8c99-6e49a7627050" providerId="AD"/>
  <p188:author id="{2798CE65-7FD1-624A-3966-9D244355BF6F}" name="Dan Barratt" initials="DB" userId="S::dan_barratt@bnz.co.nz::0ea6753e-1bb2-4ea8-8442-b56710cfa15c" providerId="AD"/>
  <p188:author id="{FACBB073-1C98-9A89-89E4-E3D46BE68D43}" name="Corina Elama" initials="CE" userId="S::Corina_Elama@bnz.co.nz::64a534a0-38f5-4422-a9ab-43bf049317a6" providerId="AD"/>
  <p188:author id="{E8772B74-C38B-ECF9-E126-F65E7995068A}" name="Cj Coughlan" initials="CC" userId="S::cj_coughlan@bnz.co.nz::eaadf76d-7757-421b-af98-7548abea0fa5" providerId="AD"/>
  <p188:author id="{90E5F17B-5D59-EB81-AC3E-6C26480A71D5}" name="Nick Fantham" initials="NF" userId="S::nick_fantham@bnz.co.nz::259ab003-d3e8-4aac-bbf9-e068098a5c15" providerId="AD"/>
  <p188:author id="{B1744885-09D2-5DF8-7373-9DDB20FB3593}" name="Paul Furkert" initials="PF" userId="S::Paul_Furkert@bnz.co.nz::ce038a1e-fe5a-40a5-8c99-6e49a7627050" providerId="AD"/>
  <p188:author id="{EC0B779E-5B73-8CB3-DA32-F248C7854F13}" name="Mark Steadman" initials="MS" userId="S::mark_steadman@bnz.co.nz::7805a62f-e6b5-4f10-aaee-9f78e4b88ccb" providerId="AD"/>
  <p188:author id="{3C240BC6-2B75-E067-D76D-82FB3A6498A3}" name="Stewart Robertson" initials="SR" userId="S::Stewart_Robertson@bnz.co.nz::05db1456-c0df-480d-b536-0f30795d3078" providerId="AD"/>
  <p188:author id="{E854EFC7-01F0-10DB-EEB7-DE718F6635AC}" name="Glenn Bellam" initials="GB" userId="S::glenn_bellam@bnz.co.nz::704b493c-489a-49e6-b06f-7177f7d83952" providerId="AD"/>
  <p188:author id="{53FCF2D2-364A-0FD4-81F4-0A85B3EF5DDB}" name="Cipri Parfene" initials="CP" userId="S::cipri_parfene@bnz.co.nz::bb572f2d-cde3-49fb-83e3-7d7851638b66" providerId="AD"/>
  <p188:author id="{67A37DF2-3774-D031-F45A-093033C3E22C}" name="Angus Cotton" initials="AC" userId="S::angus_cotton@bnz.co.nz::7f753041-8a23-4775-9fb0-22eaeb32341d" providerId="AD"/>
  <p188:author id="{853A79F7-9558-69F1-B5F2-982C65934A8F}" name="John Brondum" initials="JB" userId="S::John_Brondum@bnz.co.nz::229bdc9d-5f50-4b5d-8063-2c21f0a612e0" providerId="AD"/>
  <p188:author id="{05AB13FB-3EBA-7226-1604-F4CD9DE84C8F}" name="John Marshall" initials="JM" userId="S::John_Marshall@bnz.co.nz::8fc96316-54e6-4ca9-8a98-dde806b41d08" providerId="AD"/>
  <p188:author id="{C3148FFC-2BD9-8B59-9961-DE02D8B47E85}" name="Dan Barratt" initials="DB" userId="S::Dan_Barratt@bnz.co.nz::0ea6753e-1bb2-4ea8-8442-b56710cfa1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2DE"/>
    <a:srgbClr val="E3E7EB"/>
    <a:srgbClr val="001835"/>
    <a:srgbClr val="5B1D58"/>
    <a:srgbClr val="FFFFFF"/>
    <a:srgbClr val="002F6B"/>
    <a:srgbClr val="4E87DE"/>
    <a:srgbClr val="272723"/>
    <a:srgbClr val="5096D9"/>
    <a:srgbClr val="FF8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3762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B748DC-C84D-4F50-BBD5-1452B306E633}" type="datetimeFigureOut">
              <a:rPr lang="en-NZ" smtClean="0"/>
              <a:t>8/10/2025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F3DE64-C6B8-45AD-967F-D325870B121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98416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89F85B2A-F12A-9A9E-0973-F01F7AC343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299" y="522523"/>
            <a:ext cx="1407229" cy="688956"/>
          </a:xfrm>
          <a:prstGeom prst="rect">
            <a:avLst/>
          </a:prstGeom>
        </p:spPr>
      </p:pic>
      <p:sp>
        <p:nvSpPr>
          <p:cNvPr id="9" name="Title 11">
            <a:extLst>
              <a:ext uri="{FF2B5EF4-FFF2-40B4-BE49-F238E27FC236}">
                <a16:creationId xmlns:a16="http://schemas.microsoft.com/office/drawing/2014/main" id="{FCF05B5C-52C2-5F93-DE8D-1D1D57B333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9" y="2343106"/>
            <a:ext cx="10512424" cy="1080000"/>
          </a:xfrm>
        </p:spPr>
        <p:txBody>
          <a:bodyPr lIns="0" tIns="0" rIns="0" bIns="0"/>
          <a:lstStyle>
            <a:lvl1pPr>
              <a:defRPr sz="5400" b="0">
                <a:solidFill>
                  <a:srgbClr val="FFFFFF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/>
              <a:t>&lt;Title slide Option 2 heading&gt;</a:t>
            </a:r>
            <a:endParaRPr lang="en-US"/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374A457F-4ECA-B070-67EF-0BA39B7F22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788" y="3764897"/>
            <a:ext cx="10512425" cy="339588"/>
          </a:xfrm>
        </p:spPr>
        <p:txBody>
          <a:bodyPr lIns="0" tIns="0" rIns="0" bIns="0"/>
          <a:lstStyle>
            <a:lvl1pPr>
              <a:defRPr b="0" i="0">
                <a:solidFill>
                  <a:srgbClr val="FFFFFF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GB"/>
              <a:t>&lt;Title slide subheading&gt;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F07B06B7-0C2A-8C93-6633-1D0A3F1583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9788" y="4384940"/>
            <a:ext cx="10512425" cy="339588"/>
          </a:xfrm>
        </p:spPr>
        <p:txBody>
          <a:bodyPr lIns="0" tIns="0" rIns="0" bIns="0"/>
          <a:lstStyle>
            <a:lvl1pPr>
              <a:defRPr sz="1600" b="0" i="0">
                <a:solidFill>
                  <a:srgbClr val="FFFFFF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GB"/>
              <a:t>Optional document information</a:t>
            </a:r>
          </a:p>
        </p:txBody>
      </p:sp>
    </p:spTree>
    <p:extLst>
      <p:ext uri="{BB962C8B-B14F-4D97-AF65-F5344CB8AC3E}">
        <p14:creationId xmlns:p14="http://schemas.microsoft.com/office/powerpoint/2010/main" val="3943641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pos="7151">
          <p15:clr>
            <a:srgbClr val="FBAE40"/>
          </p15:clr>
        </p15:guide>
        <p15:guide id="4" orient="horz" pos="3589">
          <p15:clr>
            <a:srgbClr val="FBAE40"/>
          </p15:clr>
        </p15:guide>
        <p15:guide id="5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TARS + IMAGE OPTION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night sky, outdoor object&#10;&#10;Description automatically generated">
            <a:extLst>
              <a:ext uri="{FF2B5EF4-FFF2-40B4-BE49-F238E27FC236}">
                <a16:creationId xmlns:a16="http://schemas.microsoft.com/office/drawing/2014/main" id="{E3659355-91E3-81D3-5CD1-5052B76AA4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7" name="Title 11">
            <a:extLst>
              <a:ext uri="{FF2B5EF4-FFF2-40B4-BE49-F238E27FC236}">
                <a16:creationId xmlns:a16="http://schemas.microsoft.com/office/drawing/2014/main" id="{9B9D202A-58D6-D62C-0F00-71A41BC6D0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2349000"/>
            <a:ext cx="4783772" cy="1080000"/>
          </a:xfrm>
        </p:spPr>
        <p:txBody>
          <a:bodyPr lIns="0" tIns="0" rIns="0" bIns="0"/>
          <a:lstStyle>
            <a:lvl1pPr>
              <a:defRPr sz="5400" b="0">
                <a:solidFill>
                  <a:srgbClr val="FFFFFF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/>
              <a:t>&lt;Title slide Option 4 heading&gt;</a:t>
            </a:r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BA44C0A9-58E7-8B85-FF36-E6376DF26A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9788" y="3764897"/>
            <a:ext cx="4783773" cy="339588"/>
          </a:xfrm>
        </p:spPr>
        <p:txBody>
          <a:bodyPr lIns="0" tIns="0" rIns="0" bIns="0"/>
          <a:lstStyle>
            <a:lvl1pPr>
              <a:defRPr b="0" i="0">
                <a:solidFill>
                  <a:srgbClr val="FFFFFF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GB"/>
              <a:t>&lt;Title slide subheading&gt;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9990F3BE-1161-E910-D103-CA7C25B214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9788" y="4384940"/>
            <a:ext cx="4783773" cy="339588"/>
          </a:xfrm>
        </p:spPr>
        <p:txBody>
          <a:bodyPr lIns="0" tIns="0" rIns="0" bIns="0"/>
          <a:lstStyle>
            <a:lvl1pPr>
              <a:defRPr sz="1600" b="0" i="0">
                <a:solidFill>
                  <a:srgbClr val="FFFFFF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GB"/>
              <a:t>Optional document information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09EE806-4DA5-DED7-F788-898E6398100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</p:spPr>
        <p:txBody>
          <a:bodyPr anchor="ctr"/>
          <a:lstStyle>
            <a:lvl1pPr algn="ctr">
              <a:defRPr sz="1600"/>
            </a:lvl1pPr>
          </a:lstStyle>
          <a:p>
            <a:pPr marL="0" marR="0" lvl="0" indent="0" algn="l" defTabSz="914377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mi-NZ"/>
              <a:t>Click icon to insert your own picture</a:t>
            </a:r>
            <a:endParaRPr lang="en-NZ"/>
          </a:p>
          <a:p>
            <a:endParaRPr lang="en-NZ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3951351A-664B-EB67-67F4-DB5F39BDE4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299" y="522523"/>
            <a:ext cx="1407229" cy="68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934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pos="7151">
          <p15:clr>
            <a:srgbClr val="FBAE40"/>
          </p15:clr>
        </p15:guide>
        <p15:guide id="4" orient="horz" pos="3589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pos="408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Option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89F85B2A-F12A-9A9E-0973-F01F7AC343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299" y="522523"/>
            <a:ext cx="1407229" cy="688956"/>
          </a:xfrm>
          <a:prstGeom prst="rect">
            <a:avLst/>
          </a:prstGeom>
        </p:spPr>
      </p:pic>
      <p:sp>
        <p:nvSpPr>
          <p:cNvPr id="9" name="Title 11">
            <a:extLst>
              <a:ext uri="{FF2B5EF4-FFF2-40B4-BE49-F238E27FC236}">
                <a16:creationId xmlns:a16="http://schemas.microsoft.com/office/drawing/2014/main" id="{FCF05B5C-52C2-5F93-DE8D-1D1D57B333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9" y="2343106"/>
            <a:ext cx="10512424" cy="1080000"/>
          </a:xfrm>
        </p:spPr>
        <p:txBody>
          <a:bodyPr lIns="0" tIns="0" rIns="0" bIns="0"/>
          <a:lstStyle>
            <a:lvl1pPr>
              <a:defRPr sz="5400" b="0">
                <a:solidFill>
                  <a:srgbClr val="FFFFFF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/>
              <a:t>&lt;Section break Option 1&gt;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94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pos="7151">
          <p15:clr>
            <a:srgbClr val="FBAE40"/>
          </p15:clr>
        </p15:guide>
        <p15:guide id="4" orient="horz" pos="3589">
          <p15:clr>
            <a:srgbClr val="FBAE40"/>
          </p15:clr>
        </p15:guide>
        <p15:guide id="5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Option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outdoor, nature, night sky, outdoor object&#10;&#10;Description automatically generated">
            <a:extLst>
              <a:ext uri="{FF2B5EF4-FFF2-40B4-BE49-F238E27FC236}">
                <a16:creationId xmlns:a16="http://schemas.microsoft.com/office/drawing/2014/main" id="{25BF2FDC-5AF3-AA6A-E027-C872C6BA40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588000" cy="685800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5EE62E60-4112-B445-81E4-223863A3FD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91289" y="1838758"/>
            <a:ext cx="4860923" cy="1080000"/>
          </a:xfrm>
        </p:spPr>
        <p:txBody>
          <a:bodyPr lIns="0" tIns="0" rIns="0" bIns="0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/>
              <a:t>Section break</a:t>
            </a:r>
            <a:br>
              <a:rPr lang="en-GB"/>
            </a:br>
            <a:r>
              <a:rPr lang="en-GB"/>
              <a:t>Option 3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2130BB5-850F-3C41-8120-83B836A487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91290" y="4359610"/>
            <a:ext cx="4860923" cy="339588"/>
          </a:xfr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/>
              <a:t>Optional section subheading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24D435D2-3410-EB75-6243-94D57AAB35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299" y="522523"/>
            <a:ext cx="1407229" cy="68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61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pos="7151">
          <p15:clr>
            <a:srgbClr val="FBAE40"/>
          </p15:clr>
        </p15:guide>
        <p15:guide id="4" orient="horz" pos="3589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pos="408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OPTION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1">
            <a:extLst>
              <a:ext uri="{FF2B5EF4-FFF2-40B4-BE49-F238E27FC236}">
                <a16:creationId xmlns:a16="http://schemas.microsoft.com/office/drawing/2014/main" id="{4A46F358-BC55-E74D-82FD-A90ABF305C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9" y="2941465"/>
            <a:ext cx="10512424" cy="1080000"/>
          </a:xfrm>
        </p:spPr>
        <p:txBody>
          <a:bodyPr lIns="0" tIns="0" rIns="0" bIns="0"/>
          <a:lstStyle>
            <a:lvl1pPr algn="l"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5E5BF47-FCDD-1903-CCA9-2083D5DF819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299" y="522523"/>
            <a:ext cx="1407229" cy="68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65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pos="7151">
          <p15:clr>
            <a:srgbClr val="FBAE40"/>
          </p15:clr>
        </p15:guide>
        <p15:guide id="4" orient="horz" pos="3589">
          <p15:clr>
            <a:srgbClr val="FBAE40"/>
          </p15:clr>
        </p15:guide>
        <p15:guide id="5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2C8D0-1D46-D04A-A669-C9E13D41F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9239" y="248463"/>
            <a:ext cx="10512424" cy="502605"/>
          </a:xfrm>
        </p:spPr>
        <p:txBody>
          <a:bodyPr anchor="ctr"/>
          <a:lstStyle>
            <a:lvl1pPr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GB"/>
              <a:t>Basic slide heading</a:t>
            </a:r>
            <a:endParaRPr lang="en-US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56F6471-8607-FBA2-78A1-8667691399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25249" y="6460674"/>
            <a:ext cx="599917" cy="290552"/>
          </a:xfrm>
          <a:prstGeom prst="rect">
            <a:avLst/>
          </a:prstGeom>
        </p:spPr>
      </p:pic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BB5E0CB3-5060-4F06-8D09-9495D9BEAF98}"/>
              </a:ext>
            </a:extLst>
          </p:cNvPr>
          <p:cNvSpPr txBox="1">
            <a:spLocks/>
          </p:cNvSpPr>
          <p:nvPr userDrawn="1"/>
        </p:nvSpPr>
        <p:spPr>
          <a:xfrm>
            <a:off x="133554" y="6532721"/>
            <a:ext cx="323646" cy="209455"/>
          </a:xfrm>
          <a:prstGeom prst="rect">
            <a:avLst/>
          </a:prstGeom>
          <a:solidFill>
            <a:srgbClr val="00306E"/>
          </a:solidFill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E5A4CF9-4EB3-4341-AF18-D9A68BC60189}" type="slidenum">
              <a:rPr lang="en-NZ" sz="1000" noProof="0" smtClean="0">
                <a:solidFill>
                  <a:srgbClr val="FFAA1B"/>
                </a:solidFill>
                <a:latin typeface="Serrano Book" panose="02000504000000020004" pitchFamily="50" charset="0"/>
              </a:rPr>
              <a:pPr algn="ctr"/>
              <a:t>‹#›</a:t>
            </a:fld>
            <a:endParaRPr lang="en-NZ" sz="1000" noProof="0">
              <a:solidFill>
                <a:srgbClr val="FFAA1B"/>
              </a:solidFill>
              <a:latin typeface="Serrano Book" panose="02000504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230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ingl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7B04FE06-1A21-4102-B989-000AFEF14D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59863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3" imgH="384" progId="TCLayout.ActiveDocument.1">
                  <p:embed/>
                </p:oleObj>
              </mc:Choice>
              <mc:Fallback>
                <p:oleObj name="think-cell Slide" r:id="rId3" imgW="383" imgH="38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7B04FE06-1A21-4102-B989-000AFEF14D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FD28272C-084E-7E72-F5BD-227CDC3F9B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185" y="343435"/>
            <a:ext cx="11426400" cy="381779"/>
          </a:xfrm>
          <a:prstGeom prst="rect">
            <a:avLst/>
          </a:prstGeom>
          <a:ln>
            <a:noFill/>
          </a:ln>
        </p:spPr>
        <p:txBody>
          <a:bodyPr vert="horz" lIns="0" tIns="36000" bIns="36000" anchor="t" anchorCtr="0">
            <a:noAutofit/>
          </a:bodyPr>
          <a:lstStyle>
            <a:lvl1pPr>
              <a:lnSpc>
                <a:spcPct val="80000"/>
              </a:lnSpc>
              <a:defRPr sz="2400" b="1" spc="0" baseline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GB"/>
              <a:t>Basic slide heading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1F61B-9979-9183-3906-FD58A95923DA}"/>
              </a:ext>
            </a:extLst>
          </p:cNvPr>
          <p:cNvSpPr txBox="1"/>
          <p:nvPr userDrawn="1"/>
        </p:nvSpPr>
        <p:spPr>
          <a:xfrm>
            <a:off x="11430000" y="648206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kumimoji="0" lang="en-GB" sz="8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99BEF80E-4C46-492E-707B-20F127FCC9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11825" y="635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Z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9587CF12-E0CE-6AF6-A111-8E5BF088996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11825" y="66421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Z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671101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4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232">
          <p15:clr>
            <a:srgbClr val="FBAE40"/>
          </p15:clr>
        </p15:guide>
        <p15:guide id="6" orient="horz" pos="3884">
          <p15:clr>
            <a:srgbClr val="FBAE40"/>
          </p15:clr>
        </p15:guide>
        <p15:guide id="7" orient="horz" pos="5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9788" y="2349000"/>
            <a:ext cx="11232000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770069"/>
            <a:ext cx="10512424" cy="15814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F17558-1CB2-4702-BDD2-0D7950F3C6C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11826" y="6642100"/>
            <a:ext cx="79692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Z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419E7B-49D8-4E4E-95E7-E56C6533E45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11826" y="63500"/>
            <a:ext cx="796925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Z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73056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6" r:id="rId3"/>
    <p:sldLayoutId id="2147483668" r:id="rId4"/>
    <p:sldLayoutId id="2147483671" r:id="rId5"/>
    <p:sldLayoutId id="2147483695" r:id="rId6"/>
    <p:sldLayoutId id="2147483696" r:id="rId7"/>
  </p:sldLayoutIdLst>
  <p:hf hdr="0" ftr="0" dt="0"/>
  <p:txStyles>
    <p:titleStyle>
      <a:lvl1pPr algn="l" defTabSz="914377" rtl="0" eaLnBrk="1" fontAlgn="t" latinLnBrk="0" hangingPunct="1">
        <a:lnSpc>
          <a:spcPct val="65000"/>
        </a:lnSpc>
        <a:spcBef>
          <a:spcPct val="0"/>
        </a:spcBef>
        <a:buNone/>
        <a:defRPr lang="en-US" sz="5400" b="0" i="0" kern="1200" spc="-150" dirty="0">
          <a:solidFill>
            <a:schemeClr val="tx1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914377" rtl="0" eaLnBrk="1" fontAlgn="t" latinLnBrk="0" hangingPunct="1">
        <a:lnSpc>
          <a:spcPct val="90000"/>
        </a:lnSpc>
        <a:spcBef>
          <a:spcPts val="0"/>
        </a:spcBef>
        <a:spcAft>
          <a:spcPts val="200"/>
        </a:spcAft>
        <a:buFont typeface="Wingdings" panose="05000000000000000000" pitchFamily="2" charset="2"/>
        <a:buNone/>
        <a:defRPr lang="en-US" sz="2400" b="0" i="0" kern="1200" dirty="0" smtClean="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359991" indent="0" algn="l" defTabSz="914377" rtl="0" eaLnBrk="1" fontAlgn="t" latinLnBrk="0" hangingPunct="1">
        <a:lnSpc>
          <a:spcPct val="90000"/>
        </a:lnSpc>
        <a:spcBef>
          <a:spcPts val="500"/>
        </a:spcBef>
        <a:spcAft>
          <a:spcPts val="200"/>
        </a:spcAft>
        <a:buFont typeface="Arial" panose="020B0604020202020204" pitchFamily="34" charset="0"/>
        <a:buNone/>
        <a:defRPr lang="en-US" sz="2300" b="0" i="0" kern="1200" dirty="0" smtClean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2pPr>
      <a:lvl3pPr marL="719982" indent="0" algn="l" defTabSz="914377" rtl="0" eaLnBrk="1" fontAlgn="t" latinLnBrk="0" hangingPunct="1">
        <a:lnSpc>
          <a:spcPct val="90000"/>
        </a:lnSpc>
        <a:spcBef>
          <a:spcPts val="500"/>
        </a:spcBef>
        <a:spcAft>
          <a:spcPts val="200"/>
        </a:spcAft>
        <a:buClr>
          <a:schemeClr val="tx1"/>
        </a:buClr>
        <a:buFont typeface="System Font Regular"/>
        <a:buNone/>
        <a:defRPr lang="en-US" sz="1000" b="1" i="0" kern="1200" dirty="0" smtClean="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3pPr>
      <a:lvl4pPr marL="1371566" indent="0" algn="l" defTabSz="914377" rtl="0" eaLnBrk="1" fontAlgn="t" latinLnBrk="0" hangingPunct="1">
        <a:lnSpc>
          <a:spcPct val="90000"/>
        </a:lnSpc>
        <a:spcBef>
          <a:spcPts val="500"/>
        </a:spcBef>
        <a:spcAft>
          <a:spcPts val="200"/>
        </a:spcAft>
        <a:buFontTx/>
        <a:buNone/>
        <a:defRPr lang="en-US" sz="1000" b="0" i="0" kern="1200" dirty="0" smtClean="0">
          <a:solidFill>
            <a:schemeClr val="tx1"/>
          </a:solidFill>
          <a:latin typeface="+mj-lt"/>
          <a:ea typeface="+mn-ea"/>
          <a:cs typeface="Calibri Light" panose="020F0302020204030204" pitchFamily="34" charset="0"/>
        </a:defRPr>
      </a:lvl4pPr>
      <a:lvl5pPr marL="1828755" indent="0" algn="l" defTabSz="914377" rtl="0" eaLnBrk="1" fontAlgn="t" latinLnBrk="0" hangingPunct="1">
        <a:lnSpc>
          <a:spcPct val="90000"/>
        </a:lnSpc>
        <a:spcBef>
          <a:spcPts val="500"/>
        </a:spcBef>
        <a:spcAft>
          <a:spcPts val="200"/>
        </a:spcAft>
        <a:buFont typeface="Arial" panose="020B0604020202020204" pitchFamily="34" charset="0"/>
        <a:buNone/>
        <a:defRPr lang="en-US" sz="1000" kern="1200" dirty="0">
          <a:solidFill>
            <a:schemeClr val="tx1"/>
          </a:solidFill>
          <a:latin typeface="+mj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151">
          <p15:clr>
            <a:srgbClr val="F26B43"/>
          </p15:clr>
        </p15:guide>
        <p15:guide id="3" pos="529">
          <p15:clr>
            <a:srgbClr val="F26B43"/>
          </p15:clr>
        </p15:guide>
        <p15:guide id="4" orient="horz" pos="358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nz-my.sharepoint.com/:p:/g/personal/dermot_o'brien_bnz_co_nz/EWVp89gS0MBHn_dawzp4P1wB_BWslXQ9Q2LQUNRVvi7QsA?e=Ja6kQ5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bnz-my.sharepoint.com/:p:/g/personal/dermot_o'brien_bnz_co_nz/EWVp89gS0MBHn_dawzp4P1wB_BWslXQ9Q2LQUNRVvi7QsA?e=Ja6kQ5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bnz-my.sharepoint.com/:p:/g/personal/dermot_o'brien_bnz_co_nz/EWVp89gS0MBHn_dawzp4P1wB_BWslXQ9Q2LQUNRVvi7QsA?e=Ja6kQ5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83215-E3AD-4256-15FA-54D687EF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427564"/>
            <a:ext cx="10512424" cy="1215466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NZ" sz="4800" noProof="0" dirty="0">
                <a:latin typeface="Serrano Bold Italic" pitchFamily="50" charset="0"/>
                <a:ea typeface="Calibri Light"/>
                <a:cs typeface="Calibri Light"/>
              </a:rPr>
              <a:t>AI Platform</a:t>
            </a:r>
            <a:br>
              <a:rPr lang="en-NZ" sz="4000" noProof="0" dirty="0">
                <a:latin typeface="Serrano Bold Italic" pitchFamily="50" charset="0"/>
                <a:ea typeface="Calibri Light"/>
                <a:cs typeface="Calibri Light"/>
              </a:rPr>
            </a:br>
            <a:br>
              <a:rPr lang="en-NZ" sz="4000" noProof="0" dirty="0">
                <a:latin typeface="Serrano Bold Italic" pitchFamily="50" charset="0"/>
                <a:ea typeface="Calibri Light"/>
                <a:cs typeface="Calibri Light"/>
              </a:rPr>
            </a:br>
            <a:r>
              <a:rPr lang="en-NZ" sz="4000" noProof="0" dirty="0">
                <a:latin typeface="Serrano Bold Italic" pitchFamily="50" charset="0"/>
                <a:ea typeface="Calibri Light"/>
                <a:cs typeface="Calibri Light"/>
              </a:rPr>
              <a:t>MVP Considerations – AgentCore – Initial Perspectives</a:t>
            </a:r>
            <a:br>
              <a:rPr lang="en-NZ" sz="4000" noProof="0" dirty="0">
                <a:latin typeface="Serrano Bold Italic" pitchFamily="50" charset="0"/>
                <a:ea typeface="Calibri Light"/>
                <a:cs typeface="Calibri Light"/>
              </a:rPr>
            </a:br>
            <a:br>
              <a:rPr lang="en-NZ" sz="4000" noProof="0" dirty="0">
                <a:latin typeface="Serrano Bold Italic" pitchFamily="50" charset="0"/>
                <a:ea typeface="Calibri Light"/>
                <a:cs typeface="Calibri Light"/>
              </a:rPr>
            </a:br>
            <a:r>
              <a:rPr lang="en-NZ" sz="1600" noProof="0" dirty="0">
                <a:latin typeface="+mn-lt"/>
                <a:ea typeface="Calibri Light"/>
                <a:cs typeface="Calibri Light"/>
              </a:rPr>
              <a:t>October  7,  2025.</a:t>
            </a:r>
            <a:br>
              <a:rPr lang="en-NZ" sz="1600" noProof="0" dirty="0">
                <a:latin typeface="+mn-lt"/>
                <a:ea typeface="Calibri Light"/>
                <a:cs typeface="Calibri Light"/>
              </a:rPr>
            </a:br>
            <a:r>
              <a:rPr lang="en-NZ" sz="1600" noProof="0" dirty="0">
                <a:latin typeface="+mn-lt"/>
                <a:ea typeface="Calibri Light"/>
                <a:cs typeface="Calibri Light"/>
              </a:rPr>
              <a:t>Dermot O’Brien | Architecture Colleague &amp; Data  | Technology Strategy and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3DF591-0AF7-9465-4D82-5D75E9CA5E5E}"/>
              </a:ext>
            </a:extLst>
          </p:cNvPr>
          <p:cNvSpPr/>
          <p:nvPr/>
        </p:nvSpPr>
        <p:spPr>
          <a:xfrm>
            <a:off x="11352212" y="149988"/>
            <a:ext cx="717550" cy="3721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NZ" sz="1050" b="1" noProof="0"/>
              <a:t>AI Assisted</a:t>
            </a:r>
          </a:p>
          <a:p>
            <a:endParaRPr lang="en-NZ" sz="1050" b="1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81B06-321B-C930-F8AA-9039B316ABAC}"/>
              </a:ext>
            </a:extLst>
          </p:cNvPr>
          <p:cNvSpPr/>
          <p:nvPr/>
        </p:nvSpPr>
        <p:spPr>
          <a:xfrm>
            <a:off x="11409361" y="327827"/>
            <a:ext cx="603251" cy="160107"/>
          </a:xfrm>
          <a:prstGeom prst="rect">
            <a:avLst/>
          </a:prstGeom>
          <a:solidFill>
            <a:srgbClr val="A1D0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noProof="0">
                <a:solidFill>
                  <a:srgbClr val="002F6B"/>
                </a:solidFill>
              </a:rPr>
              <a:t>CURATED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180EC5-144C-11E1-9909-3224DC33874A}"/>
              </a:ext>
            </a:extLst>
          </p:cNvPr>
          <p:cNvSpPr/>
          <p:nvPr/>
        </p:nvSpPr>
        <p:spPr>
          <a:xfrm>
            <a:off x="9857362" y="149989"/>
            <a:ext cx="1466276" cy="37213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PRELIMINARY</a:t>
            </a:r>
          </a:p>
        </p:txBody>
      </p:sp>
    </p:spTree>
    <p:extLst>
      <p:ext uri="{BB962C8B-B14F-4D97-AF65-F5344CB8AC3E}">
        <p14:creationId xmlns:p14="http://schemas.microsoft.com/office/powerpoint/2010/main" val="418916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F8E-6042-508B-62E5-A645C17F1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We  continue to make good progress on the definition of our AI Platform target state architecture </a:t>
            </a:r>
            <a:endParaRPr lang="en-NZ" noProof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6AD9BA-DC2A-6142-5A5B-52A1905743DC}"/>
              </a:ext>
            </a:extLst>
          </p:cNvPr>
          <p:cNvSpPr txBox="1"/>
          <p:nvPr/>
        </p:nvSpPr>
        <p:spPr>
          <a:xfrm>
            <a:off x="215902" y="608174"/>
            <a:ext cx="9280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>
                <a:solidFill>
                  <a:schemeClr val="accent3">
                    <a:lumMod val="75000"/>
                  </a:schemeClr>
                </a:solidFill>
              </a:rPr>
              <a:t>An AI Platform target state architecture (TSA) blueprint has been published for initial alignment.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D00A58-7E96-B42C-85A3-CFCE39A15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26" y="951354"/>
            <a:ext cx="10512424" cy="59066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FB080B-59D5-9E7C-6D22-7D9637E5973C}"/>
              </a:ext>
            </a:extLst>
          </p:cNvPr>
          <p:cNvSpPr txBox="1"/>
          <p:nvPr/>
        </p:nvSpPr>
        <p:spPr>
          <a:xfrm>
            <a:off x="10295570" y="331175"/>
            <a:ext cx="16805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Z" sz="1200" noProof="0">
                <a:hlinkClick r:id="rId3"/>
              </a:rPr>
              <a:t>AI Platform capabilities</a:t>
            </a:r>
            <a:endParaRPr lang="en-NZ" sz="1200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36B6F0-43A6-2CFC-1CC0-CE827E2BC3AC}"/>
              </a:ext>
            </a:extLst>
          </p:cNvPr>
          <p:cNvSpPr/>
          <p:nvPr/>
        </p:nvSpPr>
        <p:spPr>
          <a:xfrm>
            <a:off x="6203950" y="3619500"/>
            <a:ext cx="1530350" cy="28809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C76C42-2259-BCBF-87DC-B76FEBA3F818}"/>
              </a:ext>
            </a:extLst>
          </p:cNvPr>
          <p:cNvSpPr/>
          <p:nvPr/>
        </p:nvSpPr>
        <p:spPr>
          <a:xfrm>
            <a:off x="5742561" y="5379395"/>
            <a:ext cx="1021405" cy="45071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556E36-C73A-F1B9-2A64-C475D6DE4348}"/>
              </a:ext>
            </a:extLst>
          </p:cNvPr>
          <p:cNvSpPr/>
          <p:nvPr/>
        </p:nvSpPr>
        <p:spPr>
          <a:xfrm>
            <a:off x="2905328" y="3504882"/>
            <a:ext cx="1335932" cy="321332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677FB5-2233-A0C3-6CC4-B2B10BEA5426}"/>
              </a:ext>
            </a:extLst>
          </p:cNvPr>
          <p:cNvSpPr/>
          <p:nvPr/>
        </p:nvSpPr>
        <p:spPr>
          <a:xfrm>
            <a:off x="5580434" y="4004554"/>
            <a:ext cx="1345660" cy="369332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C8C2FC-AD84-494A-6575-3C859DE7FA38}"/>
              </a:ext>
            </a:extLst>
          </p:cNvPr>
          <p:cNvSpPr/>
          <p:nvPr/>
        </p:nvSpPr>
        <p:spPr>
          <a:xfrm>
            <a:off x="10392087" y="697923"/>
            <a:ext cx="291154" cy="16636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219EA8-7C17-AA94-4A18-2CA815C83ECD}"/>
              </a:ext>
            </a:extLst>
          </p:cNvPr>
          <p:cNvSpPr txBox="1"/>
          <p:nvPr/>
        </p:nvSpPr>
        <p:spPr>
          <a:xfrm>
            <a:off x="10683241" y="637228"/>
            <a:ext cx="11889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200" dirty="0"/>
              <a:t>Relating to MVP</a:t>
            </a:r>
          </a:p>
        </p:txBody>
      </p:sp>
    </p:spTree>
    <p:extLst>
      <p:ext uri="{BB962C8B-B14F-4D97-AF65-F5344CB8AC3E}">
        <p14:creationId xmlns:p14="http://schemas.microsoft.com/office/powerpoint/2010/main" val="89546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8ECB2-13E2-1BA2-5FC5-CDCB409D7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664" y="206359"/>
            <a:ext cx="10512424" cy="502605"/>
          </a:xfrm>
        </p:spPr>
        <p:txBody>
          <a:bodyPr/>
          <a:lstStyle/>
          <a:p>
            <a:r>
              <a:rPr lang="en-NZ" noProof="0"/>
              <a:t>We can proceed with an agentic AI MVP that leverages NAB research but aligned to our platforms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07EFC7-3324-ECCD-E68D-CD2ECFD5B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331626"/>
              </p:ext>
            </p:extLst>
          </p:nvPr>
        </p:nvGraphicFramePr>
        <p:xfrm>
          <a:off x="5084762" y="687037"/>
          <a:ext cx="6943724" cy="5758634"/>
        </p:xfrm>
        <a:graphic>
          <a:graphicData uri="http://schemas.openxmlformats.org/drawingml/2006/table">
            <a:tbl>
              <a:tblPr/>
              <a:tblGrid>
                <a:gridCol w="905713">
                  <a:extLst>
                    <a:ext uri="{9D8B030D-6E8A-4147-A177-3AD203B41FA5}">
                      <a16:colId xmlns:a16="http://schemas.microsoft.com/office/drawing/2014/main" val="2203138782"/>
                    </a:ext>
                  </a:extLst>
                </a:gridCol>
                <a:gridCol w="2515350">
                  <a:extLst>
                    <a:ext uri="{9D8B030D-6E8A-4147-A177-3AD203B41FA5}">
                      <a16:colId xmlns:a16="http://schemas.microsoft.com/office/drawing/2014/main" val="2843970312"/>
                    </a:ext>
                  </a:extLst>
                </a:gridCol>
                <a:gridCol w="1102611">
                  <a:extLst>
                    <a:ext uri="{9D8B030D-6E8A-4147-A177-3AD203B41FA5}">
                      <a16:colId xmlns:a16="http://schemas.microsoft.com/office/drawing/2014/main" val="3432010155"/>
                    </a:ext>
                  </a:extLst>
                </a:gridCol>
                <a:gridCol w="687753">
                  <a:extLst>
                    <a:ext uri="{9D8B030D-6E8A-4147-A177-3AD203B41FA5}">
                      <a16:colId xmlns:a16="http://schemas.microsoft.com/office/drawing/2014/main" val="2038250330"/>
                    </a:ext>
                  </a:extLst>
                </a:gridCol>
                <a:gridCol w="655974">
                  <a:extLst>
                    <a:ext uri="{9D8B030D-6E8A-4147-A177-3AD203B41FA5}">
                      <a16:colId xmlns:a16="http://schemas.microsoft.com/office/drawing/2014/main" val="527991075"/>
                    </a:ext>
                  </a:extLst>
                </a:gridCol>
                <a:gridCol w="1076323">
                  <a:extLst>
                    <a:ext uri="{9D8B030D-6E8A-4147-A177-3AD203B41FA5}">
                      <a16:colId xmlns:a16="http://schemas.microsoft.com/office/drawing/2014/main" val="1601452628"/>
                    </a:ext>
                  </a:extLst>
                </a:gridCol>
              </a:tblGrid>
              <a:tr h="12482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Capabilities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Requirements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MVP Decisions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Post MVP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Capability Area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D5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Capability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1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434059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Agent Development framework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Define how agents are designed, how they interact, and how they achieve their objectives.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Strands</a:t>
                      </a:r>
                      <a:b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b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LangGraph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NZ" sz="900" b="0" i="0" u="none" strike="noStrike" noProof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Agentic AI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AG2. Agent Development Frameworks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720431"/>
                  </a:ext>
                </a:extLst>
              </a:tr>
              <a:tr h="68652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Agentic hosting / runtime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Auto-scaling runtimes, scheduler systems, and queue systems for agent execution with Network-level security including private networks and traffic isolation.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AWS AgentCore Runtime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Kubernetes Containers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Agentic AI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AG1.1 Runtime Environment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72516"/>
                  </a:ext>
                </a:extLst>
              </a:tr>
              <a:tr h="31386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Agentic builder (CI/CD)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Code integration, testing, and deployment.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BNZ tooling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NZ" sz="900" b="0" i="0" u="none" strike="noStrike" noProof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Agentic AI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AG2.4 Development Tools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987651"/>
                  </a:ext>
                </a:extLst>
              </a:tr>
              <a:tr h="56170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Graph Database (Semantic) / Vector (traditional RAG)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Interconnected web of facts that illustrates the semantic relationships between entities.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Neo4j community? / MongoDB for vector?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Neo4 enterprise?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Knowledge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KN3. Knowledge Storage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80515"/>
                  </a:ext>
                </a:extLst>
              </a:tr>
              <a:tr h="31205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Context Memory and State management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Context management, long-term memory systems, and knowledge stores.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PostgreSQL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Mem0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Agentic AI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AG1.5 Memory Services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088092"/>
                  </a:ext>
                </a:extLst>
              </a:tr>
              <a:tr h="46808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Agent Registry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Metadata about each agent, allowing other agents or systems to discover and interact with them.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TBD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Build our own? / NAB Follow?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Agentic AI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AG7. Agent Segmentation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841126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MCP Gateway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Aggregating multiple MCP servers behind a single.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Secure interface.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TBD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Agentic AI</a:t>
                      </a:r>
                    </a:p>
                    <a:p>
                      <a:pPr algn="ctr" fontAlgn="t">
                        <a:buNone/>
                      </a:pPr>
                      <a:endParaRPr lang="en-NZ" sz="900" b="0" i="0" u="none" strike="noStrike" noProof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AG2 Agentic AI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200300"/>
                  </a:ext>
                </a:extLst>
              </a:tr>
              <a:tr h="56170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MCP Registry / Servers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Responsible for executing AI logic, handling tool execution, and managing session context between Agents and platform services.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 case specific e.g. GitHub, Data Products, ServiceNow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MCP Registry (recent launch from Anthropic)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Agentic AI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AG3.4 Action and Tool Use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175505"/>
                  </a:ext>
                </a:extLst>
              </a:tr>
              <a:tr h="48145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Agent evaluation &amp; observability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Specialised monitoring for agent performance, evaluation logs, conversation quality, and behavioural analytics for business and technical owners.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TBD / Open Telemetry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Inhouse build / NAB follow?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Agentic AI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AG3.5 Monitoring and Observability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697655"/>
                  </a:ext>
                </a:extLst>
              </a:tr>
              <a:tr h="3744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Large Language Model serving (LLMaaS)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Core language models that power agent reasoning and natural language understanding.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AWS Bedrock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AWS Bedrock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Models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ML1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902664"/>
                  </a:ext>
                </a:extLst>
              </a:tr>
              <a:tr h="3744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Agent Intent and Eventing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Decoupling A2A and enabling asynchronous communication with durable messaging.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BNZ Eventing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BNZ Eventing</a:t>
                      </a:r>
                    </a:p>
                    <a:p>
                      <a:pPr algn="l" fontAlgn="t">
                        <a:buNone/>
                      </a:pPr>
                      <a:endParaRPr lang="en-NZ" sz="900" b="0" i="0" u="none" strike="noStrike" noProof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Agentic AI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NZ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AG5.3 Agent-to-Agent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900352"/>
                  </a:ext>
                </a:extLst>
              </a:tr>
            </a:tbl>
          </a:graphicData>
        </a:graphic>
      </p:graphicFrame>
      <p:sp>
        <p:nvSpPr>
          <p:cNvPr id="6" name="Left Brace 5">
            <a:extLst>
              <a:ext uri="{FF2B5EF4-FFF2-40B4-BE49-F238E27FC236}">
                <a16:creationId xmlns:a16="http://schemas.microsoft.com/office/drawing/2014/main" id="{9BB3FFE8-3EBF-EE85-95EE-7B5EE57FACAF}"/>
              </a:ext>
            </a:extLst>
          </p:cNvPr>
          <p:cNvSpPr/>
          <p:nvPr/>
        </p:nvSpPr>
        <p:spPr>
          <a:xfrm rot="5400000">
            <a:off x="11007477" y="-287583"/>
            <a:ext cx="190039" cy="168052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01810E-3EC6-F198-49B2-AB89268D248B}"/>
              </a:ext>
            </a:extLst>
          </p:cNvPr>
          <p:cNvSpPr txBox="1"/>
          <p:nvPr/>
        </p:nvSpPr>
        <p:spPr>
          <a:xfrm>
            <a:off x="10262232" y="184666"/>
            <a:ext cx="16805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NZ" sz="1200" noProof="0">
                <a:hlinkClick r:id="rId2"/>
              </a:rPr>
              <a:t>AI Platform capabilities</a:t>
            </a:r>
            <a:endParaRPr lang="en-NZ" sz="1200" noProof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254690-201D-30D9-8AA2-EBC4E6AAF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8" y="1009649"/>
            <a:ext cx="4914114" cy="534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93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BD42-FEA6-DE8E-7B7F-298E56369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noProof="0" dirty="0"/>
              <a:t>e.g. Data products could be done on this Bedrock / AgentCore based MVP platform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CE07DF-9434-8A39-00BC-288C5D01B301}"/>
              </a:ext>
            </a:extLst>
          </p:cNvPr>
          <p:cNvSpPr txBox="1"/>
          <p:nvPr/>
        </p:nvSpPr>
        <p:spPr>
          <a:xfrm>
            <a:off x="249239" y="676600"/>
            <a:ext cx="11779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noProof="0">
                <a:solidFill>
                  <a:schemeClr val="accent3">
                    <a:lumMod val="75000"/>
                  </a:schemeClr>
                </a:solidFill>
              </a:rPr>
              <a:t>Leveraging Bedrock AgentCore supported agentic frameworks.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2BC947-34CD-0A90-6B1A-705768431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0640"/>
            <a:ext cx="12192000" cy="565671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8E94A5-2CA1-6503-AA93-881BC3A9F74A}"/>
              </a:ext>
            </a:extLst>
          </p:cNvPr>
          <p:cNvSpPr/>
          <p:nvPr/>
        </p:nvSpPr>
        <p:spPr>
          <a:xfrm>
            <a:off x="5635557" y="1239223"/>
            <a:ext cx="1273952" cy="3177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rgbClr val="FF0000"/>
                </a:solidFill>
              </a:rPr>
              <a:t>Indicative</a:t>
            </a:r>
          </a:p>
        </p:txBody>
      </p:sp>
    </p:spTree>
    <p:extLst>
      <p:ext uri="{BB962C8B-B14F-4D97-AF65-F5344CB8AC3E}">
        <p14:creationId xmlns:p14="http://schemas.microsoft.com/office/powerpoint/2010/main" val="3561338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0C7BE-E3AD-E3B9-89DB-B8423F1A5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79008D-9863-A37F-4D6B-E5B05100C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1746" y="2786294"/>
            <a:ext cx="5247804" cy="1080000"/>
          </a:xfrm>
        </p:spPr>
        <p:txBody>
          <a:bodyPr/>
          <a:lstStyle/>
          <a:p>
            <a:r>
              <a:rPr lang="en-NZ" noProof="0"/>
              <a:t>AI Target State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E13998-1274-4835-C762-8F62797F766B}"/>
              </a:ext>
            </a:extLst>
          </p:cNvPr>
          <p:cNvSpPr txBox="1"/>
          <p:nvPr/>
        </p:nvSpPr>
        <p:spPr>
          <a:xfrm>
            <a:off x="933450" y="2523872"/>
            <a:ext cx="375936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6000" noProof="0" dirty="0">
                <a:solidFill>
                  <a:srgbClr val="FFFFFF"/>
                </a:solidFill>
              </a:rPr>
              <a:t>Appendix 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F7C9B0-7F3E-BD15-F368-1A779881CB07}"/>
              </a:ext>
            </a:extLst>
          </p:cNvPr>
          <p:cNvSpPr txBox="1"/>
          <p:nvPr/>
        </p:nvSpPr>
        <p:spPr>
          <a:xfrm>
            <a:off x="6715329" y="3971520"/>
            <a:ext cx="47720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NZ" noProof="0" dirty="0">
                <a:hlinkClick r:id="rId2"/>
              </a:rPr>
              <a:t>AI Platform - Target State Architecture - Working</a:t>
            </a:r>
            <a:endParaRPr lang="en-NZ" noProof="0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4981FF-8468-EB55-8BE7-DF6433139DD2}"/>
              </a:ext>
            </a:extLst>
          </p:cNvPr>
          <p:cNvSpPr txBox="1"/>
          <p:nvPr/>
        </p:nvSpPr>
        <p:spPr>
          <a:xfrm>
            <a:off x="6285847" y="3991105"/>
            <a:ext cx="5721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NZ" noProof="0">
                <a:ea typeface="Calibri"/>
                <a:cs typeface="Calibri"/>
              </a:rPr>
              <a:t>See</a:t>
            </a:r>
            <a:endParaRPr lang="en-NZ" noProof="0"/>
          </a:p>
        </p:txBody>
      </p:sp>
    </p:spTree>
    <p:extLst>
      <p:ext uri="{BB962C8B-B14F-4D97-AF65-F5344CB8AC3E}">
        <p14:creationId xmlns:p14="http://schemas.microsoft.com/office/powerpoint/2010/main" val="28979953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NZ POWERPOINT TEMPLATE TITLE SLIDES">
  <a:themeElements>
    <a:clrScheme name="Custom 3">
      <a:dk1>
        <a:srgbClr val="002F6B"/>
      </a:dk1>
      <a:lt1>
        <a:srgbClr val="FAA61A"/>
      </a:lt1>
      <a:dk2>
        <a:srgbClr val="FFE500"/>
      </a:dk2>
      <a:lt2>
        <a:srgbClr val="E95160"/>
      </a:lt2>
      <a:accent1>
        <a:srgbClr val="007DC3"/>
      </a:accent1>
      <a:accent2>
        <a:srgbClr val="B5CD71"/>
      </a:accent2>
      <a:accent3>
        <a:srgbClr val="99CAD2"/>
      </a:accent3>
      <a:accent4>
        <a:srgbClr val="ED6B06"/>
      </a:accent4>
      <a:accent5>
        <a:srgbClr val="0B909F"/>
      </a:accent5>
      <a:accent6>
        <a:srgbClr val="5A1E58"/>
      </a:accent6>
      <a:hlink>
        <a:srgbClr val="007DC3"/>
      </a:hlink>
      <a:folHlink>
        <a:srgbClr val="595959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NZ Partners Powerpoint Template PRESENTATION" id="{AC7BB68A-2EFB-4A95-99B5-289DA6F147F6}" vid="{EE926F40-3CF5-48E3-9E6D-EEE78155B9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6C705445D8BB4F8B95CEABD4D3B776" ma:contentTypeVersion="22" ma:contentTypeDescription="Create a new document." ma:contentTypeScope="" ma:versionID="5ee42203fabafafb1d9f6a8664b60be6">
  <xsd:schema xmlns:xsd="http://www.w3.org/2001/XMLSchema" xmlns:xs="http://www.w3.org/2001/XMLSchema" xmlns:p="http://schemas.microsoft.com/office/2006/metadata/properties" xmlns:ns1="http://schemas.microsoft.com/sharepoint/v3" xmlns:ns2="ac12aba4-ac4f-49e7-b449-a8a58dcefcea" xmlns:ns3="4c9fbb4b-1c1e-4c73-bf96-26dac659926c" targetNamespace="http://schemas.microsoft.com/office/2006/metadata/properties" ma:root="true" ma:fieldsID="4f69b25ccd5923eacfdba6fc3e27c9bd" ns1:_="" ns2:_="" ns3:_="">
    <xsd:import namespace="http://schemas.microsoft.com/sharepoint/v3"/>
    <xsd:import namespace="ac12aba4-ac4f-49e7-b449-a8a58dcefcea"/>
    <xsd:import namespace="4c9fbb4b-1c1e-4c73-bf96-26dac65992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12aba4-ac4f-49e7-b449-a8a58dcefc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0e30fd2-a112-4581-92a9-68851288a5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Status" ma:index="27" nillable="true" ma:displayName="Status" ma:default="DRAFT" ma:format="Dropdown" ma:internalName="Status">
      <xsd:simpleType>
        <xsd:restriction base="dms:Choice">
          <xsd:enumeration value="ENDORSED"/>
          <xsd:enumeration value="DRAFT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9fbb4b-1c1e-4c73-bf96-26dac659926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066327f-67b0-47e4-8b07-a567c467af42}" ma:internalName="TaxCatchAll" ma:showField="CatchAllData" ma:web="4c9fbb4b-1c1e-4c73-bf96-26dac65992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9fbb4b-1c1e-4c73-bf96-26dac659926c" xsi:nil="true"/>
    <lcf76f155ced4ddcb4097134ff3c332f xmlns="ac12aba4-ac4f-49e7-b449-a8a58dcefcea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  <Status xmlns="ac12aba4-ac4f-49e7-b449-a8a58dcefcea">ENDORSED</Status>
  </documentManagement>
</p:properties>
</file>

<file path=customXml/itemProps1.xml><?xml version="1.0" encoding="utf-8"?>
<ds:datastoreItem xmlns:ds="http://schemas.openxmlformats.org/officeDocument/2006/customXml" ds:itemID="{C9FBB26B-B0A7-4F13-80CE-02523DE077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93222D-1F26-4BFB-99D3-9C53D2493CC4}">
  <ds:schemaRefs>
    <ds:schemaRef ds:uri="4c9fbb4b-1c1e-4c73-bf96-26dac659926c"/>
    <ds:schemaRef ds:uri="ac12aba4-ac4f-49e7-b449-a8a58dcefce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5AA2A45-F78F-4084-B341-B95958AE5DCE}">
  <ds:schemaRefs>
    <ds:schemaRef ds:uri="4c9fbb4b-1c1e-4c73-bf96-26dac659926c"/>
    <ds:schemaRef ds:uri="ac12aba4-ac4f-49e7-b449-a8a58dcefce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488</Words>
  <Application>Microsoft Office PowerPoint</Application>
  <PresentationFormat>Widescreen</PresentationFormat>
  <Paragraphs>87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Calibri Light</vt:lpstr>
      <vt:lpstr>Graphik</vt:lpstr>
      <vt:lpstr>Serrano Bold Italic</vt:lpstr>
      <vt:lpstr>Serrano Book</vt:lpstr>
      <vt:lpstr>System Font Regular</vt:lpstr>
      <vt:lpstr>Wingdings</vt:lpstr>
      <vt:lpstr>BNZ POWERPOINT TEMPLATE TITLE SLIDES</vt:lpstr>
      <vt:lpstr>think-cell Slide</vt:lpstr>
      <vt:lpstr>AI Platform  MVP Considerations – AgentCore – Initial Perspectives  October  7,  2025. Dermot O’Brien | Architecture Colleague &amp; Data  | Technology Strategy and Architecture</vt:lpstr>
      <vt:lpstr>We  continue to make good progress on the definition of our AI Platform target state architecture </vt:lpstr>
      <vt:lpstr>We can proceed with an agentic AI MVP that leverages NAB research but aligned to our platforms</vt:lpstr>
      <vt:lpstr>e.g. Data products could be done on this Bedrock / AgentCore based MVP platform</vt:lpstr>
      <vt:lpstr>AI Target State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Name – Target State</dc:title>
  <dc:creator>Corina Elama</dc:creator>
  <cp:lastModifiedBy>Dermot O'Brien</cp:lastModifiedBy>
  <cp:revision>6</cp:revision>
  <dcterms:created xsi:type="dcterms:W3CDTF">2024-08-26T23:36:39Z</dcterms:created>
  <dcterms:modified xsi:type="dcterms:W3CDTF">2025-10-07T20:53:52Z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7d1e36-6fc3-4f53-9115-a90510e29109_Enabled">
    <vt:lpwstr>true</vt:lpwstr>
  </property>
  <property fmtid="{D5CDD505-2E9C-101B-9397-08002B2CF9AE}" pid="3" name="MSIP_Label_387d1e36-6fc3-4f53-9115-a90510e29109_SetDate">
    <vt:lpwstr>2024-08-26T23:36:46Z</vt:lpwstr>
  </property>
  <property fmtid="{D5CDD505-2E9C-101B-9397-08002B2CF9AE}" pid="4" name="MSIP_Label_387d1e36-6fc3-4f53-9115-a90510e29109_Method">
    <vt:lpwstr>Privileged</vt:lpwstr>
  </property>
  <property fmtid="{D5CDD505-2E9C-101B-9397-08002B2CF9AE}" pid="5" name="MSIP_Label_387d1e36-6fc3-4f53-9115-a90510e29109_Name">
    <vt:lpwstr>387d1e36-6fc3-4f53-9115-a90510e29109</vt:lpwstr>
  </property>
  <property fmtid="{D5CDD505-2E9C-101B-9397-08002B2CF9AE}" pid="6" name="MSIP_Label_387d1e36-6fc3-4f53-9115-a90510e29109_SiteId">
    <vt:lpwstr>2dc32a81-25ce-4e14-b7bd-f7a45d1170c0</vt:lpwstr>
  </property>
  <property fmtid="{D5CDD505-2E9C-101B-9397-08002B2CF9AE}" pid="7" name="MSIP_Label_387d1e36-6fc3-4f53-9115-a90510e29109_ActionId">
    <vt:lpwstr>248941ed-95c0-42d8-86ca-41ad2835623e</vt:lpwstr>
  </property>
  <property fmtid="{D5CDD505-2E9C-101B-9397-08002B2CF9AE}" pid="8" name="MSIP_Label_387d1e36-6fc3-4f53-9115-a90510e29109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PRIVATE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PRIVATE</vt:lpwstr>
  </property>
  <property fmtid="{D5CDD505-2E9C-101B-9397-08002B2CF9AE}" pid="13" name="ContentTypeId">
    <vt:lpwstr>0x010100406C705445D8BB4F8B95CEABD4D3B776</vt:lpwstr>
  </property>
  <property fmtid="{D5CDD505-2E9C-101B-9397-08002B2CF9AE}" pid="14" name="MediaServiceImageTags">
    <vt:lpwstr/>
  </property>
  <property fmtid="{D5CDD505-2E9C-101B-9397-08002B2CF9AE}" pid="15" name="Tranche">
    <vt:lpwstr>March 2025</vt:lpwstr>
  </property>
</Properties>
</file>