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660" r:id="rId4"/>
  </p:sldMasterIdLst>
  <p:notesMasterIdLst>
    <p:notesMasterId r:id="rId22"/>
  </p:notesMasterIdLst>
  <p:sldIdLst>
    <p:sldId id="2147483571" r:id="rId5"/>
    <p:sldId id="2147483600" r:id="rId6"/>
    <p:sldId id="2147483628" r:id="rId7"/>
    <p:sldId id="2147483629" r:id="rId8"/>
    <p:sldId id="2147483627" r:id="rId9"/>
    <p:sldId id="2147483638" r:id="rId10"/>
    <p:sldId id="2147483626" r:id="rId11"/>
    <p:sldId id="2147483625" r:id="rId12"/>
    <p:sldId id="2147483633" r:id="rId13"/>
    <p:sldId id="2147483634" r:id="rId14"/>
    <p:sldId id="2147483631" r:id="rId15"/>
    <p:sldId id="2147483630" r:id="rId16"/>
    <p:sldId id="2147483635" r:id="rId17"/>
    <p:sldId id="2147483637" r:id="rId18"/>
    <p:sldId id="2147483639" r:id="rId19"/>
    <p:sldId id="2147483641" r:id="rId20"/>
    <p:sldId id="214748364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5DCB9AD-8C2B-472D-B210-7CADBA8EC3A3}">
          <p14:sldIdLst>
            <p14:sldId id="2147483571"/>
            <p14:sldId id="2147483600"/>
            <p14:sldId id="2147483628"/>
            <p14:sldId id="2147483629"/>
            <p14:sldId id="2147483627"/>
            <p14:sldId id="2147483638"/>
            <p14:sldId id="2147483626"/>
            <p14:sldId id="2147483625"/>
            <p14:sldId id="2147483633"/>
            <p14:sldId id="2147483634"/>
            <p14:sldId id="2147483631"/>
            <p14:sldId id="2147483630"/>
            <p14:sldId id="2147483635"/>
            <p14:sldId id="2147483637"/>
            <p14:sldId id="2147483639"/>
            <p14:sldId id="2147483641"/>
            <p14:sldId id="214748364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00607-9069-CB8A-56A7-849E66ED3667}" name="Michael Lomas" initials="ML" userId="S::Michael_Lomas@bnz.co.nz::703e9ef1-1f43-431d-b2ef-6489ca380ede" providerId="AD"/>
  <p188:author id="{70F64607-35DD-3C0A-3849-70DFD03C5FC9}" name="Ann Tiatia" initials="AT" userId="S::Ann_Tiatia@bnz.co.nz::c391a497-40e9-4836-88c5-dcf68a32a839" providerId="AD"/>
  <p188:author id="{F760C55B-68BF-BC88-8317-E9AB36C8AA96}" name="Paul Furkert" initials="PF" userId="S::paul_furkert@bnz.co.nz::ce038a1e-fe5a-40a5-8c99-6e49a7627050" providerId="AD"/>
  <p188:author id="{2798CE65-7FD1-624A-3966-9D244355BF6F}" name="Dan Barratt" initials="DB" userId="S::dan_barratt@bnz.co.nz::0ea6753e-1bb2-4ea8-8442-b56710cfa15c" providerId="AD"/>
  <p188:author id="{FACBB073-1C98-9A89-89E4-E3D46BE68D43}" name="Corina Elama" initials="CE" userId="S::Corina_Elama@bnz.co.nz::64a534a0-38f5-4422-a9ab-43bf049317a6" providerId="AD"/>
  <p188:author id="{E8772B74-C38B-ECF9-E126-F65E7995068A}" name="Cj Coughlan" initials="CC" userId="S::cj_coughlan@bnz.co.nz::eaadf76d-7757-421b-af98-7548abea0fa5" providerId="AD"/>
  <p188:author id="{90E5F17B-5D59-EB81-AC3E-6C26480A71D5}" name="Nick Fantham" initials="NF" userId="S::nick_fantham@bnz.co.nz::259ab003-d3e8-4aac-bbf9-e068098a5c15" providerId="AD"/>
  <p188:author id="{B1744885-09D2-5DF8-7373-9DDB20FB3593}" name="Paul Furkert" initials="PF" userId="S::Paul_Furkert@bnz.co.nz::ce038a1e-fe5a-40a5-8c99-6e49a7627050" providerId="AD"/>
  <p188:author id="{EC0B779E-5B73-8CB3-DA32-F248C7854F13}" name="Mark Steadman" initials="MS" userId="S::mark_steadman@bnz.co.nz::7805a62f-e6b5-4f10-aaee-9f78e4b88ccb" providerId="AD"/>
  <p188:author id="{3C240BC6-2B75-E067-D76D-82FB3A6498A3}" name="Stewart Robertson" initials="SR" userId="S::Stewart_Robertson@bnz.co.nz::05db1456-c0df-480d-b536-0f30795d3078" providerId="AD"/>
  <p188:author id="{E854EFC7-01F0-10DB-EEB7-DE718F6635AC}" name="Glenn Bellam" initials="GB" userId="S::glenn_bellam@bnz.co.nz::704b493c-489a-49e6-b06f-7177f7d83952" providerId="AD"/>
  <p188:author id="{53FCF2D2-364A-0FD4-81F4-0A85B3EF5DDB}" name="Cipri Parfene" initials="CP" userId="S::cipri_parfene@bnz.co.nz::bb572f2d-cde3-49fb-83e3-7d7851638b66" providerId="AD"/>
  <p188:author id="{67A37DF2-3774-D031-F45A-093033C3E22C}" name="Angus Cotton" initials="AC" userId="S::angus_cotton@bnz.co.nz::7f753041-8a23-4775-9fb0-22eaeb32341d" providerId="AD"/>
  <p188:author id="{853A79F7-9558-69F1-B5F2-982C65934A8F}" name="John Brondum" initials="JB" userId="S::John_Brondum@bnz.co.nz::229bdc9d-5f50-4b5d-8063-2c21f0a612e0" providerId="AD"/>
  <p188:author id="{05AB13FB-3EBA-7226-1604-F4CD9DE84C8F}" name="John Marshall" initials="JM" userId="S::John_Marshall@bnz.co.nz::8fc96316-54e6-4ca9-8a98-dde806b41d08" providerId="AD"/>
  <p188:author id="{C3148FFC-2BD9-8B59-9961-DE02D8B47E85}" name="Dan Barratt" initials="DB" userId="S::Dan_Barratt@bnz.co.nz::0ea6753e-1bb2-4ea8-8442-b56710cfa15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93364"/>
    <a:srgbClr val="000000"/>
    <a:srgbClr val="808080"/>
    <a:srgbClr val="CCCCCC"/>
    <a:srgbClr val="B2B2B2"/>
    <a:srgbClr val="A1D078"/>
    <a:srgbClr val="CCE5F3"/>
    <a:srgbClr val="002F6B"/>
    <a:srgbClr val="FAA6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54A26B-BEC5-4BBD-8D94-283D61721F30}" v="6" dt="2025-09-08T22:22:53.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86331" autoAdjust="0"/>
  </p:normalViewPr>
  <p:slideViewPr>
    <p:cSldViewPr snapToGrid="0">
      <p:cViewPr varScale="1">
        <p:scale>
          <a:sx n="134" d="100"/>
          <a:sy n="134" d="100"/>
        </p:scale>
        <p:origin x="3792" y="1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mot O'Brien" userId="f8677889-c77b-43ef-a0e0-85c145921bf9" providerId="ADAL" clId="{2954A26B-BEC5-4BBD-8D94-283D61721F30}"/>
    <pc:docChg chg="custSel addSld delSld modSld modSection">
      <pc:chgData name="Dermot O'Brien" userId="f8677889-c77b-43ef-a0e0-85c145921bf9" providerId="ADAL" clId="{2954A26B-BEC5-4BBD-8D94-283D61721F30}" dt="2025-09-08T22:55:41.632" v="668" actId="20577"/>
      <pc:docMkLst>
        <pc:docMk/>
      </pc:docMkLst>
      <pc:sldChg chg="addSp modSp new mod">
        <pc:chgData name="Dermot O'Brien" userId="f8677889-c77b-43ef-a0e0-85c145921bf9" providerId="ADAL" clId="{2954A26B-BEC5-4BBD-8D94-283D61721F30}" dt="2025-09-01T03:06:40.562" v="5" actId="1076"/>
        <pc:sldMkLst>
          <pc:docMk/>
          <pc:sldMk cId="252058117" sldId="2147483638"/>
        </pc:sldMkLst>
        <pc:picChg chg="add mod">
          <ac:chgData name="Dermot O'Brien" userId="f8677889-c77b-43ef-a0e0-85c145921bf9" providerId="ADAL" clId="{2954A26B-BEC5-4BBD-8D94-283D61721F30}" dt="2025-09-01T03:06:40.562" v="5" actId="1076"/>
          <ac:picMkLst>
            <pc:docMk/>
            <pc:sldMk cId="252058117" sldId="2147483638"/>
            <ac:picMk id="3" creationId="{4050D27D-720D-D1DF-1C2F-2CD6F2AA6223}"/>
          </ac:picMkLst>
        </pc:picChg>
      </pc:sldChg>
      <pc:sldChg chg="addSp delSp modSp new mod modClrScheme chgLayout">
        <pc:chgData name="Dermot O'Brien" userId="f8677889-c77b-43ef-a0e0-85c145921bf9" providerId="ADAL" clId="{2954A26B-BEC5-4BBD-8D94-283D61721F30}" dt="2025-09-08T22:14:22.707" v="63" actId="20577"/>
        <pc:sldMkLst>
          <pc:docMk/>
          <pc:sldMk cId="1628971808" sldId="2147483639"/>
        </pc:sldMkLst>
        <pc:spChg chg="del mod ord">
          <ac:chgData name="Dermot O'Brien" userId="f8677889-c77b-43ef-a0e0-85c145921bf9" providerId="ADAL" clId="{2954A26B-BEC5-4BBD-8D94-283D61721F30}" dt="2025-09-08T22:12:54.014" v="7" actId="700"/>
          <ac:spMkLst>
            <pc:docMk/>
            <pc:sldMk cId="1628971808" sldId="2147483639"/>
            <ac:spMk id="2" creationId="{A3D864D7-B290-5AB5-320B-7DE54C49E66A}"/>
          </ac:spMkLst>
        </pc:spChg>
        <pc:spChg chg="add mod ord">
          <ac:chgData name="Dermot O'Brien" userId="f8677889-c77b-43ef-a0e0-85c145921bf9" providerId="ADAL" clId="{2954A26B-BEC5-4BBD-8D94-283D61721F30}" dt="2025-09-08T22:13:04.640" v="33" actId="20577"/>
          <ac:spMkLst>
            <pc:docMk/>
            <pc:sldMk cId="1628971808" sldId="2147483639"/>
            <ac:spMk id="3" creationId="{119CC226-9781-75C2-C236-1AD6F654E6B7}"/>
          </ac:spMkLst>
        </pc:spChg>
        <pc:spChg chg="add mod ord">
          <ac:chgData name="Dermot O'Brien" userId="f8677889-c77b-43ef-a0e0-85c145921bf9" providerId="ADAL" clId="{2954A26B-BEC5-4BBD-8D94-283D61721F30}" dt="2025-09-08T22:14:22.707" v="63" actId="20577"/>
          <ac:spMkLst>
            <pc:docMk/>
            <pc:sldMk cId="1628971808" sldId="2147483639"/>
            <ac:spMk id="4" creationId="{05D0AF1D-A34A-944E-2EE9-11F6E4A15B76}"/>
          </ac:spMkLst>
        </pc:spChg>
      </pc:sldChg>
      <pc:sldChg chg="addSp delSp modSp new mod modClrScheme chgLayout">
        <pc:chgData name="Dermot O'Brien" userId="f8677889-c77b-43ef-a0e0-85c145921bf9" providerId="ADAL" clId="{2954A26B-BEC5-4BBD-8D94-283D61721F30}" dt="2025-09-08T22:22:16.916" v="154" actId="948"/>
        <pc:sldMkLst>
          <pc:docMk/>
          <pc:sldMk cId="2107179771" sldId="2147483640"/>
        </pc:sldMkLst>
        <pc:spChg chg="del mod ord">
          <ac:chgData name="Dermot O'Brien" userId="f8677889-c77b-43ef-a0e0-85c145921bf9" providerId="ADAL" clId="{2954A26B-BEC5-4BBD-8D94-283D61721F30}" dt="2025-09-08T22:13:14.295" v="35" actId="700"/>
          <ac:spMkLst>
            <pc:docMk/>
            <pc:sldMk cId="2107179771" sldId="2147483640"/>
            <ac:spMk id="2" creationId="{EA7E7E95-F2DF-172B-D14F-8BF13E47464A}"/>
          </ac:spMkLst>
        </pc:spChg>
        <pc:spChg chg="del">
          <ac:chgData name="Dermot O'Brien" userId="f8677889-c77b-43ef-a0e0-85c145921bf9" providerId="ADAL" clId="{2954A26B-BEC5-4BBD-8D94-283D61721F30}" dt="2025-09-08T22:13:14.295" v="35" actId="700"/>
          <ac:spMkLst>
            <pc:docMk/>
            <pc:sldMk cId="2107179771" sldId="2147483640"/>
            <ac:spMk id="3" creationId="{37860C3D-F709-3A46-A361-F090E34869F6}"/>
          </ac:spMkLst>
        </pc:spChg>
        <pc:spChg chg="add mod ord">
          <ac:chgData name="Dermot O'Brien" userId="f8677889-c77b-43ef-a0e0-85c145921bf9" providerId="ADAL" clId="{2954A26B-BEC5-4BBD-8D94-283D61721F30}" dt="2025-09-08T22:21:21.860" v="150" actId="1076"/>
          <ac:spMkLst>
            <pc:docMk/>
            <pc:sldMk cId="2107179771" sldId="2147483640"/>
            <ac:spMk id="4" creationId="{66FEC8F7-5F3A-CEE1-AB0E-EEA2356DA709}"/>
          </ac:spMkLst>
        </pc:spChg>
        <pc:spChg chg="add mod">
          <ac:chgData name="Dermot O'Brien" userId="f8677889-c77b-43ef-a0e0-85c145921bf9" providerId="ADAL" clId="{2954A26B-BEC5-4BBD-8D94-283D61721F30}" dt="2025-09-08T22:21:24.326" v="151" actId="1076"/>
          <ac:spMkLst>
            <pc:docMk/>
            <pc:sldMk cId="2107179771" sldId="2147483640"/>
            <ac:spMk id="6" creationId="{9FF60551-B87D-6100-BE65-ECE73C888442}"/>
          </ac:spMkLst>
        </pc:spChg>
        <pc:spChg chg="add mod">
          <ac:chgData name="Dermot O'Brien" userId="f8677889-c77b-43ef-a0e0-85c145921bf9" providerId="ADAL" clId="{2954A26B-BEC5-4BBD-8D94-283D61721F30}" dt="2025-09-08T22:22:16.916" v="154" actId="948"/>
          <ac:spMkLst>
            <pc:docMk/>
            <pc:sldMk cId="2107179771" sldId="2147483640"/>
            <ac:spMk id="7" creationId="{4C0A82D5-71AD-CD9C-3B81-F1F6ECB79389}"/>
          </ac:spMkLst>
        </pc:spChg>
      </pc:sldChg>
      <pc:sldChg chg="add del">
        <pc:chgData name="Dermot O'Brien" userId="f8677889-c77b-43ef-a0e0-85c145921bf9" providerId="ADAL" clId="{2954A26B-BEC5-4BBD-8D94-283D61721F30}" dt="2025-09-08T22:14:00.521" v="37" actId="47"/>
        <pc:sldMkLst>
          <pc:docMk/>
          <pc:sldMk cId="1381669384" sldId="2147483641"/>
        </pc:sldMkLst>
      </pc:sldChg>
      <pc:sldChg chg="addSp delSp modSp add mod">
        <pc:chgData name="Dermot O'Brien" userId="f8677889-c77b-43ef-a0e0-85c145921bf9" providerId="ADAL" clId="{2954A26B-BEC5-4BBD-8D94-283D61721F30}" dt="2025-09-08T22:55:41.632" v="668" actId="20577"/>
        <pc:sldMkLst>
          <pc:docMk/>
          <pc:sldMk cId="3220361401" sldId="2147483641"/>
        </pc:sldMkLst>
        <pc:spChg chg="add mod">
          <ac:chgData name="Dermot O'Brien" userId="f8677889-c77b-43ef-a0e0-85c145921bf9" providerId="ADAL" clId="{2954A26B-BEC5-4BBD-8D94-283D61721F30}" dt="2025-09-08T22:53:23.351" v="585" actId="20577"/>
          <ac:spMkLst>
            <pc:docMk/>
            <pc:sldMk cId="3220361401" sldId="2147483641"/>
            <ac:spMk id="2" creationId="{62D4FF48-6396-0AFA-2CBB-064D026B11F5}"/>
          </ac:spMkLst>
        </pc:spChg>
        <pc:spChg chg="mod">
          <ac:chgData name="Dermot O'Brien" userId="f8677889-c77b-43ef-a0e0-85c145921bf9" providerId="ADAL" clId="{2954A26B-BEC5-4BBD-8D94-283D61721F30}" dt="2025-09-08T22:23:33.158" v="193" actId="20577"/>
          <ac:spMkLst>
            <pc:docMk/>
            <pc:sldMk cId="3220361401" sldId="2147483641"/>
            <ac:spMk id="4" creationId="{D5102835-5138-AF9B-815B-46D732AE0024}"/>
          </ac:spMkLst>
        </pc:spChg>
        <pc:spChg chg="del">
          <ac:chgData name="Dermot O'Brien" userId="f8677889-c77b-43ef-a0e0-85c145921bf9" providerId="ADAL" clId="{2954A26B-BEC5-4BBD-8D94-283D61721F30}" dt="2025-09-08T22:22:37.073" v="156" actId="478"/>
          <ac:spMkLst>
            <pc:docMk/>
            <pc:sldMk cId="3220361401" sldId="2147483641"/>
            <ac:spMk id="6" creationId="{B29FDF86-B664-A211-975E-8CCC8D0AF214}"/>
          </ac:spMkLst>
        </pc:spChg>
        <pc:spChg chg="mod">
          <ac:chgData name="Dermot O'Brien" userId="f8677889-c77b-43ef-a0e0-85c145921bf9" providerId="ADAL" clId="{2954A26B-BEC5-4BBD-8D94-283D61721F30}" dt="2025-09-08T22:55:41.632" v="668" actId="20577"/>
          <ac:spMkLst>
            <pc:docMk/>
            <pc:sldMk cId="3220361401" sldId="2147483641"/>
            <ac:spMk id="7" creationId="{865DE4FD-3CEA-A8E6-82CF-8BE0DE3ED8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B748DC-C84D-4F50-BBD5-1452B306E633}" type="datetimeFigureOut">
              <a:rPr lang="en-NZ" smtClean="0"/>
              <a:t>9/09/2025</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F3DE64-C6B8-45AD-967F-D325870B1219}" type="slidenum">
              <a:rPr lang="en-NZ" smtClean="0"/>
              <a:t>‹#›</a:t>
            </a:fld>
            <a:endParaRPr lang="en-NZ"/>
          </a:p>
        </p:txBody>
      </p:sp>
    </p:spTree>
    <p:extLst>
      <p:ext uri="{BB962C8B-B14F-4D97-AF65-F5344CB8AC3E}">
        <p14:creationId xmlns:p14="http://schemas.microsoft.com/office/powerpoint/2010/main" val="4098416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8CF3DE64-C6B8-45AD-967F-D325870B1219}" type="slidenum">
              <a:rPr lang="en-NZ" smtClean="0"/>
              <a:t>2</a:t>
            </a:fld>
            <a:endParaRPr lang="en-NZ"/>
          </a:p>
        </p:txBody>
      </p:sp>
    </p:spTree>
    <p:extLst>
      <p:ext uri="{BB962C8B-B14F-4D97-AF65-F5344CB8AC3E}">
        <p14:creationId xmlns:p14="http://schemas.microsoft.com/office/powerpoint/2010/main" val="4010612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8CF3DE64-C6B8-45AD-967F-D325870B1219}" type="slidenum">
              <a:rPr lang="en-NZ" smtClean="0"/>
              <a:t>6</a:t>
            </a:fld>
            <a:endParaRPr lang="en-NZ"/>
          </a:p>
        </p:txBody>
      </p:sp>
    </p:spTree>
    <p:extLst>
      <p:ext uri="{BB962C8B-B14F-4D97-AF65-F5344CB8AC3E}">
        <p14:creationId xmlns:p14="http://schemas.microsoft.com/office/powerpoint/2010/main" val="1506022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1EDD4-0CA9-D9C5-192A-71B7BE5669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F9916-3CD2-BDD4-5D37-961D81CC4D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02422C-E20B-E0E0-4D6E-F46A9A2398DD}"/>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ED1F73B8-7207-88CE-D274-41DC91B30A5D}"/>
              </a:ext>
            </a:extLst>
          </p:cNvPr>
          <p:cNvSpPr>
            <a:spLocks noGrp="1"/>
          </p:cNvSpPr>
          <p:nvPr>
            <p:ph type="sldNum" sz="quarter" idx="5"/>
          </p:nvPr>
        </p:nvSpPr>
        <p:spPr/>
        <p:txBody>
          <a:bodyPr/>
          <a:lstStyle/>
          <a:p>
            <a:fld id="{8CF3DE64-C6B8-45AD-967F-D325870B1219}" type="slidenum">
              <a:rPr lang="en-NZ" smtClean="0"/>
              <a:t>9</a:t>
            </a:fld>
            <a:endParaRPr lang="en-NZ"/>
          </a:p>
        </p:txBody>
      </p:sp>
    </p:spTree>
    <p:extLst>
      <p:ext uri="{BB962C8B-B14F-4D97-AF65-F5344CB8AC3E}">
        <p14:creationId xmlns:p14="http://schemas.microsoft.com/office/powerpoint/2010/main" val="3463474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8CF3DE64-C6B8-45AD-967F-D325870B1219}" type="slidenum">
              <a:rPr lang="en-NZ" smtClean="0"/>
              <a:t>12</a:t>
            </a:fld>
            <a:endParaRPr lang="en-NZ"/>
          </a:p>
        </p:txBody>
      </p:sp>
    </p:spTree>
    <p:extLst>
      <p:ext uri="{BB962C8B-B14F-4D97-AF65-F5344CB8AC3E}">
        <p14:creationId xmlns:p14="http://schemas.microsoft.com/office/powerpoint/2010/main" val="24887180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OPTION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8" name="Picture 7" descr="Logo&#10;&#10;Description automatically generated">
            <a:extLst>
              <a:ext uri="{FF2B5EF4-FFF2-40B4-BE49-F238E27FC236}">
                <a16:creationId xmlns:a16="http://schemas.microsoft.com/office/drawing/2014/main" id="{89F85B2A-F12A-9A9E-0973-F01F7AC3433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
        <p:nvSpPr>
          <p:cNvPr id="9" name="Title 11">
            <a:extLst>
              <a:ext uri="{FF2B5EF4-FFF2-40B4-BE49-F238E27FC236}">
                <a16:creationId xmlns:a16="http://schemas.microsoft.com/office/drawing/2014/main" id="{FCF05B5C-52C2-5F93-DE8D-1D1D57B3338E}"/>
              </a:ext>
            </a:extLst>
          </p:cNvPr>
          <p:cNvSpPr>
            <a:spLocks noGrp="1"/>
          </p:cNvSpPr>
          <p:nvPr>
            <p:ph type="title" hasCustomPrompt="1"/>
          </p:nvPr>
        </p:nvSpPr>
        <p:spPr>
          <a:xfrm>
            <a:off x="839789" y="2343106"/>
            <a:ext cx="10512424" cy="1080000"/>
          </a:xfrm>
        </p:spPr>
        <p:txBody>
          <a:bodyPr lIns="0" tIns="0" rIns="0" bIns="0"/>
          <a:lstStyle>
            <a:lvl1pPr>
              <a:defRPr sz="5400" b="0">
                <a:solidFill>
                  <a:srgbClr val="FFFFFF"/>
                </a:solidFill>
                <a:latin typeface="Calibri Light" panose="020F0302020204030204" pitchFamily="34" charset="0"/>
                <a:cs typeface="Calibri Light" panose="020F0302020204030204" pitchFamily="34" charset="0"/>
              </a:defRPr>
            </a:lvl1pPr>
          </a:lstStyle>
          <a:p>
            <a:r>
              <a:rPr lang="en-GB"/>
              <a:t>&lt;Title slide Option 2 heading&gt;</a:t>
            </a:r>
            <a:endParaRPr lang="en-US"/>
          </a:p>
        </p:txBody>
      </p:sp>
      <p:sp>
        <p:nvSpPr>
          <p:cNvPr id="13" name="Text Placeholder 15">
            <a:extLst>
              <a:ext uri="{FF2B5EF4-FFF2-40B4-BE49-F238E27FC236}">
                <a16:creationId xmlns:a16="http://schemas.microsoft.com/office/drawing/2014/main" id="{374A457F-4ECA-B070-67EF-0BA39B7F2244}"/>
              </a:ext>
            </a:extLst>
          </p:cNvPr>
          <p:cNvSpPr>
            <a:spLocks noGrp="1"/>
          </p:cNvSpPr>
          <p:nvPr>
            <p:ph type="body" sz="quarter" idx="10" hasCustomPrompt="1"/>
          </p:nvPr>
        </p:nvSpPr>
        <p:spPr>
          <a:xfrm>
            <a:off x="839788" y="3764897"/>
            <a:ext cx="10512425" cy="339588"/>
          </a:xfrm>
        </p:spPr>
        <p:txBody>
          <a:bodyPr lIns="0" tIns="0" rIns="0" bIns="0"/>
          <a:lstStyle>
            <a:lvl1pPr>
              <a:defRPr b="0" i="0">
                <a:solidFill>
                  <a:srgbClr val="FFFFFF"/>
                </a:solidFill>
                <a:latin typeface="+mj-lt"/>
                <a:cs typeface="Calibri Light" panose="020F0302020204030204" pitchFamily="34" charset="0"/>
              </a:defRPr>
            </a:lvl1pPr>
          </a:lstStyle>
          <a:p>
            <a:pPr lvl="0"/>
            <a:r>
              <a:rPr lang="en-GB"/>
              <a:t>&lt;Title slide subheading&gt;</a:t>
            </a:r>
          </a:p>
        </p:txBody>
      </p:sp>
      <p:sp>
        <p:nvSpPr>
          <p:cNvPr id="14" name="Text Placeholder 15">
            <a:extLst>
              <a:ext uri="{FF2B5EF4-FFF2-40B4-BE49-F238E27FC236}">
                <a16:creationId xmlns:a16="http://schemas.microsoft.com/office/drawing/2014/main" id="{F07B06B7-0C2A-8C93-6633-1D0A3F158306}"/>
              </a:ext>
            </a:extLst>
          </p:cNvPr>
          <p:cNvSpPr>
            <a:spLocks noGrp="1"/>
          </p:cNvSpPr>
          <p:nvPr>
            <p:ph type="body" sz="quarter" idx="12" hasCustomPrompt="1"/>
          </p:nvPr>
        </p:nvSpPr>
        <p:spPr>
          <a:xfrm>
            <a:off x="839788" y="4384940"/>
            <a:ext cx="10512425" cy="339588"/>
          </a:xfrm>
        </p:spPr>
        <p:txBody>
          <a:bodyPr lIns="0" tIns="0" rIns="0" bIns="0"/>
          <a:lstStyle>
            <a:lvl1pPr>
              <a:defRPr sz="1600" b="0" i="0">
                <a:solidFill>
                  <a:srgbClr val="FFFFFF"/>
                </a:solidFill>
                <a:latin typeface="+mj-lt"/>
                <a:cs typeface="Calibri Light" panose="020F0302020204030204" pitchFamily="34" charset="0"/>
              </a:defRPr>
            </a:lvl1pPr>
          </a:lstStyle>
          <a:p>
            <a:pPr lvl="0"/>
            <a:r>
              <a:rPr lang="en-GB"/>
              <a:t>Optional document information</a:t>
            </a:r>
          </a:p>
        </p:txBody>
      </p:sp>
    </p:spTree>
    <p:extLst>
      <p:ext uri="{BB962C8B-B14F-4D97-AF65-F5344CB8AC3E}">
        <p14:creationId xmlns:p14="http://schemas.microsoft.com/office/powerpoint/2010/main" val="3943641657"/>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OPTION 2">
    <p:bg>
      <p:bgPr>
        <a:solidFill>
          <a:srgbClr val="002F6B"/>
        </a:solidFill>
        <a:effectLst/>
      </p:bgPr>
    </p:bg>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7F8C4EA3-5924-08F2-B064-762B6DE94B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
        <p:nvSpPr>
          <p:cNvPr id="4" name="Title 11">
            <a:extLst>
              <a:ext uri="{FF2B5EF4-FFF2-40B4-BE49-F238E27FC236}">
                <a16:creationId xmlns:a16="http://schemas.microsoft.com/office/drawing/2014/main" id="{7EB6CD17-076A-000B-ABF0-450D46E03BD9}"/>
              </a:ext>
            </a:extLst>
          </p:cNvPr>
          <p:cNvSpPr>
            <a:spLocks noGrp="1"/>
          </p:cNvSpPr>
          <p:nvPr>
            <p:ph type="title" hasCustomPrompt="1"/>
          </p:nvPr>
        </p:nvSpPr>
        <p:spPr>
          <a:xfrm>
            <a:off x="839789" y="2343106"/>
            <a:ext cx="10512424" cy="1080000"/>
          </a:xfrm>
        </p:spPr>
        <p:txBody>
          <a:bodyPr lIns="0" tIns="0" rIns="0" bIns="0"/>
          <a:lstStyle>
            <a:lvl1pPr>
              <a:defRPr sz="5400" b="0">
                <a:solidFill>
                  <a:srgbClr val="FFFFFF"/>
                </a:solidFill>
                <a:latin typeface="Calibri Light" panose="020F0302020204030204" pitchFamily="34" charset="0"/>
                <a:cs typeface="Calibri Light" panose="020F0302020204030204" pitchFamily="34" charset="0"/>
              </a:defRPr>
            </a:lvl1pPr>
          </a:lstStyle>
          <a:p>
            <a:r>
              <a:rPr lang="en-GB"/>
              <a:t>&lt;Title slide Option 2 heading&gt;</a:t>
            </a:r>
            <a:endParaRPr lang="en-US"/>
          </a:p>
        </p:txBody>
      </p:sp>
      <p:sp>
        <p:nvSpPr>
          <p:cNvPr id="7" name="Text Placeholder 15">
            <a:extLst>
              <a:ext uri="{FF2B5EF4-FFF2-40B4-BE49-F238E27FC236}">
                <a16:creationId xmlns:a16="http://schemas.microsoft.com/office/drawing/2014/main" id="{F1265FD9-9632-F1FB-66B4-4EEEAF1A3141}"/>
              </a:ext>
            </a:extLst>
          </p:cNvPr>
          <p:cNvSpPr>
            <a:spLocks noGrp="1"/>
          </p:cNvSpPr>
          <p:nvPr>
            <p:ph type="body" sz="quarter" idx="10" hasCustomPrompt="1"/>
          </p:nvPr>
        </p:nvSpPr>
        <p:spPr>
          <a:xfrm>
            <a:off x="839788" y="3764897"/>
            <a:ext cx="10512425" cy="339588"/>
          </a:xfrm>
        </p:spPr>
        <p:txBody>
          <a:bodyPr lIns="0" tIns="0" rIns="0" bIns="0"/>
          <a:lstStyle>
            <a:lvl1pPr>
              <a:defRPr b="0" i="0">
                <a:solidFill>
                  <a:srgbClr val="FFFFFF"/>
                </a:solidFill>
                <a:latin typeface="+mj-lt"/>
                <a:cs typeface="Calibri Light" panose="020F0302020204030204" pitchFamily="34" charset="0"/>
              </a:defRPr>
            </a:lvl1pPr>
          </a:lstStyle>
          <a:p>
            <a:pPr lvl="0"/>
            <a:r>
              <a:rPr lang="en-GB"/>
              <a:t>&lt;Title slide subheading&gt;</a:t>
            </a:r>
          </a:p>
        </p:txBody>
      </p:sp>
      <p:sp>
        <p:nvSpPr>
          <p:cNvPr id="8" name="Text Placeholder 15">
            <a:extLst>
              <a:ext uri="{FF2B5EF4-FFF2-40B4-BE49-F238E27FC236}">
                <a16:creationId xmlns:a16="http://schemas.microsoft.com/office/drawing/2014/main" id="{AF0D6C85-503C-5EA9-D2E2-EB472BD35492}"/>
              </a:ext>
            </a:extLst>
          </p:cNvPr>
          <p:cNvSpPr>
            <a:spLocks noGrp="1"/>
          </p:cNvSpPr>
          <p:nvPr>
            <p:ph type="body" sz="quarter" idx="12" hasCustomPrompt="1"/>
          </p:nvPr>
        </p:nvSpPr>
        <p:spPr>
          <a:xfrm>
            <a:off x="839788" y="4384940"/>
            <a:ext cx="10512425" cy="339588"/>
          </a:xfrm>
        </p:spPr>
        <p:txBody>
          <a:bodyPr lIns="0" tIns="0" rIns="0" bIns="0"/>
          <a:lstStyle>
            <a:lvl1pPr>
              <a:defRPr sz="1600" b="0" i="0">
                <a:solidFill>
                  <a:srgbClr val="FFFFFF"/>
                </a:solidFill>
                <a:latin typeface="+mj-lt"/>
                <a:cs typeface="Calibri Light" panose="020F0302020204030204" pitchFamily="34" charset="0"/>
              </a:defRPr>
            </a:lvl1pPr>
          </a:lstStyle>
          <a:p>
            <a:pPr lvl="0"/>
            <a:r>
              <a:rPr lang="en-GB"/>
              <a:t>Optional document information</a:t>
            </a:r>
          </a:p>
        </p:txBody>
      </p:sp>
    </p:spTree>
    <p:extLst>
      <p:ext uri="{BB962C8B-B14F-4D97-AF65-F5344CB8AC3E}">
        <p14:creationId xmlns:p14="http://schemas.microsoft.com/office/powerpoint/2010/main" val="948424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OPTION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470D9A-8691-E660-D78F-E57CE476E04B}"/>
              </a:ext>
            </a:extLst>
          </p:cNvPr>
          <p:cNvSpPr>
            <a:spLocks noGrp="1"/>
          </p:cNvSpPr>
          <p:nvPr>
            <p:ph type="pic" sz="quarter" idx="13"/>
          </p:nvPr>
        </p:nvSpPr>
        <p:spPr>
          <a:xfrm>
            <a:off x="-1" y="0"/>
            <a:ext cx="12192000" cy="6858000"/>
          </a:xfrm>
        </p:spPr>
        <p:txBody>
          <a:bodyPr/>
          <a:lstStyle>
            <a:lvl1pPr algn="ctr">
              <a:defRPr/>
            </a:lvl1pPr>
          </a:lstStyle>
          <a:p>
            <a:r>
              <a:rPr lang="en-US"/>
              <a:t>Click icon to add picture</a:t>
            </a:r>
            <a:endParaRPr lang="en-NZ"/>
          </a:p>
        </p:txBody>
      </p:sp>
      <p:sp>
        <p:nvSpPr>
          <p:cNvPr id="3" name="Title 11">
            <a:extLst>
              <a:ext uri="{FF2B5EF4-FFF2-40B4-BE49-F238E27FC236}">
                <a16:creationId xmlns:a16="http://schemas.microsoft.com/office/drawing/2014/main" id="{F9BBBE48-B6CE-2D58-BC06-9EB475014AF7}"/>
              </a:ext>
            </a:extLst>
          </p:cNvPr>
          <p:cNvSpPr>
            <a:spLocks noGrp="1"/>
          </p:cNvSpPr>
          <p:nvPr>
            <p:ph type="title" hasCustomPrompt="1"/>
          </p:nvPr>
        </p:nvSpPr>
        <p:spPr>
          <a:xfrm>
            <a:off x="839789" y="2343106"/>
            <a:ext cx="10512424" cy="1080000"/>
          </a:xfrm>
        </p:spPr>
        <p:txBody>
          <a:bodyPr lIns="0" tIns="0" rIns="0" bIns="0"/>
          <a:lstStyle>
            <a:lvl1pPr>
              <a:defRPr sz="5400" b="0">
                <a:solidFill>
                  <a:srgbClr val="002F6B"/>
                </a:solidFill>
                <a:latin typeface="Calibri Light" panose="020F0302020204030204" pitchFamily="34" charset="0"/>
                <a:cs typeface="Calibri Light" panose="020F0302020204030204" pitchFamily="34" charset="0"/>
              </a:defRPr>
            </a:lvl1pPr>
          </a:lstStyle>
          <a:p>
            <a:r>
              <a:rPr lang="en-GB"/>
              <a:t>&lt;Title slide Option 3 heading&gt;</a:t>
            </a:r>
            <a:endParaRPr lang="en-US"/>
          </a:p>
        </p:txBody>
      </p:sp>
      <p:sp>
        <p:nvSpPr>
          <p:cNvPr id="4" name="Text Placeholder 15">
            <a:extLst>
              <a:ext uri="{FF2B5EF4-FFF2-40B4-BE49-F238E27FC236}">
                <a16:creationId xmlns:a16="http://schemas.microsoft.com/office/drawing/2014/main" id="{88CA7AD8-B1F4-3944-3A8A-986804298B50}"/>
              </a:ext>
            </a:extLst>
          </p:cNvPr>
          <p:cNvSpPr>
            <a:spLocks noGrp="1"/>
          </p:cNvSpPr>
          <p:nvPr>
            <p:ph type="body" sz="quarter" idx="10" hasCustomPrompt="1"/>
          </p:nvPr>
        </p:nvSpPr>
        <p:spPr>
          <a:xfrm>
            <a:off x="839788" y="3701107"/>
            <a:ext cx="10512425" cy="339588"/>
          </a:xfrm>
        </p:spPr>
        <p:txBody>
          <a:bodyPr lIns="0" tIns="0" rIns="0" bIns="0"/>
          <a:lstStyle>
            <a:lvl1pPr>
              <a:defRPr b="0" i="0">
                <a:solidFill>
                  <a:srgbClr val="002F6B"/>
                </a:solidFill>
                <a:latin typeface="+mj-lt"/>
                <a:cs typeface="Calibri Light" panose="020F0302020204030204" pitchFamily="34" charset="0"/>
              </a:defRPr>
            </a:lvl1pPr>
          </a:lstStyle>
          <a:p>
            <a:pPr lvl="0"/>
            <a:r>
              <a:rPr lang="en-GB"/>
              <a:t>&lt;Title slide subheading&gt;</a:t>
            </a:r>
          </a:p>
        </p:txBody>
      </p:sp>
      <p:sp>
        <p:nvSpPr>
          <p:cNvPr id="5" name="Text Placeholder 15">
            <a:extLst>
              <a:ext uri="{FF2B5EF4-FFF2-40B4-BE49-F238E27FC236}">
                <a16:creationId xmlns:a16="http://schemas.microsoft.com/office/drawing/2014/main" id="{BCF0AE92-FA10-F3AA-A9D8-5EF7FE705DCF}"/>
              </a:ext>
            </a:extLst>
          </p:cNvPr>
          <p:cNvSpPr>
            <a:spLocks noGrp="1"/>
          </p:cNvSpPr>
          <p:nvPr>
            <p:ph type="body" sz="quarter" idx="12" hasCustomPrompt="1"/>
          </p:nvPr>
        </p:nvSpPr>
        <p:spPr>
          <a:xfrm>
            <a:off x="839788" y="4321150"/>
            <a:ext cx="10512425" cy="339588"/>
          </a:xfrm>
        </p:spPr>
        <p:txBody>
          <a:bodyPr lIns="0" tIns="0" rIns="0" bIns="0"/>
          <a:lstStyle>
            <a:lvl1pPr>
              <a:defRPr sz="1600" b="0" i="0">
                <a:solidFill>
                  <a:srgbClr val="002F6B"/>
                </a:solidFill>
                <a:latin typeface="+mj-lt"/>
                <a:cs typeface="Calibri Light" panose="020F0302020204030204" pitchFamily="34" charset="0"/>
              </a:defRPr>
            </a:lvl1pPr>
          </a:lstStyle>
          <a:p>
            <a:pPr lvl="0"/>
            <a:r>
              <a:rPr lang="en-GB"/>
              <a:t>Optional document information</a:t>
            </a:r>
          </a:p>
        </p:txBody>
      </p:sp>
      <p:pic>
        <p:nvPicPr>
          <p:cNvPr id="9" name="Picture 8" descr="Logo&#10;&#10;Description automatically generated">
            <a:extLst>
              <a:ext uri="{FF2B5EF4-FFF2-40B4-BE49-F238E27FC236}">
                <a16:creationId xmlns:a16="http://schemas.microsoft.com/office/drawing/2014/main" id="{2497B616-37DE-AAEF-338A-B8D9AC24B14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8297" y="515396"/>
            <a:ext cx="1419722" cy="687600"/>
          </a:xfrm>
          <a:prstGeom prst="rect">
            <a:avLst/>
          </a:prstGeom>
        </p:spPr>
      </p:pic>
    </p:spTree>
    <p:extLst>
      <p:ext uri="{BB962C8B-B14F-4D97-AF65-F5344CB8AC3E}">
        <p14:creationId xmlns:p14="http://schemas.microsoft.com/office/powerpoint/2010/main" val="3734958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STARS + IMAGE OPTION 4">
    <p:bg>
      <p:bgPr>
        <a:solidFill>
          <a:srgbClr val="FFFFFF"/>
        </a:solidFill>
        <a:effectLst/>
      </p:bgPr>
    </p:bg>
    <p:spTree>
      <p:nvGrpSpPr>
        <p:cNvPr id="1" name=""/>
        <p:cNvGrpSpPr/>
        <p:nvPr/>
      </p:nvGrpSpPr>
      <p:grpSpPr>
        <a:xfrm>
          <a:off x="0" y="0"/>
          <a:ext cx="0" cy="0"/>
          <a:chOff x="0" y="0"/>
          <a:chExt cx="0" cy="0"/>
        </a:xfrm>
      </p:grpSpPr>
      <p:pic>
        <p:nvPicPr>
          <p:cNvPr id="3" name="Picture 2" descr="A picture containing outdoor, nature, night sky, outdoor object&#10;&#10;Description automatically generated">
            <a:extLst>
              <a:ext uri="{FF2B5EF4-FFF2-40B4-BE49-F238E27FC236}">
                <a16:creationId xmlns:a16="http://schemas.microsoft.com/office/drawing/2014/main" id="{E3659355-91E3-81D3-5CD1-5052B76AA4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6096000" cy="6858000"/>
          </a:xfrm>
          <a:prstGeom prst="rect">
            <a:avLst/>
          </a:prstGeom>
        </p:spPr>
      </p:pic>
      <p:sp>
        <p:nvSpPr>
          <p:cNvPr id="7" name="Title 11">
            <a:extLst>
              <a:ext uri="{FF2B5EF4-FFF2-40B4-BE49-F238E27FC236}">
                <a16:creationId xmlns:a16="http://schemas.microsoft.com/office/drawing/2014/main" id="{9B9D202A-58D6-D62C-0F00-71A41BC6D073}"/>
              </a:ext>
            </a:extLst>
          </p:cNvPr>
          <p:cNvSpPr>
            <a:spLocks noGrp="1"/>
          </p:cNvSpPr>
          <p:nvPr>
            <p:ph type="title" hasCustomPrompt="1"/>
          </p:nvPr>
        </p:nvSpPr>
        <p:spPr>
          <a:xfrm>
            <a:off x="839788" y="2349000"/>
            <a:ext cx="4783772" cy="1080000"/>
          </a:xfrm>
        </p:spPr>
        <p:txBody>
          <a:bodyPr lIns="0" tIns="0" rIns="0" bIns="0"/>
          <a:lstStyle>
            <a:lvl1pPr>
              <a:defRPr sz="5400" b="0">
                <a:solidFill>
                  <a:srgbClr val="FFFFFF"/>
                </a:solidFill>
                <a:latin typeface="Calibri Light" panose="020F0302020204030204" pitchFamily="34" charset="0"/>
                <a:cs typeface="Calibri Light" panose="020F0302020204030204" pitchFamily="34" charset="0"/>
              </a:defRPr>
            </a:lvl1pPr>
          </a:lstStyle>
          <a:p>
            <a:r>
              <a:rPr lang="en-GB"/>
              <a:t>&lt;Title slide Option 4 heading&gt;</a:t>
            </a:r>
            <a:endParaRPr lang="en-US"/>
          </a:p>
        </p:txBody>
      </p:sp>
      <p:sp>
        <p:nvSpPr>
          <p:cNvPr id="8" name="Text Placeholder 15">
            <a:extLst>
              <a:ext uri="{FF2B5EF4-FFF2-40B4-BE49-F238E27FC236}">
                <a16:creationId xmlns:a16="http://schemas.microsoft.com/office/drawing/2014/main" id="{BA44C0A9-58E7-8B85-FF36-E6376DF26AAF}"/>
              </a:ext>
            </a:extLst>
          </p:cNvPr>
          <p:cNvSpPr>
            <a:spLocks noGrp="1"/>
          </p:cNvSpPr>
          <p:nvPr>
            <p:ph type="body" sz="quarter" idx="10" hasCustomPrompt="1"/>
          </p:nvPr>
        </p:nvSpPr>
        <p:spPr>
          <a:xfrm>
            <a:off x="839788" y="3764897"/>
            <a:ext cx="4783773" cy="339588"/>
          </a:xfrm>
        </p:spPr>
        <p:txBody>
          <a:bodyPr lIns="0" tIns="0" rIns="0" bIns="0"/>
          <a:lstStyle>
            <a:lvl1pPr>
              <a:defRPr b="0" i="0">
                <a:solidFill>
                  <a:srgbClr val="FFFFFF"/>
                </a:solidFill>
                <a:latin typeface="+mj-lt"/>
                <a:cs typeface="Calibri Light" panose="020F0302020204030204" pitchFamily="34" charset="0"/>
              </a:defRPr>
            </a:lvl1pPr>
          </a:lstStyle>
          <a:p>
            <a:pPr lvl="0"/>
            <a:r>
              <a:rPr lang="en-GB"/>
              <a:t>&lt;Title slide subheading&gt;</a:t>
            </a:r>
          </a:p>
        </p:txBody>
      </p:sp>
      <p:sp>
        <p:nvSpPr>
          <p:cNvPr id="9" name="Text Placeholder 15">
            <a:extLst>
              <a:ext uri="{FF2B5EF4-FFF2-40B4-BE49-F238E27FC236}">
                <a16:creationId xmlns:a16="http://schemas.microsoft.com/office/drawing/2014/main" id="{9990F3BE-1161-E910-D103-CA7C25B214AE}"/>
              </a:ext>
            </a:extLst>
          </p:cNvPr>
          <p:cNvSpPr>
            <a:spLocks noGrp="1"/>
          </p:cNvSpPr>
          <p:nvPr>
            <p:ph type="body" sz="quarter" idx="12" hasCustomPrompt="1"/>
          </p:nvPr>
        </p:nvSpPr>
        <p:spPr>
          <a:xfrm>
            <a:off x="839788" y="4384940"/>
            <a:ext cx="4783773" cy="339588"/>
          </a:xfrm>
        </p:spPr>
        <p:txBody>
          <a:bodyPr lIns="0" tIns="0" rIns="0" bIns="0"/>
          <a:lstStyle>
            <a:lvl1pPr>
              <a:defRPr sz="1600" b="0" i="0">
                <a:solidFill>
                  <a:srgbClr val="FFFFFF"/>
                </a:solidFill>
                <a:latin typeface="+mj-lt"/>
                <a:cs typeface="Calibri Light" panose="020F0302020204030204" pitchFamily="34" charset="0"/>
              </a:defRPr>
            </a:lvl1pPr>
          </a:lstStyle>
          <a:p>
            <a:pPr lvl="0"/>
            <a:r>
              <a:rPr lang="en-GB"/>
              <a:t>Optional document information</a:t>
            </a:r>
          </a:p>
        </p:txBody>
      </p:sp>
      <p:sp>
        <p:nvSpPr>
          <p:cNvPr id="4" name="Picture Placeholder 3">
            <a:extLst>
              <a:ext uri="{FF2B5EF4-FFF2-40B4-BE49-F238E27FC236}">
                <a16:creationId xmlns:a16="http://schemas.microsoft.com/office/drawing/2014/main" id="{B09EE806-4DA5-DED7-F788-898E6398100F}"/>
              </a:ext>
            </a:extLst>
          </p:cNvPr>
          <p:cNvSpPr>
            <a:spLocks noGrp="1"/>
          </p:cNvSpPr>
          <p:nvPr>
            <p:ph type="pic" sz="quarter" idx="13" hasCustomPrompt="1"/>
          </p:nvPr>
        </p:nvSpPr>
        <p:spPr>
          <a:xfrm>
            <a:off x="6096000" y="0"/>
            <a:ext cx="6096000" cy="6858000"/>
          </a:xfrm>
        </p:spPr>
        <p:txBody>
          <a:bodyPr anchor="ctr"/>
          <a:lstStyle>
            <a:lvl1pPr algn="ctr">
              <a:defRPr sz="1600"/>
            </a:lvl1pPr>
          </a:lstStyle>
          <a:p>
            <a:pPr marL="0" marR="0" lvl="0" indent="0" algn="l" defTabSz="914377" rtl="0" eaLnBrk="1" fontAlgn="t" latinLnBrk="0" hangingPunct="1">
              <a:lnSpc>
                <a:spcPct val="90000"/>
              </a:lnSpc>
              <a:spcBef>
                <a:spcPts val="0"/>
              </a:spcBef>
              <a:spcAft>
                <a:spcPts val="200"/>
              </a:spcAft>
              <a:buClrTx/>
              <a:buSzTx/>
              <a:buFont typeface="Wingdings" panose="05000000000000000000" pitchFamily="2" charset="2"/>
              <a:buNone/>
              <a:tabLst/>
              <a:defRPr/>
            </a:pPr>
            <a:r>
              <a:rPr lang="mi-NZ"/>
              <a:t>Click icon to insert your own picture</a:t>
            </a:r>
            <a:endParaRPr lang="en-NZ"/>
          </a:p>
          <a:p>
            <a:endParaRPr lang="en-NZ"/>
          </a:p>
        </p:txBody>
      </p:sp>
      <p:pic>
        <p:nvPicPr>
          <p:cNvPr id="11" name="Picture 10" descr="Logo&#10;&#10;Description automatically generated">
            <a:extLst>
              <a:ext uri="{FF2B5EF4-FFF2-40B4-BE49-F238E27FC236}">
                <a16:creationId xmlns:a16="http://schemas.microsoft.com/office/drawing/2014/main" id="{3951351A-664B-EB67-67F4-DB5F39BDE4C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Tree>
    <p:extLst>
      <p:ext uri="{BB962C8B-B14F-4D97-AF65-F5344CB8AC3E}">
        <p14:creationId xmlns:p14="http://schemas.microsoft.com/office/powerpoint/2010/main" val="712934812"/>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guide id="6" pos="3840">
          <p15:clr>
            <a:srgbClr val="FBAE40"/>
          </p15:clr>
        </p15:guide>
        <p15:guide id="7" pos="408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BLUE + IMAGE OPTION 5">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E1E694-77DB-4D4A-90B9-B9B74DD25D42}"/>
              </a:ext>
            </a:extLst>
          </p:cNvPr>
          <p:cNvSpPr/>
          <p:nvPr userDrawn="1"/>
        </p:nvSpPr>
        <p:spPr>
          <a:xfrm>
            <a:off x="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17"/>
          </a:p>
        </p:txBody>
      </p:sp>
      <p:sp>
        <p:nvSpPr>
          <p:cNvPr id="7" name="Title 11">
            <a:extLst>
              <a:ext uri="{FF2B5EF4-FFF2-40B4-BE49-F238E27FC236}">
                <a16:creationId xmlns:a16="http://schemas.microsoft.com/office/drawing/2014/main" id="{9B9D202A-58D6-D62C-0F00-71A41BC6D073}"/>
              </a:ext>
            </a:extLst>
          </p:cNvPr>
          <p:cNvSpPr>
            <a:spLocks noGrp="1"/>
          </p:cNvSpPr>
          <p:nvPr>
            <p:ph type="title" hasCustomPrompt="1"/>
          </p:nvPr>
        </p:nvSpPr>
        <p:spPr>
          <a:xfrm>
            <a:off x="839788" y="2349000"/>
            <a:ext cx="4783772" cy="1080000"/>
          </a:xfrm>
        </p:spPr>
        <p:txBody>
          <a:bodyPr lIns="0" tIns="0" rIns="0" bIns="0"/>
          <a:lstStyle>
            <a:lvl1pPr>
              <a:defRPr sz="5400" b="0">
                <a:solidFill>
                  <a:srgbClr val="FFFFFF"/>
                </a:solidFill>
                <a:latin typeface="Calibri Light" panose="020F0302020204030204" pitchFamily="34" charset="0"/>
                <a:cs typeface="Calibri Light" panose="020F0302020204030204" pitchFamily="34" charset="0"/>
              </a:defRPr>
            </a:lvl1pPr>
          </a:lstStyle>
          <a:p>
            <a:r>
              <a:rPr lang="en-GB"/>
              <a:t>&lt;Title slide Option 5 heading&gt;</a:t>
            </a:r>
            <a:endParaRPr lang="en-US"/>
          </a:p>
        </p:txBody>
      </p:sp>
      <p:sp>
        <p:nvSpPr>
          <p:cNvPr id="8" name="Text Placeholder 15">
            <a:extLst>
              <a:ext uri="{FF2B5EF4-FFF2-40B4-BE49-F238E27FC236}">
                <a16:creationId xmlns:a16="http://schemas.microsoft.com/office/drawing/2014/main" id="{BA44C0A9-58E7-8B85-FF36-E6376DF26AAF}"/>
              </a:ext>
            </a:extLst>
          </p:cNvPr>
          <p:cNvSpPr>
            <a:spLocks noGrp="1"/>
          </p:cNvSpPr>
          <p:nvPr>
            <p:ph type="body" sz="quarter" idx="10" hasCustomPrompt="1"/>
          </p:nvPr>
        </p:nvSpPr>
        <p:spPr>
          <a:xfrm>
            <a:off x="839788" y="3764897"/>
            <a:ext cx="4783773" cy="339588"/>
          </a:xfrm>
        </p:spPr>
        <p:txBody>
          <a:bodyPr lIns="0" tIns="0" rIns="0" bIns="0"/>
          <a:lstStyle>
            <a:lvl1pPr>
              <a:defRPr b="0" i="0">
                <a:solidFill>
                  <a:srgbClr val="FFFFFF"/>
                </a:solidFill>
                <a:latin typeface="+mj-lt"/>
                <a:cs typeface="Calibri Light" panose="020F0302020204030204" pitchFamily="34" charset="0"/>
              </a:defRPr>
            </a:lvl1pPr>
          </a:lstStyle>
          <a:p>
            <a:pPr lvl="0"/>
            <a:r>
              <a:rPr lang="en-GB"/>
              <a:t>&lt;Title slide subheading&gt;</a:t>
            </a:r>
          </a:p>
        </p:txBody>
      </p:sp>
      <p:sp>
        <p:nvSpPr>
          <p:cNvPr id="9" name="Text Placeholder 15">
            <a:extLst>
              <a:ext uri="{FF2B5EF4-FFF2-40B4-BE49-F238E27FC236}">
                <a16:creationId xmlns:a16="http://schemas.microsoft.com/office/drawing/2014/main" id="{9990F3BE-1161-E910-D103-CA7C25B214AE}"/>
              </a:ext>
            </a:extLst>
          </p:cNvPr>
          <p:cNvSpPr>
            <a:spLocks noGrp="1"/>
          </p:cNvSpPr>
          <p:nvPr>
            <p:ph type="body" sz="quarter" idx="12" hasCustomPrompt="1"/>
          </p:nvPr>
        </p:nvSpPr>
        <p:spPr>
          <a:xfrm>
            <a:off x="839788" y="4384940"/>
            <a:ext cx="4783773" cy="339588"/>
          </a:xfrm>
        </p:spPr>
        <p:txBody>
          <a:bodyPr lIns="0" tIns="0" rIns="0" bIns="0"/>
          <a:lstStyle>
            <a:lvl1pPr>
              <a:defRPr sz="1600" b="0" i="0">
                <a:solidFill>
                  <a:srgbClr val="FFFFFF"/>
                </a:solidFill>
                <a:latin typeface="+mj-lt"/>
                <a:cs typeface="Calibri Light" panose="020F0302020204030204" pitchFamily="34" charset="0"/>
              </a:defRPr>
            </a:lvl1pPr>
          </a:lstStyle>
          <a:p>
            <a:pPr lvl="0"/>
            <a:r>
              <a:rPr lang="en-GB"/>
              <a:t>Optional document information</a:t>
            </a:r>
          </a:p>
        </p:txBody>
      </p:sp>
      <p:pic>
        <p:nvPicPr>
          <p:cNvPr id="11" name="Picture 10" descr="Logo&#10;&#10;Description automatically generated">
            <a:extLst>
              <a:ext uri="{FF2B5EF4-FFF2-40B4-BE49-F238E27FC236}">
                <a16:creationId xmlns:a16="http://schemas.microsoft.com/office/drawing/2014/main" id="{3951351A-664B-EB67-67F4-DB5F39BDE4C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
        <p:nvSpPr>
          <p:cNvPr id="4" name="Picture Placeholder 3">
            <a:extLst>
              <a:ext uri="{FF2B5EF4-FFF2-40B4-BE49-F238E27FC236}">
                <a16:creationId xmlns:a16="http://schemas.microsoft.com/office/drawing/2014/main" id="{B09EE806-4DA5-DED7-F788-898E6398100F}"/>
              </a:ext>
            </a:extLst>
          </p:cNvPr>
          <p:cNvSpPr>
            <a:spLocks noGrp="1"/>
          </p:cNvSpPr>
          <p:nvPr>
            <p:ph type="pic" sz="quarter" idx="13" hasCustomPrompt="1"/>
          </p:nvPr>
        </p:nvSpPr>
        <p:spPr>
          <a:xfrm>
            <a:off x="6096000" y="0"/>
            <a:ext cx="6096000" cy="6858000"/>
          </a:xfrm>
        </p:spPr>
        <p:txBody>
          <a:bodyPr anchor="ctr"/>
          <a:lstStyle>
            <a:lvl1pPr algn="ctr">
              <a:defRPr sz="1600"/>
            </a:lvl1pPr>
          </a:lstStyle>
          <a:p>
            <a:pPr marL="0" marR="0" lvl="0" indent="0" algn="l" defTabSz="914377" rtl="0" eaLnBrk="1" fontAlgn="t" latinLnBrk="0" hangingPunct="1">
              <a:lnSpc>
                <a:spcPct val="90000"/>
              </a:lnSpc>
              <a:spcBef>
                <a:spcPts val="0"/>
              </a:spcBef>
              <a:spcAft>
                <a:spcPts val="200"/>
              </a:spcAft>
              <a:buClrTx/>
              <a:buSzTx/>
              <a:buFont typeface="Wingdings" panose="05000000000000000000" pitchFamily="2" charset="2"/>
              <a:buNone/>
              <a:tabLst/>
              <a:defRPr/>
            </a:pPr>
            <a:r>
              <a:rPr lang="mi-NZ"/>
              <a:t>Click icon to insert your own picture</a:t>
            </a:r>
            <a:endParaRPr lang="en-NZ"/>
          </a:p>
          <a:p>
            <a:endParaRPr lang="en-NZ"/>
          </a:p>
        </p:txBody>
      </p:sp>
    </p:spTree>
    <p:extLst>
      <p:ext uri="{BB962C8B-B14F-4D97-AF65-F5344CB8AC3E}">
        <p14:creationId xmlns:p14="http://schemas.microsoft.com/office/powerpoint/2010/main" val="2404905697"/>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guide id="6" pos="3840">
          <p15:clr>
            <a:srgbClr val="FBAE40"/>
          </p15:clr>
        </p15:guide>
        <p15:guide id="7" pos="408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Option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8" name="Picture 7" descr="Logo&#10;&#10;Description automatically generated">
            <a:extLst>
              <a:ext uri="{FF2B5EF4-FFF2-40B4-BE49-F238E27FC236}">
                <a16:creationId xmlns:a16="http://schemas.microsoft.com/office/drawing/2014/main" id="{89F85B2A-F12A-9A9E-0973-F01F7AC3433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
        <p:nvSpPr>
          <p:cNvPr id="9" name="Title 11">
            <a:extLst>
              <a:ext uri="{FF2B5EF4-FFF2-40B4-BE49-F238E27FC236}">
                <a16:creationId xmlns:a16="http://schemas.microsoft.com/office/drawing/2014/main" id="{FCF05B5C-52C2-5F93-DE8D-1D1D57B3338E}"/>
              </a:ext>
            </a:extLst>
          </p:cNvPr>
          <p:cNvSpPr>
            <a:spLocks noGrp="1"/>
          </p:cNvSpPr>
          <p:nvPr>
            <p:ph type="title" hasCustomPrompt="1"/>
          </p:nvPr>
        </p:nvSpPr>
        <p:spPr>
          <a:xfrm>
            <a:off x="839789" y="2343106"/>
            <a:ext cx="10512424" cy="1080000"/>
          </a:xfrm>
        </p:spPr>
        <p:txBody>
          <a:bodyPr lIns="0" tIns="0" rIns="0" bIns="0"/>
          <a:lstStyle>
            <a:lvl1pPr>
              <a:defRPr sz="5400" b="0">
                <a:solidFill>
                  <a:srgbClr val="FFFFFF"/>
                </a:solidFill>
                <a:latin typeface="Calibri Light" panose="020F0302020204030204" pitchFamily="34" charset="0"/>
                <a:cs typeface="Calibri Light" panose="020F0302020204030204" pitchFamily="34" charset="0"/>
              </a:defRPr>
            </a:lvl1pPr>
          </a:lstStyle>
          <a:p>
            <a:r>
              <a:rPr lang="en-GB"/>
              <a:t>&lt;Section break Option 1&gt;</a:t>
            </a:r>
            <a:endParaRPr lang="en-US"/>
          </a:p>
        </p:txBody>
      </p:sp>
    </p:spTree>
    <p:extLst>
      <p:ext uri="{BB962C8B-B14F-4D97-AF65-F5344CB8AC3E}">
        <p14:creationId xmlns:p14="http://schemas.microsoft.com/office/powerpoint/2010/main" val="2328494832"/>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Option 2">
    <p:bg>
      <p:bgPr>
        <a:solidFill>
          <a:srgbClr val="002F6B"/>
        </a:solidFill>
        <a:effectLst/>
      </p:bgPr>
    </p:bg>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7F8C4EA3-5924-08F2-B064-762B6DE94B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
        <p:nvSpPr>
          <p:cNvPr id="4" name="Title 11">
            <a:extLst>
              <a:ext uri="{FF2B5EF4-FFF2-40B4-BE49-F238E27FC236}">
                <a16:creationId xmlns:a16="http://schemas.microsoft.com/office/drawing/2014/main" id="{7EB6CD17-076A-000B-ABF0-450D46E03BD9}"/>
              </a:ext>
            </a:extLst>
          </p:cNvPr>
          <p:cNvSpPr>
            <a:spLocks noGrp="1"/>
          </p:cNvSpPr>
          <p:nvPr>
            <p:ph type="title" hasCustomPrompt="1"/>
          </p:nvPr>
        </p:nvSpPr>
        <p:spPr>
          <a:xfrm>
            <a:off x="839789" y="2343106"/>
            <a:ext cx="10512424" cy="1080000"/>
          </a:xfrm>
        </p:spPr>
        <p:txBody>
          <a:bodyPr lIns="0" tIns="0" rIns="0" bIns="0"/>
          <a:lstStyle>
            <a:lvl1pPr>
              <a:defRPr sz="5400" b="0">
                <a:solidFill>
                  <a:srgbClr val="FFFFFF"/>
                </a:solidFill>
                <a:latin typeface="Calibri Light" panose="020F0302020204030204" pitchFamily="34" charset="0"/>
                <a:cs typeface="Calibri Light" panose="020F0302020204030204" pitchFamily="34" charset="0"/>
              </a:defRPr>
            </a:lvl1pPr>
          </a:lstStyle>
          <a:p>
            <a:r>
              <a:rPr lang="en-GB"/>
              <a:t>&lt;Section break Option 2&gt;</a:t>
            </a:r>
            <a:endParaRPr lang="en-US"/>
          </a:p>
        </p:txBody>
      </p:sp>
    </p:spTree>
    <p:extLst>
      <p:ext uri="{BB962C8B-B14F-4D97-AF65-F5344CB8AC3E}">
        <p14:creationId xmlns:p14="http://schemas.microsoft.com/office/powerpoint/2010/main" val="4159634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Option 3">
    <p:bg>
      <p:bgPr>
        <a:solidFill>
          <a:srgbClr val="FFFFFF"/>
        </a:solidFill>
        <a:effectLst/>
      </p:bgPr>
    </p:bg>
    <p:spTree>
      <p:nvGrpSpPr>
        <p:cNvPr id="1" name=""/>
        <p:cNvGrpSpPr/>
        <p:nvPr/>
      </p:nvGrpSpPr>
      <p:grpSpPr>
        <a:xfrm>
          <a:off x="0" y="0"/>
          <a:ext cx="0" cy="0"/>
          <a:chOff x="0" y="0"/>
          <a:chExt cx="0" cy="0"/>
        </a:xfrm>
      </p:grpSpPr>
      <p:pic>
        <p:nvPicPr>
          <p:cNvPr id="2" name="Picture 1" descr="A picture containing outdoor, nature, night sky, outdoor object&#10;&#10;Description automatically generated">
            <a:extLst>
              <a:ext uri="{FF2B5EF4-FFF2-40B4-BE49-F238E27FC236}">
                <a16:creationId xmlns:a16="http://schemas.microsoft.com/office/drawing/2014/main" id="{25BF2FDC-5AF3-AA6A-E027-C872C6BA40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5588000" cy="6858000"/>
          </a:xfrm>
          <a:prstGeom prst="rect">
            <a:avLst/>
          </a:prstGeom>
        </p:spPr>
      </p:pic>
      <p:sp>
        <p:nvSpPr>
          <p:cNvPr id="12" name="Title 11">
            <a:extLst>
              <a:ext uri="{FF2B5EF4-FFF2-40B4-BE49-F238E27FC236}">
                <a16:creationId xmlns:a16="http://schemas.microsoft.com/office/drawing/2014/main" id="{5EE62E60-4112-B445-81E4-223863A3FD7C}"/>
              </a:ext>
            </a:extLst>
          </p:cNvPr>
          <p:cNvSpPr>
            <a:spLocks noGrp="1"/>
          </p:cNvSpPr>
          <p:nvPr>
            <p:ph type="title" hasCustomPrompt="1"/>
          </p:nvPr>
        </p:nvSpPr>
        <p:spPr>
          <a:xfrm>
            <a:off x="6491289" y="1838758"/>
            <a:ext cx="4860923" cy="1080000"/>
          </a:xfrm>
        </p:spPr>
        <p:txBody>
          <a:bodyPr lIns="0" tIns="0" rIns="0" bIns="0"/>
          <a:lstStyle>
            <a:lvl1pPr>
              <a:defRPr sz="6000">
                <a:solidFill>
                  <a:schemeClr val="tx1"/>
                </a:solidFill>
              </a:defRPr>
            </a:lvl1pPr>
          </a:lstStyle>
          <a:p>
            <a:r>
              <a:rPr lang="en-GB"/>
              <a:t>Section break</a:t>
            </a:r>
            <a:br>
              <a:rPr lang="en-GB"/>
            </a:br>
            <a:r>
              <a:rPr lang="en-GB"/>
              <a:t>Option 3</a:t>
            </a:r>
            <a:endParaRPr lang="en-US"/>
          </a:p>
        </p:txBody>
      </p:sp>
      <p:sp>
        <p:nvSpPr>
          <p:cNvPr id="16" name="Text Placeholder 15">
            <a:extLst>
              <a:ext uri="{FF2B5EF4-FFF2-40B4-BE49-F238E27FC236}">
                <a16:creationId xmlns:a16="http://schemas.microsoft.com/office/drawing/2014/main" id="{32130BB5-850F-3C41-8120-83B836A4870D}"/>
              </a:ext>
            </a:extLst>
          </p:cNvPr>
          <p:cNvSpPr>
            <a:spLocks noGrp="1"/>
          </p:cNvSpPr>
          <p:nvPr>
            <p:ph type="body" sz="quarter" idx="10" hasCustomPrompt="1"/>
          </p:nvPr>
        </p:nvSpPr>
        <p:spPr>
          <a:xfrm>
            <a:off x="6491290" y="4359610"/>
            <a:ext cx="4860923" cy="339588"/>
          </a:xfrm>
        </p:spPr>
        <p:txBody>
          <a:bodyPr lIns="0" tIns="0" rIns="0" bIns="0"/>
          <a:lstStyle>
            <a:lvl1pPr>
              <a:defRPr b="0" i="0">
                <a:solidFill>
                  <a:schemeClr val="tx1"/>
                </a:solidFill>
                <a:latin typeface="Calibri" panose="020F0502020204030204" pitchFamily="34" charset="0"/>
                <a:cs typeface="Calibri" panose="020F0502020204030204" pitchFamily="34" charset="0"/>
              </a:defRPr>
            </a:lvl1pPr>
          </a:lstStyle>
          <a:p>
            <a:pPr lvl="0"/>
            <a:r>
              <a:rPr lang="en-GB"/>
              <a:t>Optional section subheading</a:t>
            </a:r>
          </a:p>
        </p:txBody>
      </p:sp>
      <p:pic>
        <p:nvPicPr>
          <p:cNvPr id="10" name="Picture 9" descr="Logo&#10;&#10;Description automatically generated">
            <a:extLst>
              <a:ext uri="{FF2B5EF4-FFF2-40B4-BE49-F238E27FC236}">
                <a16:creationId xmlns:a16="http://schemas.microsoft.com/office/drawing/2014/main" id="{24D435D2-3410-EB75-6243-94D57AAB35A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Tree>
    <p:extLst>
      <p:ext uri="{BB962C8B-B14F-4D97-AF65-F5344CB8AC3E}">
        <p14:creationId xmlns:p14="http://schemas.microsoft.com/office/powerpoint/2010/main" val="1590161317"/>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guide id="6" pos="3840">
          <p15:clr>
            <a:srgbClr val="FBAE40"/>
          </p15:clr>
        </p15:guide>
        <p15:guide id="7" pos="408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Option 4">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F7A083-8F70-0729-68DB-10FA45D94AE5}"/>
              </a:ext>
            </a:extLst>
          </p:cNvPr>
          <p:cNvSpPr/>
          <p:nvPr userDrawn="1"/>
        </p:nvSpPr>
        <p:spPr>
          <a:xfrm>
            <a:off x="0" y="0"/>
            <a:ext cx="560647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17"/>
          </a:p>
        </p:txBody>
      </p:sp>
      <p:sp>
        <p:nvSpPr>
          <p:cNvPr id="12" name="Title 11">
            <a:extLst>
              <a:ext uri="{FF2B5EF4-FFF2-40B4-BE49-F238E27FC236}">
                <a16:creationId xmlns:a16="http://schemas.microsoft.com/office/drawing/2014/main" id="{5EE62E60-4112-B445-81E4-223863A3FD7C}"/>
              </a:ext>
            </a:extLst>
          </p:cNvPr>
          <p:cNvSpPr>
            <a:spLocks noGrp="1"/>
          </p:cNvSpPr>
          <p:nvPr>
            <p:ph type="title" hasCustomPrompt="1"/>
          </p:nvPr>
        </p:nvSpPr>
        <p:spPr>
          <a:xfrm>
            <a:off x="6491289" y="1838758"/>
            <a:ext cx="4860923" cy="1080000"/>
          </a:xfrm>
        </p:spPr>
        <p:txBody>
          <a:bodyPr lIns="0" tIns="0" rIns="0" bIns="0"/>
          <a:lstStyle>
            <a:lvl1pPr>
              <a:defRPr sz="6000">
                <a:solidFill>
                  <a:schemeClr val="tx1"/>
                </a:solidFill>
              </a:defRPr>
            </a:lvl1pPr>
          </a:lstStyle>
          <a:p>
            <a:r>
              <a:rPr lang="en-GB"/>
              <a:t>Section break</a:t>
            </a:r>
            <a:br>
              <a:rPr lang="en-GB"/>
            </a:br>
            <a:r>
              <a:rPr lang="en-GB"/>
              <a:t>Option 4</a:t>
            </a:r>
            <a:endParaRPr lang="en-US"/>
          </a:p>
        </p:txBody>
      </p:sp>
      <p:sp>
        <p:nvSpPr>
          <p:cNvPr id="16" name="Text Placeholder 15">
            <a:extLst>
              <a:ext uri="{FF2B5EF4-FFF2-40B4-BE49-F238E27FC236}">
                <a16:creationId xmlns:a16="http://schemas.microsoft.com/office/drawing/2014/main" id="{32130BB5-850F-3C41-8120-83B836A4870D}"/>
              </a:ext>
            </a:extLst>
          </p:cNvPr>
          <p:cNvSpPr>
            <a:spLocks noGrp="1"/>
          </p:cNvSpPr>
          <p:nvPr>
            <p:ph type="body" sz="quarter" idx="10" hasCustomPrompt="1"/>
          </p:nvPr>
        </p:nvSpPr>
        <p:spPr>
          <a:xfrm>
            <a:off x="6491290" y="4359610"/>
            <a:ext cx="4860923" cy="339588"/>
          </a:xfrm>
        </p:spPr>
        <p:txBody>
          <a:bodyPr lIns="0" tIns="0" rIns="0" bIns="0"/>
          <a:lstStyle>
            <a:lvl1pPr>
              <a:defRPr b="0" i="0">
                <a:solidFill>
                  <a:schemeClr val="tx1"/>
                </a:solidFill>
                <a:latin typeface="Calibri" panose="020F0502020204030204" pitchFamily="34" charset="0"/>
                <a:cs typeface="Calibri" panose="020F0502020204030204" pitchFamily="34" charset="0"/>
              </a:defRPr>
            </a:lvl1pPr>
          </a:lstStyle>
          <a:p>
            <a:pPr lvl="0"/>
            <a:r>
              <a:rPr lang="en-GB"/>
              <a:t>Optional section subheading</a:t>
            </a:r>
          </a:p>
        </p:txBody>
      </p:sp>
      <p:pic>
        <p:nvPicPr>
          <p:cNvPr id="8" name="Picture 7" descr="Logo&#10;&#10;Description automatically generated">
            <a:extLst>
              <a:ext uri="{FF2B5EF4-FFF2-40B4-BE49-F238E27FC236}">
                <a16:creationId xmlns:a16="http://schemas.microsoft.com/office/drawing/2014/main" id="{683465E8-288A-F206-3A86-D6DB42431D0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Tree>
    <p:extLst>
      <p:ext uri="{BB962C8B-B14F-4D97-AF65-F5344CB8AC3E}">
        <p14:creationId xmlns:p14="http://schemas.microsoft.com/office/powerpoint/2010/main" val="1288372302"/>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guide id="6" pos="3840">
          <p15:clr>
            <a:srgbClr val="FBAE40"/>
          </p15:clr>
        </p15:guide>
        <p15:guide id="7" pos="408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 IMAGE Option 5">
    <p:bg>
      <p:bgPr>
        <a:solidFill>
          <a:srgbClr val="FFFFFF"/>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15BA4DA-F6C5-B04D-9391-E71E0BDDC473}"/>
              </a:ext>
            </a:extLst>
          </p:cNvPr>
          <p:cNvSpPr>
            <a:spLocks noGrp="1"/>
          </p:cNvSpPr>
          <p:nvPr>
            <p:ph type="pic" sz="quarter" idx="11"/>
          </p:nvPr>
        </p:nvSpPr>
        <p:spPr>
          <a:xfrm>
            <a:off x="-29741" y="0"/>
            <a:ext cx="6096000" cy="6858000"/>
          </a:xfrm>
        </p:spPr>
        <p:txBody>
          <a:bodyPr anchor="ctr"/>
          <a:lstStyle>
            <a:lvl1pPr algn="ctr">
              <a:defRPr sz="1500" b="0"/>
            </a:lvl1pPr>
          </a:lstStyle>
          <a:p>
            <a:r>
              <a:rPr lang="en-US"/>
              <a:t>Click icon to add picture</a:t>
            </a:r>
          </a:p>
        </p:txBody>
      </p:sp>
      <p:sp>
        <p:nvSpPr>
          <p:cNvPr id="12" name="Title 11">
            <a:extLst>
              <a:ext uri="{FF2B5EF4-FFF2-40B4-BE49-F238E27FC236}">
                <a16:creationId xmlns:a16="http://schemas.microsoft.com/office/drawing/2014/main" id="{5EE62E60-4112-B445-81E4-223863A3FD7C}"/>
              </a:ext>
            </a:extLst>
          </p:cNvPr>
          <p:cNvSpPr>
            <a:spLocks noGrp="1"/>
          </p:cNvSpPr>
          <p:nvPr>
            <p:ph type="title" hasCustomPrompt="1"/>
          </p:nvPr>
        </p:nvSpPr>
        <p:spPr>
          <a:xfrm>
            <a:off x="6491289" y="1838758"/>
            <a:ext cx="4860923" cy="1080000"/>
          </a:xfrm>
        </p:spPr>
        <p:txBody>
          <a:bodyPr lIns="0" tIns="0" rIns="0" bIns="0"/>
          <a:lstStyle>
            <a:lvl1pPr>
              <a:defRPr sz="6000">
                <a:solidFill>
                  <a:schemeClr val="tx1"/>
                </a:solidFill>
              </a:defRPr>
            </a:lvl1pPr>
          </a:lstStyle>
          <a:p>
            <a:r>
              <a:rPr lang="en-GB"/>
              <a:t>Section break</a:t>
            </a:r>
            <a:br>
              <a:rPr lang="en-GB"/>
            </a:br>
            <a:r>
              <a:rPr lang="en-GB"/>
              <a:t>Option 5</a:t>
            </a:r>
            <a:endParaRPr lang="en-US"/>
          </a:p>
        </p:txBody>
      </p:sp>
      <p:sp>
        <p:nvSpPr>
          <p:cNvPr id="16" name="Text Placeholder 15">
            <a:extLst>
              <a:ext uri="{FF2B5EF4-FFF2-40B4-BE49-F238E27FC236}">
                <a16:creationId xmlns:a16="http://schemas.microsoft.com/office/drawing/2014/main" id="{32130BB5-850F-3C41-8120-83B836A4870D}"/>
              </a:ext>
            </a:extLst>
          </p:cNvPr>
          <p:cNvSpPr>
            <a:spLocks noGrp="1"/>
          </p:cNvSpPr>
          <p:nvPr>
            <p:ph type="body" sz="quarter" idx="10" hasCustomPrompt="1"/>
          </p:nvPr>
        </p:nvSpPr>
        <p:spPr>
          <a:xfrm>
            <a:off x="6491290" y="4359610"/>
            <a:ext cx="4860923" cy="339588"/>
          </a:xfrm>
        </p:spPr>
        <p:txBody>
          <a:bodyPr lIns="0" tIns="0" rIns="0" bIns="0"/>
          <a:lstStyle>
            <a:lvl1pPr>
              <a:defRPr b="0" i="0">
                <a:solidFill>
                  <a:schemeClr val="tx1"/>
                </a:solidFill>
                <a:latin typeface="Calibri" panose="020F0502020204030204" pitchFamily="34" charset="0"/>
                <a:cs typeface="Calibri" panose="020F0502020204030204" pitchFamily="34" charset="0"/>
              </a:defRPr>
            </a:lvl1pPr>
          </a:lstStyle>
          <a:p>
            <a:pPr lvl="0"/>
            <a:r>
              <a:rPr lang="en-GB"/>
              <a:t>Optional section subheading</a:t>
            </a:r>
          </a:p>
        </p:txBody>
      </p:sp>
      <p:pic>
        <p:nvPicPr>
          <p:cNvPr id="7" name="Picture 6" descr="Logo&#10;&#10;Description automatically generated">
            <a:extLst>
              <a:ext uri="{FF2B5EF4-FFF2-40B4-BE49-F238E27FC236}">
                <a16:creationId xmlns:a16="http://schemas.microsoft.com/office/drawing/2014/main" id="{8FF29A91-7212-2224-770F-F2F47259A54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045667" y="6187614"/>
            <a:ext cx="908050" cy="439787"/>
          </a:xfrm>
          <a:prstGeom prst="rect">
            <a:avLst/>
          </a:prstGeom>
        </p:spPr>
      </p:pic>
    </p:spTree>
    <p:extLst>
      <p:ext uri="{BB962C8B-B14F-4D97-AF65-F5344CB8AC3E}">
        <p14:creationId xmlns:p14="http://schemas.microsoft.com/office/powerpoint/2010/main" val="147362478"/>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guide id="6" pos="3840">
          <p15:clr>
            <a:srgbClr val="FBAE40"/>
          </p15:clr>
        </p15:guide>
        <p15:guide id="7" pos="408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ND SLIDE OPTION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1" name="Title 11">
            <a:extLst>
              <a:ext uri="{FF2B5EF4-FFF2-40B4-BE49-F238E27FC236}">
                <a16:creationId xmlns:a16="http://schemas.microsoft.com/office/drawing/2014/main" id="{4A46F358-BC55-E74D-82FD-A90ABF305C9E}"/>
              </a:ext>
            </a:extLst>
          </p:cNvPr>
          <p:cNvSpPr>
            <a:spLocks noGrp="1"/>
          </p:cNvSpPr>
          <p:nvPr>
            <p:ph type="title" hasCustomPrompt="1"/>
          </p:nvPr>
        </p:nvSpPr>
        <p:spPr>
          <a:xfrm>
            <a:off x="839789" y="2941465"/>
            <a:ext cx="10512424" cy="1080000"/>
          </a:xfrm>
        </p:spPr>
        <p:txBody>
          <a:bodyPr lIns="0" tIns="0" rIns="0" bIns="0"/>
          <a:lstStyle>
            <a:lvl1pPr algn="l">
              <a:defRPr sz="6000">
                <a:solidFill>
                  <a:srgbClr val="FFFFFF"/>
                </a:solidFill>
              </a:defRPr>
            </a:lvl1pPr>
          </a:lstStyle>
          <a:p>
            <a:r>
              <a:rPr lang="en-GB"/>
              <a:t>Thank you</a:t>
            </a:r>
            <a:endParaRPr lang="en-US"/>
          </a:p>
        </p:txBody>
      </p:sp>
      <p:pic>
        <p:nvPicPr>
          <p:cNvPr id="5" name="Picture 4" descr="Logo&#10;&#10;Description automatically generated">
            <a:extLst>
              <a:ext uri="{FF2B5EF4-FFF2-40B4-BE49-F238E27FC236}">
                <a16:creationId xmlns:a16="http://schemas.microsoft.com/office/drawing/2014/main" id="{F5E5BF47-FCDD-1903-CCA9-2083D5DF819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Tree>
    <p:extLst>
      <p:ext uri="{BB962C8B-B14F-4D97-AF65-F5344CB8AC3E}">
        <p14:creationId xmlns:p14="http://schemas.microsoft.com/office/powerpoint/2010/main" val="2740652513"/>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ND SLIDE OPTION 2">
    <p:bg>
      <p:bgPr>
        <a:solidFill>
          <a:srgbClr val="002F6B"/>
        </a:solidFill>
        <a:effectLst/>
      </p:bgPr>
    </p:bg>
    <p:spTree>
      <p:nvGrpSpPr>
        <p:cNvPr id="1" name=""/>
        <p:cNvGrpSpPr/>
        <p:nvPr/>
      </p:nvGrpSpPr>
      <p:grpSpPr>
        <a:xfrm>
          <a:off x="0" y="0"/>
          <a:ext cx="0" cy="0"/>
          <a:chOff x="0" y="0"/>
          <a:chExt cx="0" cy="0"/>
        </a:xfrm>
      </p:grpSpPr>
      <p:sp>
        <p:nvSpPr>
          <p:cNvPr id="21" name="Title 11">
            <a:extLst>
              <a:ext uri="{FF2B5EF4-FFF2-40B4-BE49-F238E27FC236}">
                <a16:creationId xmlns:a16="http://schemas.microsoft.com/office/drawing/2014/main" id="{4A46F358-BC55-E74D-82FD-A90ABF305C9E}"/>
              </a:ext>
            </a:extLst>
          </p:cNvPr>
          <p:cNvSpPr>
            <a:spLocks noGrp="1"/>
          </p:cNvSpPr>
          <p:nvPr>
            <p:ph type="title" hasCustomPrompt="1"/>
          </p:nvPr>
        </p:nvSpPr>
        <p:spPr>
          <a:xfrm>
            <a:off x="839789" y="2941465"/>
            <a:ext cx="10512424" cy="1080000"/>
          </a:xfrm>
        </p:spPr>
        <p:txBody>
          <a:bodyPr lIns="0" tIns="0" rIns="0" bIns="0"/>
          <a:lstStyle>
            <a:lvl1pPr algn="l">
              <a:defRPr sz="6000">
                <a:solidFill>
                  <a:srgbClr val="FFFFFF"/>
                </a:solidFill>
              </a:defRPr>
            </a:lvl1pPr>
          </a:lstStyle>
          <a:p>
            <a:r>
              <a:rPr lang="en-GB"/>
              <a:t>Thank you</a:t>
            </a:r>
            <a:endParaRPr lang="en-US"/>
          </a:p>
        </p:txBody>
      </p:sp>
      <p:pic>
        <p:nvPicPr>
          <p:cNvPr id="5" name="Picture 4" descr="Logo&#10;&#10;Description automatically generated">
            <a:extLst>
              <a:ext uri="{FF2B5EF4-FFF2-40B4-BE49-F238E27FC236}">
                <a16:creationId xmlns:a16="http://schemas.microsoft.com/office/drawing/2014/main" id="{F5E5BF47-FCDD-1903-CCA9-2083D5DF819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8299" y="522523"/>
            <a:ext cx="1407229" cy="688956"/>
          </a:xfrm>
          <a:prstGeom prst="rect">
            <a:avLst/>
          </a:prstGeom>
        </p:spPr>
      </p:pic>
    </p:spTree>
    <p:extLst>
      <p:ext uri="{BB962C8B-B14F-4D97-AF65-F5344CB8AC3E}">
        <p14:creationId xmlns:p14="http://schemas.microsoft.com/office/powerpoint/2010/main" val="673046428"/>
      </p:ext>
    </p:extLst>
  </p:cSld>
  <p:clrMapOvr>
    <a:masterClrMapping/>
  </p:clrMapOvr>
  <p:extLst>
    <p:ext uri="{DCECCB84-F9BA-43D5-87BE-67443E8EF086}">
      <p15:sldGuideLst xmlns:p15="http://schemas.microsoft.com/office/powerpoint/2012/main">
        <p15:guide id="1" pos="529">
          <p15:clr>
            <a:srgbClr val="FBAE40"/>
          </p15:clr>
        </p15:guide>
        <p15:guide id="2" orient="horz" pos="527">
          <p15:clr>
            <a:srgbClr val="FBAE40"/>
          </p15:clr>
        </p15:guide>
        <p15:guide id="3" pos="7151">
          <p15:clr>
            <a:srgbClr val="FBAE40"/>
          </p15:clr>
        </p15:guide>
        <p15:guide id="4" orient="horz" pos="3589">
          <p15:clr>
            <a:srgbClr val="FBAE40"/>
          </p15:clr>
        </p15:guide>
        <p15:guide id="5"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asic BNZ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930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OLUMN SLID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2C8D0-1D46-D04A-A669-C9E13D41F7D3}"/>
              </a:ext>
            </a:extLst>
          </p:cNvPr>
          <p:cNvSpPr>
            <a:spLocks noGrp="1"/>
          </p:cNvSpPr>
          <p:nvPr>
            <p:ph type="title" hasCustomPrompt="1"/>
          </p:nvPr>
        </p:nvSpPr>
        <p:spPr>
          <a:xfrm>
            <a:off x="839788" y="513481"/>
            <a:ext cx="10512425" cy="387170"/>
          </a:xfrm>
        </p:spPr>
        <p:txBody>
          <a:bodyPr/>
          <a:lstStyle>
            <a:lvl1pPr>
              <a:defRPr b="0">
                <a:latin typeface="Calibri Light" panose="020F0302020204030204" pitchFamily="34" charset="0"/>
                <a:cs typeface="Calibri Light" panose="020F0302020204030204" pitchFamily="34" charset="0"/>
              </a:defRPr>
            </a:lvl1pPr>
          </a:lstStyle>
          <a:p>
            <a:r>
              <a:rPr lang="en-GB" dirty="0"/>
              <a:t>2 column slide heading</a:t>
            </a:r>
            <a:endParaRPr lang="en-US" dirty="0"/>
          </a:p>
        </p:txBody>
      </p:sp>
      <p:sp>
        <p:nvSpPr>
          <p:cNvPr id="4" name="Text Placeholder 3">
            <a:extLst>
              <a:ext uri="{FF2B5EF4-FFF2-40B4-BE49-F238E27FC236}">
                <a16:creationId xmlns:a16="http://schemas.microsoft.com/office/drawing/2014/main" id="{58B452FB-9AE8-FE4C-AFD4-72A5AA64E47F}"/>
              </a:ext>
            </a:extLst>
          </p:cNvPr>
          <p:cNvSpPr>
            <a:spLocks noGrp="1"/>
          </p:cNvSpPr>
          <p:nvPr>
            <p:ph type="body" sz="quarter" idx="10" hasCustomPrompt="1"/>
          </p:nvPr>
        </p:nvSpPr>
        <p:spPr>
          <a:xfrm>
            <a:off x="839788" y="986158"/>
            <a:ext cx="10512425" cy="319724"/>
          </a:xfrm>
        </p:spPr>
        <p:txBody>
          <a:bodyPr/>
          <a:lstStyle>
            <a:lvl1pPr>
              <a:defRPr>
                <a:latin typeface="Calibri Light" panose="020F0302020204030204" pitchFamily="34" charset="0"/>
                <a:cs typeface="Calibri Light" panose="020F0302020204030204" pitchFamily="34" charset="0"/>
              </a:defRPr>
            </a:lvl1pPr>
          </a:lstStyle>
          <a:p>
            <a:pPr lvl="0"/>
            <a:r>
              <a:rPr lang="en-GB"/>
              <a:t>Optional subheading </a:t>
            </a:r>
          </a:p>
        </p:txBody>
      </p:sp>
      <p:sp>
        <p:nvSpPr>
          <p:cNvPr id="28" name="Text Placeholder 24">
            <a:extLst>
              <a:ext uri="{FF2B5EF4-FFF2-40B4-BE49-F238E27FC236}">
                <a16:creationId xmlns:a16="http://schemas.microsoft.com/office/drawing/2014/main" id="{99601F0E-BC63-3449-92B1-71711B08C488}"/>
              </a:ext>
            </a:extLst>
          </p:cNvPr>
          <p:cNvSpPr>
            <a:spLocks noGrp="1"/>
          </p:cNvSpPr>
          <p:nvPr>
            <p:ph type="body" sz="quarter" idx="14" hasCustomPrompt="1"/>
          </p:nvPr>
        </p:nvSpPr>
        <p:spPr>
          <a:xfrm>
            <a:off x="6311900" y="1804820"/>
            <a:ext cx="5034955" cy="4260850"/>
          </a:xfrm>
        </p:spPr>
        <p:txBody>
          <a:bodyPr/>
          <a:lstStyle>
            <a:lvl1pPr marL="0" marR="0" indent="0" algn="l" defTabSz="914377" rtl="0" eaLnBrk="1" fontAlgn="t" latinLnBrk="0" hangingPunct="1">
              <a:lnSpc>
                <a:spcPct val="90000"/>
              </a:lnSpc>
              <a:spcBef>
                <a:spcPts val="0"/>
              </a:spcBef>
              <a:spcAft>
                <a:spcPts val="200"/>
              </a:spcAft>
              <a:buClrTx/>
              <a:buSzTx/>
              <a:buFont typeface="Wingdings" panose="05000000000000000000" pitchFamily="2" charset="2"/>
              <a:buNone/>
              <a:tabLst/>
              <a:defRPr sz="1600">
                <a:solidFill>
                  <a:srgbClr val="333333"/>
                </a:solidFill>
              </a:defRPr>
            </a:lvl1pPr>
            <a:lvl2pPr marL="645741" marR="0" indent="-285750" algn="l" defTabSz="914377" rtl="0" eaLnBrk="1" fontAlgn="t" latinLnBrk="0" hangingPunct="1">
              <a:lnSpc>
                <a:spcPct val="90000"/>
              </a:lnSpc>
              <a:spcBef>
                <a:spcPts val="500"/>
              </a:spcBef>
              <a:spcAft>
                <a:spcPts val="200"/>
              </a:spcAft>
              <a:buClrTx/>
              <a:buSzTx/>
              <a:buFont typeface="Arial" panose="020B0604020202020204" pitchFamily="34" charset="0"/>
              <a:buChar char="•"/>
              <a:tabLst/>
              <a:defRPr/>
            </a:lvl2pPr>
          </a:lstStyle>
          <a:p>
            <a:pPr lvl="0"/>
            <a:r>
              <a:rPr lang="en-GB"/>
              <a:t>Column 2 body copy</a:t>
            </a:r>
          </a:p>
          <a:p>
            <a:pPr lvl="0"/>
            <a:endParaRPr lang="en-GB"/>
          </a:p>
        </p:txBody>
      </p:sp>
      <p:sp>
        <p:nvSpPr>
          <p:cNvPr id="12" name="Text Placeholder 31">
            <a:extLst>
              <a:ext uri="{FF2B5EF4-FFF2-40B4-BE49-F238E27FC236}">
                <a16:creationId xmlns:a16="http://schemas.microsoft.com/office/drawing/2014/main" id="{513BF4AB-4F0F-B042-AFE7-9F3F0ADA7560}"/>
              </a:ext>
            </a:extLst>
          </p:cNvPr>
          <p:cNvSpPr>
            <a:spLocks noGrp="1"/>
          </p:cNvSpPr>
          <p:nvPr>
            <p:ph type="body" sz="quarter" idx="16" hasCustomPrompt="1"/>
          </p:nvPr>
        </p:nvSpPr>
        <p:spPr>
          <a:xfrm>
            <a:off x="839789" y="1528596"/>
            <a:ext cx="5040312" cy="276225"/>
          </a:xfrm>
        </p:spPr>
        <p:txBody>
          <a:bodyPr/>
          <a:lstStyle>
            <a:lvl1pPr>
              <a:defRPr sz="1600" b="0" i="0">
                <a:latin typeface="Aptos" panose="020B0004020202020204" pitchFamily="34" charset="0"/>
                <a:cs typeface="Calibri" panose="020F0502020204030204" pitchFamily="34" charset="0"/>
              </a:defRPr>
            </a:lvl1pPr>
          </a:lstStyle>
          <a:p>
            <a:pPr lvl="0"/>
            <a:r>
              <a:rPr lang="en-GB"/>
              <a:t>Column 1 body heading</a:t>
            </a:r>
            <a:endParaRPr lang="en-US"/>
          </a:p>
        </p:txBody>
      </p:sp>
      <p:sp>
        <p:nvSpPr>
          <p:cNvPr id="15" name="Text Placeholder 24">
            <a:extLst>
              <a:ext uri="{FF2B5EF4-FFF2-40B4-BE49-F238E27FC236}">
                <a16:creationId xmlns:a16="http://schemas.microsoft.com/office/drawing/2014/main" id="{DA8EDD2F-46A8-834C-93FD-894E80FFC7CC}"/>
              </a:ext>
            </a:extLst>
          </p:cNvPr>
          <p:cNvSpPr>
            <a:spLocks noGrp="1"/>
          </p:cNvSpPr>
          <p:nvPr>
            <p:ph type="body" sz="quarter" idx="13" hasCustomPrompt="1"/>
          </p:nvPr>
        </p:nvSpPr>
        <p:spPr>
          <a:xfrm>
            <a:off x="839789" y="1805046"/>
            <a:ext cx="5040312" cy="4260624"/>
          </a:xfrm>
        </p:spPr>
        <p:txBody>
          <a:bodyPr/>
          <a:lstStyle>
            <a:lvl1pPr marL="0" marR="0" indent="0" algn="l" defTabSz="914377" rtl="0" eaLnBrk="1" fontAlgn="t" latinLnBrk="0" hangingPunct="1">
              <a:lnSpc>
                <a:spcPct val="90000"/>
              </a:lnSpc>
              <a:spcBef>
                <a:spcPts val="0"/>
              </a:spcBef>
              <a:spcAft>
                <a:spcPts val="200"/>
              </a:spcAft>
              <a:buClrTx/>
              <a:buSzTx/>
              <a:buFont typeface="Wingdings" panose="05000000000000000000" pitchFamily="2" charset="2"/>
              <a:buNone/>
              <a:tabLst/>
              <a:defRPr sz="1600">
                <a:solidFill>
                  <a:srgbClr val="333333"/>
                </a:solidFill>
              </a:defRPr>
            </a:lvl1pPr>
            <a:lvl2pPr marL="645741" marR="0" indent="-285750" algn="l" defTabSz="914377" rtl="0" eaLnBrk="1" fontAlgn="t" latinLnBrk="0" hangingPunct="1">
              <a:lnSpc>
                <a:spcPct val="90000"/>
              </a:lnSpc>
              <a:spcBef>
                <a:spcPts val="500"/>
              </a:spcBef>
              <a:spcAft>
                <a:spcPts val="200"/>
              </a:spcAft>
              <a:buClrTx/>
              <a:buSzTx/>
              <a:buFont typeface="Arial" panose="020B0604020202020204" pitchFamily="34" charset="0"/>
              <a:buChar char="•"/>
              <a:tabLst/>
              <a:defRPr/>
            </a:lvl2pPr>
          </a:lstStyle>
          <a:p>
            <a:pPr lvl="0"/>
            <a:r>
              <a:rPr lang="en-GB"/>
              <a:t>Column 1 body copy</a:t>
            </a:r>
          </a:p>
          <a:p>
            <a:pPr lvl="0"/>
            <a:endParaRPr lang="en-GB"/>
          </a:p>
        </p:txBody>
      </p:sp>
      <p:sp>
        <p:nvSpPr>
          <p:cNvPr id="16" name="Text Placeholder 31">
            <a:extLst>
              <a:ext uri="{FF2B5EF4-FFF2-40B4-BE49-F238E27FC236}">
                <a16:creationId xmlns:a16="http://schemas.microsoft.com/office/drawing/2014/main" id="{C3C9149B-9508-B848-A1D9-63326F0F9D73}"/>
              </a:ext>
            </a:extLst>
          </p:cNvPr>
          <p:cNvSpPr>
            <a:spLocks noGrp="1"/>
          </p:cNvSpPr>
          <p:nvPr>
            <p:ph type="body" sz="quarter" idx="17" hasCustomPrompt="1"/>
          </p:nvPr>
        </p:nvSpPr>
        <p:spPr>
          <a:xfrm>
            <a:off x="6311901" y="1528596"/>
            <a:ext cx="5034955" cy="276225"/>
          </a:xfrm>
        </p:spPr>
        <p:txBody>
          <a:bodyPr/>
          <a:lstStyle>
            <a:lvl1pPr>
              <a:defRPr sz="1600" b="0" i="0">
                <a:latin typeface="Aptos" panose="020B0004020202020204" pitchFamily="34" charset="0"/>
                <a:cs typeface="Calibri" panose="020F0502020204030204" pitchFamily="34" charset="0"/>
              </a:defRPr>
            </a:lvl1pPr>
          </a:lstStyle>
          <a:p>
            <a:pPr lvl="0"/>
            <a:r>
              <a:rPr lang="en-GB"/>
              <a:t>Column 2 body heading</a:t>
            </a:r>
            <a:endParaRPr lang="en-US"/>
          </a:p>
        </p:txBody>
      </p:sp>
      <p:sp>
        <p:nvSpPr>
          <p:cNvPr id="5" name="Footer Placeholder 4">
            <a:extLst>
              <a:ext uri="{FF2B5EF4-FFF2-40B4-BE49-F238E27FC236}">
                <a16:creationId xmlns:a16="http://schemas.microsoft.com/office/drawing/2014/main" id="{5B258A9C-BE88-7B4E-B516-AD2DC1B58DE5}"/>
              </a:ext>
            </a:extLst>
          </p:cNvPr>
          <p:cNvSpPr>
            <a:spLocks noGrp="1"/>
          </p:cNvSpPr>
          <p:nvPr>
            <p:ph type="ftr" sz="quarter" idx="18"/>
          </p:nvPr>
        </p:nvSpPr>
        <p:spPr/>
        <p:txBody>
          <a:bodyPr/>
          <a:lstStyle/>
          <a:p>
            <a:endParaRPr lang="en-NZ"/>
          </a:p>
        </p:txBody>
      </p:sp>
      <p:sp>
        <p:nvSpPr>
          <p:cNvPr id="6" name="Slide Number Placeholder 5">
            <a:extLst>
              <a:ext uri="{FF2B5EF4-FFF2-40B4-BE49-F238E27FC236}">
                <a16:creationId xmlns:a16="http://schemas.microsoft.com/office/drawing/2014/main" id="{049AB5F2-416A-EC44-9CAA-6EB31210E733}"/>
              </a:ext>
            </a:extLst>
          </p:cNvPr>
          <p:cNvSpPr>
            <a:spLocks noGrp="1"/>
          </p:cNvSpPr>
          <p:nvPr>
            <p:ph type="sldNum" sz="quarter" idx="19"/>
          </p:nvPr>
        </p:nvSpPr>
        <p:spPr/>
        <p:txBody>
          <a:bodyPr/>
          <a:lstStyle/>
          <a:p>
            <a:fld id="{2E5A4CF9-4EB3-4341-AF18-D9A68BC60189}" type="slidenum">
              <a:rPr lang="en-NZ" smtClean="0"/>
              <a:t>‹#›</a:t>
            </a:fld>
            <a:endParaRPr lang="en-NZ"/>
          </a:p>
        </p:txBody>
      </p:sp>
    </p:spTree>
    <p:extLst>
      <p:ext uri="{BB962C8B-B14F-4D97-AF65-F5344CB8AC3E}">
        <p14:creationId xmlns:p14="http://schemas.microsoft.com/office/powerpoint/2010/main" val="3566623239"/>
      </p:ext>
    </p:extLst>
  </p:cSld>
  <p:clrMapOvr>
    <a:masterClrMapping/>
  </p:clrMapOvr>
  <p:extLst>
    <p:ext uri="{DCECCB84-F9BA-43D5-87BE-67443E8EF086}">
      <p15:sldGuideLst xmlns:p15="http://schemas.microsoft.com/office/powerpoint/2012/main">
        <p15:guide id="7" pos="3840">
          <p15:clr>
            <a:srgbClr val="FBAE40"/>
          </p15:clr>
        </p15:guide>
        <p15:guide id="8" pos="3704">
          <p15:clr>
            <a:srgbClr val="FBAE40"/>
          </p15:clr>
        </p15:guide>
        <p15:guide id="9" pos="397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ASIC SLID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2C8D0-1D46-D04A-A669-C9E13D41F7D3}"/>
              </a:ext>
            </a:extLst>
          </p:cNvPr>
          <p:cNvSpPr>
            <a:spLocks noGrp="1"/>
          </p:cNvSpPr>
          <p:nvPr>
            <p:ph type="title" hasCustomPrompt="1"/>
          </p:nvPr>
        </p:nvSpPr>
        <p:spPr>
          <a:xfrm>
            <a:off x="839789" y="513481"/>
            <a:ext cx="10512424" cy="502605"/>
          </a:xfrm>
        </p:spPr>
        <p:txBody>
          <a:bodyPr/>
          <a:lstStyle>
            <a:lvl1pPr>
              <a:defRPr b="0">
                <a:latin typeface="Calibri Light" panose="020F0302020204030204" pitchFamily="34" charset="0"/>
                <a:cs typeface="Calibri Light" panose="020F0302020204030204" pitchFamily="34" charset="0"/>
              </a:defRPr>
            </a:lvl1pPr>
          </a:lstStyle>
          <a:p>
            <a:r>
              <a:rPr lang="en-GB"/>
              <a:t>Basic slide heading</a:t>
            </a:r>
            <a:endParaRPr lang="en-US"/>
          </a:p>
        </p:txBody>
      </p:sp>
      <p:sp>
        <p:nvSpPr>
          <p:cNvPr id="4" name="Text Placeholder 3">
            <a:extLst>
              <a:ext uri="{FF2B5EF4-FFF2-40B4-BE49-F238E27FC236}">
                <a16:creationId xmlns:a16="http://schemas.microsoft.com/office/drawing/2014/main" id="{58B452FB-9AE8-FE4C-AFD4-72A5AA64E47F}"/>
              </a:ext>
            </a:extLst>
          </p:cNvPr>
          <p:cNvSpPr>
            <a:spLocks noGrp="1"/>
          </p:cNvSpPr>
          <p:nvPr>
            <p:ph type="body" sz="quarter" idx="10" hasCustomPrompt="1"/>
          </p:nvPr>
        </p:nvSpPr>
        <p:spPr>
          <a:xfrm>
            <a:off x="848269" y="982306"/>
            <a:ext cx="10512424" cy="319724"/>
          </a:xfrm>
        </p:spPr>
        <p:txBody>
          <a:bodyPr/>
          <a:lstStyle>
            <a:lvl1pPr>
              <a:defRPr>
                <a:latin typeface="Calibri Light" panose="020F0302020204030204" pitchFamily="34" charset="0"/>
                <a:cs typeface="Calibri Light" panose="020F0302020204030204" pitchFamily="34" charset="0"/>
              </a:defRPr>
            </a:lvl1pPr>
          </a:lstStyle>
          <a:p>
            <a:pPr lvl="0"/>
            <a:r>
              <a:rPr lang="en-GB"/>
              <a:t>Optional subheading </a:t>
            </a:r>
          </a:p>
        </p:txBody>
      </p:sp>
      <p:sp>
        <p:nvSpPr>
          <p:cNvPr id="12" name="Text Placeholder 31">
            <a:extLst>
              <a:ext uri="{FF2B5EF4-FFF2-40B4-BE49-F238E27FC236}">
                <a16:creationId xmlns:a16="http://schemas.microsoft.com/office/drawing/2014/main" id="{513BF4AB-4F0F-B042-AFE7-9F3F0ADA7560}"/>
              </a:ext>
            </a:extLst>
          </p:cNvPr>
          <p:cNvSpPr>
            <a:spLocks noGrp="1"/>
          </p:cNvSpPr>
          <p:nvPr>
            <p:ph type="body" sz="quarter" idx="16" hasCustomPrompt="1"/>
          </p:nvPr>
        </p:nvSpPr>
        <p:spPr>
          <a:xfrm>
            <a:off x="839790" y="1528602"/>
            <a:ext cx="10512424" cy="276225"/>
          </a:xfrm>
        </p:spPr>
        <p:txBody>
          <a:bodyPr/>
          <a:lstStyle>
            <a:lvl1pPr>
              <a:defRPr sz="1600" b="0" i="0">
                <a:latin typeface="Aptos" panose="020B0004020202020204" pitchFamily="34" charset="0"/>
                <a:cs typeface="Calibri" panose="020F0502020204030204" pitchFamily="34" charset="0"/>
              </a:defRPr>
            </a:lvl1pPr>
          </a:lstStyle>
          <a:p>
            <a:pPr lvl="0"/>
            <a:r>
              <a:rPr lang="en-GB"/>
              <a:t>Body heading</a:t>
            </a:r>
            <a:endParaRPr lang="en-US"/>
          </a:p>
        </p:txBody>
      </p:sp>
      <p:sp>
        <p:nvSpPr>
          <p:cNvPr id="15" name="Text Placeholder 24">
            <a:extLst>
              <a:ext uri="{FF2B5EF4-FFF2-40B4-BE49-F238E27FC236}">
                <a16:creationId xmlns:a16="http://schemas.microsoft.com/office/drawing/2014/main" id="{DA8EDD2F-46A8-834C-93FD-894E80FFC7CC}"/>
              </a:ext>
            </a:extLst>
          </p:cNvPr>
          <p:cNvSpPr>
            <a:spLocks noGrp="1"/>
          </p:cNvSpPr>
          <p:nvPr>
            <p:ph type="body" sz="quarter" idx="13" hasCustomPrompt="1"/>
          </p:nvPr>
        </p:nvSpPr>
        <p:spPr>
          <a:xfrm>
            <a:off x="839790" y="1805052"/>
            <a:ext cx="10512424" cy="3892486"/>
          </a:xfrm>
        </p:spPr>
        <p:txBody>
          <a:bodyPr/>
          <a:lstStyle>
            <a:lvl1pPr marL="0" marR="0" indent="0" algn="l" defTabSz="914377" rtl="0" eaLnBrk="1" fontAlgn="t" latinLnBrk="0" hangingPunct="1">
              <a:lnSpc>
                <a:spcPct val="90000"/>
              </a:lnSpc>
              <a:spcBef>
                <a:spcPts val="0"/>
              </a:spcBef>
              <a:spcAft>
                <a:spcPts val="200"/>
              </a:spcAft>
              <a:buClrTx/>
              <a:buSzTx/>
              <a:buFont typeface="Wingdings" panose="05000000000000000000" pitchFamily="2" charset="2"/>
              <a:buNone/>
              <a:tabLst/>
              <a:defRPr sz="1600">
                <a:solidFill>
                  <a:srgbClr val="333333"/>
                </a:solidFill>
              </a:defRPr>
            </a:lvl1pPr>
            <a:lvl2pPr marL="645741" marR="0" indent="-285750" algn="l" defTabSz="914377" rtl="0" eaLnBrk="1" fontAlgn="t" latinLnBrk="0" hangingPunct="1">
              <a:lnSpc>
                <a:spcPct val="90000"/>
              </a:lnSpc>
              <a:spcBef>
                <a:spcPts val="500"/>
              </a:spcBef>
              <a:spcAft>
                <a:spcPts val="200"/>
              </a:spcAft>
              <a:buClrTx/>
              <a:buSzTx/>
              <a:buFont typeface="Arial" panose="020B0604020202020204" pitchFamily="34" charset="0"/>
              <a:buChar char="•"/>
              <a:tabLst/>
              <a:defRPr/>
            </a:lvl2pPr>
          </a:lstStyle>
          <a:p>
            <a:pPr lvl="0"/>
            <a:r>
              <a:rPr lang="en-GB"/>
              <a:t>Body copy full width of slide</a:t>
            </a:r>
          </a:p>
        </p:txBody>
      </p:sp>
      <p:sp>
        <p:nvSpPr>
          <p:cNvPr id="5" name="Footer Placeholder 4">
            <a:extLst>
              <a:ext uri="{FF2B5EF4-FFF2-40B4-BE49-F238E27FC236}">
                <a16:creationId xmlns:a16="http://schemas.microsoft.com/office/drawing/2014/main" id="{5B258A9C-BE88-7B4E-B516-AD2DC1B58DE5}"/>
              </a:ext>
            </a:extLst>
          </p:cNvPr>
          <p:cNvSpPr>
            <a:spLocks noGrp="1"/>
          </p:cNvSpPr>
          <p:nvPr>
            <p:ph type="ftr" sz="quarter" idx="18"/>
          </p:nvPr>
        </p:nvSpPr>
        <p:spPr/>
        <p:txBody>
          <a:bodyPr/>
          <a:lstStyle/>
          <a:p>
            <a:endParaRPr lang="en-NZ"/>
          </a:p>
        </p:txBody>
      </p:sp>
      <p:sp>
        <p:nvSpPr>
          <p:cNvPr id="6" name="Slide Number Placeholder 5">
            <a:extLst>
              <a:ext uri="{FF2B5EF4-FFF2-40B4-BE49-F238E27FC236}">
                <a16:creationId xmlns:a16="http://schemas.microsoft.com/office/drawing/2014/main" id="{049AB5F2-416A-EC44-9CAA-6EB31210E733}"/>
              </a:ext>
            </a:extLst>
          </p:cNvPr>
          <p:cNvSpPr>
            <a:spLocks noGrp="1"/>
          </p:cNvSpPr>
          <p:nvPr>
            <p:ph type="sldNum" sz="quarter" idx="19"/>
          </p:nvPr>
        </p:nvSpPr>
        <p:spPr/>
        <p:txBody>
          <a:bodyPr/>
          <a:lstStyle/>
          <a:p>
            <a:fld id="{2E5A4CF9-4EB3-4341-AF18-D9A68BC60189}" type="slidenum">
              <a:rPr lang="en-NZ" smtClean="0"/>
              <a:t>‹#›</a:t>
            </a:fld>
            <a:endParaRPr lang="en-NZ"/>
          </a:p>
        </p:txBody>
      </p:sp>
    </p:spTree>
    <p:extLst>
      <p:ext uri="{BB962C8B-B14F-4D97-AF65-F5344CB8AC3E}">
        <p14:creationId xmlns:p14="http://schemas.microsoft.com/office/powerpoint/2010/main" val="427440840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Slide">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2C8D0-1D46-D04A-A669-C9E13D41F7D3}"/>
              </a:ext>
            </a:extLst>
          </p:cNvPr>
          <p:cNvSpPr>
            <a:spLocks noGrp="1"/>
          </p:cNvSpPr>
          <p:nvPr>
            <p:ph type="title" hasCustomPrompt="1"/>
          </p:nvPr>
        </p:nvSpPr>
        <p:spPr>
          <a:xfrm>
            <a:off x="249239" y="248463"/>
            <a:ext cx="10512424" cy="502605"/>
          </a:xfrm>
        </p:spPr>
        <p:txBody>
          <a:bodyPr anchor="ctr"/>
          <a:lstStyle>
            <a:lvl1pPr>
              <a:defRPr sz="2400" b="1">
                <a:latin typeface="Calibri Light" panose="020F0302020204030204" pitchFamily="34" charset="0"/>
                <a:cs typeface="Calibri Light" panose="020F0302020204030204" pitchFamily="34" charset="0"/>
              </a:defRPr>
            </a:lvl1pPr>
          </a:lstStyle>
          <a:p>
            <a:r>
              <a:rPr lang="en-GB"/>
              <a:t>Basic slide heading</a:t>
            </a:r>
            <a:endParaRPr lang="en-US"/>
          </a:p>
        </p:txBody>
      </p:sp>
      <p:pic>
        <p:nvPicPr>
          <p:cNvPr id="3" name="Picture 2" descr="Logo&#10;&#10;Description automatically generated">
            <a:extLst>
              <a:ext uri="{FF2B5EF4-FFF2-40B4-BE49-F238E27FC236}">
                <a16:creationId xmlns:a16="http://schemas.microsoft.com/office/drawing/2014/main" id="{C56F6471-8607-FBA2-78A1-8667691399F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25249" y="6460674"/>
            <a:ext cx="599917" cy="290552"/>
          </a:xfrm>
          <a:prstGeom prst="rect">
            <a:avLst/>
          </a:prstGeom>
        </p:spPr>
      </p:pic>
    </p:spTree>
    <p:extLst>
      <p:ext uri="{BB962C8B-B14F-4D97-AF65-F5344CB8AC3E}">
        <p14:creationId xmlns:p14="http://schemas.microsoft.com/office/powerpoint/2010/main" val="74823089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9788" y="2349000"/>
            <a:ext cx="11232000" cy="1080000"/>
          </a:xfrm>
          <a:prstGeom prst="rect">
            <a:avLst/>
          </a:prstGeom>
        </p:spPr>
        <p:txBody>
          <a:bodyPr vert="horz" lIns="0" tIns="0" rIns="0" bIns="0" rtlCol="0" anchor="t" anchorCtr="0">
            <a:noAutofit/>
          </a:bodyPr>
          <a:lstStyle/>
          <a:p>
            <a:pPr lvl="0"/>
            <a:r>
              <a:rPr lang="en-US"/>
              <a:t>Click to edit Master title style</a:t>
            </a:r>
          </a:p>
        </p:txBody>
      </p:sp>
      <p:sp>
        <p:nvSpPr>
          <p:cNvPr id="3" name="Text Placeholder 2"/>
          <p:cNvSpPr>
            <a:spLocks noGrp="1"/>
          </p:cNvSpPr>
          <p:nvPr>
            <p:ph type="body" idx="1"/>
          </p:nvPr>
        </p:nvSpPr>
        <p:spPr>
          <a:xfrm>
            <a:off x="839789" y="3770069"/>
            <a:ext cx="10512424" cy="1581421"/>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B1F17558-1CB2-4702-BDD2-0D7950F3C6C8}"/>
              </a:ext>
            </a:extLst>
          </p:cNvPr>
          <p:cNvSpPr txBox="1"/>
          <p:nvPr>
            <p:extLst>
              <p:ext uri="{1162E1C5-73C7-4A58-AE30-91384D911F3F}">
                <p184:classification xmlns:p184="http://schemas.microsoft.com/office/powerpoint/2018/4/main" val="ftr"/>
              </p:ext>
            </p:extLst>
          </p:nvPr>
        </p:nvSpPr>
        <p:spPr>
          <a:xfrm>
            <a:off x="5711826" y="6642100"/>
            <a:ext cx="796925" cy="153888"/>
          </a:xfrm>
          <a:prstGeom prst="rect">
            <a:avLst/>
          </a:prstGeom>
        </p:spPr>
        <p:txBody>
          <a:bodyPr horzOverflow="overflow" lIns="0" tIns="0" rIns="0" bIns="0">
            <a:spAutoFit/>
          </a:bodyPr>
          <a:lstStyle/>
          <a:p>
            <a:pPr algn="l"/>
            <a:r>
              <a:rPr lang="en-NZ" sz="1000">
                <a:solidFill>
                  <a:srgbClr val="000000"/>
                </a:solidFill>
                <a:latin typeface="Calibri" panose="020F0502020204030204" pitchFamily="34" charset="0"/>
                <a:cs typeface="Calibri" panose="020F0502020204030204" pitchFamily="34" charset="0"/>
              </a:rPr>
              <a:t>CONFIDENTIAL</a:t>
            </a:r>
          </a:p>
        </p:txBody>
      </p:sp>
      <p:sp>
        <p:nvSpPr>
          <p:cNvPr id="5" name="TextBox 4">
            <a:extLst>
              <a:ext uri="{FF2B5EF4-FFF2-40B4-BE49-F238E27FC236}">
                <a16:creationId xmlns:a16="http://schemas.microsoft.com/office/drawing/2014/main" id="{60419E7B-49D8-4E4E-95E7-E56C6533E45E}"/>
              </a:ext>
            </a:extLst>
          </p:cNvPr>
          <p:cNvSpPr txBox="1"/>
          <p:nvPr>
            <p:extLst>
              <p:ext uri="{1162E1C5-73C7-4A58-AE30-91384D911F3F}">
                <p184:classification xmlns:p184="http://schemas.microsoft.com/office/powerpoint/2018/4/main" val="hdr"/>
              </p:ext>
            </p:extLst>
          </p:nvPr>
        </p:nvSpPr>
        <p:spPr>
          <a:xfrm>
            <a:off x="5711826" y="63500"/>
            <a:ext cx="796925" cy="153888"/>
          </a:xfrm>
          <a:prstGeom prst="rect">
            <a:avLst/>
          </a:prstGeom>
        </p:spPr>
        <p:txBody>
          <a:bodyPr horzOverflow="overflow" lIns="0" tIns="0" rIns="0" bIns="0">
            <a:spAutoFit/>
          </a:bodyPr>
          <a:lstStyle/>
          <a:p>
            <a:pPr algn="l"/>
            <a:r>
              <a:rPr lang="en-NZ" sz="1000">
                <a:solidFill>
                  <a:srgbClr val="000000"/>
                </a:solidFill>
                <a:latin typeface="Calibri" panose="020F0502020204030204" pitchFamily="34" charset="0"/>
                <a:cs typeface="Calibri" panose="020F0502020204030204" pitchFamily="34" charset="0"/>
              </a:rPr>
              <a:t>CONFIDENTIAL</a:t>
            </a:r>
          </a:p>
        </p:txBody>
      </p:sp>
    </p:spTree>
    <p:extLst>
      <p:ext uri="{BB962C8B-B14F-4D97-AF65-F5344CB8AC3E}">
        <p14:creationId xmlns:p14="http://schemas.microsoft.com/office/powerpoint/2010/main" val="3730563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91" r:id="rId13"/>
    <p:sldLayoutId id="2147483692" r:id="rId14"/>
    <p:sldLayoutId id="2147483693" r:id="rId15"/>
    <p:sldLayoutId id="2147483695" r:id="rId16"/>
  </p:sldLayoutIdLst>
  <p:hf hdr="0" ftr="0" dt="0"/>
  <p:txStyles>
    <p:titleStyle>
      <a:lvl1pPr algn="l" defTabSz="914377" rtl="0" eaLnBrk="1" fontAlgn="t" latinLnBrk="0" hangingPunct="1">
        <a:lnSpc>
          <a:spcPct val="65000"/>
        </a:lnSpc>
        <a:spcBef>
          <a:spcPct val="0"/>
        </a:spcBef>
        <a:buNone/>
        <a:defRPr lang="en-US" sz="5400" b="0" i="0" kern="1200" spc="-150" dirty="0">
          <a:solidFill>
            <a:schemeClr val="tx1"/>
          </a:solidFill>
          <a:latin typeface="Calibri Light" panose="020F0302020204030204" pitchFamily="34" charset="0"/>
          <a:ea typeface="+mj-ea"/>
          <a:cs typeface="Calibri Light" panose="020F0302020204030204" pitchFamily="34" charset="0"/>
        </a:defRPr>
      </a:lvl1pPr>
    </p:titleStyle>
    <p:bodyStyle>
      <a:lvl1pPr marL="0" indent="0" algn="l" defTabSz="914377" rtl="0" eaLnBrk="1" fontAlgn="t" latinLnBrk="0" hangingPunct="1">
        <a:lnSpc>
          <a:spcPct val="90000"/>
        </a:lnSpc>
        <a:spcBef>
          <a:spcPts val="0"/>
        </a:spcBef>
        <a:spcAft>
          <a:spcPts val="200"/>
        </a:spcAft>
        <a:buFont typeface="Wingdings" panose="05000000000000000000" pitchFamily="2" charset="2"/>
        <a:buNone/>
        <a:defRPr lang="en-US" sz="2400" b="0" i="0" kern="1200" dirty="0" smtClean="0">
          <a:solidFill>
            <a:schemeClr val="tx1"/>
          </a:solidFill>
          <a:latin typeface="Calibri Light" panose="020F0302020204030204" pitchFamily="34" charset="0"/>
          <a:ea typeface="+mn-ea"/>
          <a:cs typeface="Calibri Light" panose="020F0302020204030204" pitchFamily="34" charset="0"/>
        </a:defRPr>
      </a:lvl1pPr>
      <a:lvl2pPr marL="359991" indent="0" algn="l" defTabSz="914377" rtl="0" eaLnBrk="1" fontAlgn="t" latinLnBrk="0" hangingPunct="1">
        <a:lnSpc>
          <a:spcPct val="90000"/>
        </a:lnSpc>
        <a:spcBef>
          <a:spcPts val="500"/>
        </a:spcBef>
        <a:spcAft>
          <a:spcPts val="200"/>
        </a:spcAft>
        <a:buFont typeface="Arial" panose="020B0604020202020204" pitchFamily="34" charset="0"/>
        <a:buNone/>
        <a:defRPr lang="en-US" sz="2300" b="0" i="0" kern="1200" dirty="0" smtClean="0">
          <a:solidFill>
            <a:schemeClr val="tx1"/>
          </a:solidFill>
          <a:latin typeface="+mj-lt"/>
          <a:ea typeface="+mn-ea"/>
          <a:cs typeface="Calibri Light" panose="020F0302020204030204" pitchFamily="34" charset="0"/>
        </a:defRPr>
      </a:lvl2pPr>
      <a:lvl3pPr marL="719982" indent="0" algn="l" defTabSz="914377" rtl="0" eaLnBrk="1" fontAlgn="t" latinLnBrk="0" hangingPunct="1">
        <a:lnSpc>
          <a:spcPct val="90000"/>
        </a:lnSpc>
        <a:spcBef>
          <a:spcPts val="500"/>
        </a:spcBef>
        <a:spcAft>
          <a:spcPts val="200"/>
        </a:spcAft>
        <a:buClr>
          <a:schemeClr val="tx1"/>
        </a:buClr>
        <a:buFont typeface="System Font Regular"/>
        <a:buNone/>
        <a:defRPr lang="en-US" sz="1000" b="1" i="0" kern="1200" dirty="0" smtClean="0">
          <a:solidFill>
            <a:schemeClr val="tx1"/>
          </a:solidFill>
          <a:latin typeface="+mj-lt"/>
          <a:ea typeface="+mn-ea"/>
          <a:cs typeface="Calibri" panose="020F0502020204030204" pitchFamily="34" charset="0"/>
        </a:defRPr>
      </a:lvl3pPr>
      <a:lvl4pPr marL="1371566" indent="0" algn="l" defTabSz="914377" rtl="0" eaLnBrk="1" fontAlgn="t" latinLnBrk="0" hangingPunct="1">
        <a:lnSpc>
          <a:spcPct val="90000"/>
        </a:lnSpc>
        <a:spcBef>
          <a:spcPts val="500"/>
        </a:spcBef>
        <a:spcAft>
          <a:spcPts val="200"/>
        </a:spcAft>
        <a:buFontTx/>
        <a:buNone/>
        <a:defRPr lang="en-US" sz="1000" b="0" i="0" kern="1200" dirty="0" smtClean="0">
          <a:solidFill>
            <a:schemeClr val="tx1"/>
          </a:solidFill>
          <a:latin typeface="+mj-lt"/>
          <a:ea typeface="+mn-ea"/>
          <a:cs typeface="Calibri Light" panose="020F0302020204030204" pitchFamily="34" charset="0"/>
        </a:defRPr>
      </a:lvl4pPr>
      <a:lvl5pPr marL="1828755" indent="0" algn="l" defTabSz="914377" rtl="0" eaLnBrk="1" fontAlgn="t" latinLnBrk="0" hangingPunct="1">
        <a:lnSpc>
          <a:spcPct val="90000"/>
        </a:lnSpc>
        <a:spcBef>
          <a:spcPts val="500"/>
        </a:spcBef>
        <a:spcAft>
          <a:spcPts val="200"/>
        </a:spcAft>
        <a:buFont typeface="Arial" panose="020B0604020202020204" pitchFamily="34" charset="0"/>
        <a:buNone/>
        <a:defRPr lang="en-US" sz="1000" kern="1200" dirty="0">
          <a:solidFill>
            <a:schemeClr val="tx1"/>
          </a:solidFill>
          <a:latin typeface="+mj-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7151">
          <p15:clr>
            <a:srgbClr val="F26B43"/>
          </p15:clr>
        </p15:guide>
        <p15:guide id="3" pos="529">
          <p15:clr>
            <a:srgbClr val="F26B43"/>
          </p15:clr>
        </p15:guide>
        <p15:guide id="4" orient="horz" pos="358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hyperlink" Target="https://docs.nvidia.com/nim/large-language-models/latest/supported-models.html" TargetMode="Externa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hyperlink" Target="https://confluence.nz.thenational.com/x/JQewaw" TargetMode="External"/><Relationship Id="rId2" Type="http://schemas.openxmlformats.org/officeDocument/2006/relationships/hyperlink" Target="https://bnz.sharepoint.com/:w:/t/EnterpriseArchitects/Ef2e4O94FIlOrknFRRxrZgYBhWaQMmqcubA6ioE80EVVaw?e=bO8PZl" TargetMode="Externa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hyperlink" Target="https://bnz.sharepoint.com/:w:/t/EnterpriseArchitects/Ef2e4O94FIlOrknFRRxrZgYBhWaQMmqcubA6ioE80EVVaw?e=bO8PZl"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hyperlink" Target="https://bnz.sharepoint.com/:w:/t/EnterpriseArchitects/Ef2e4O94FIlOrknFRRxrZgYBhWaQMmqcubA6ioE80EVVaw?e=bO8PZl"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183215-E3AD-4256-15FA-54D687EF578C}"/>
              </a:ext>
            </a:extLst>
          </p:cNvPr>
          <p:cNvSpPr>
            <a:spLocks noGrp="1"/>
          </p:cNvSpPr>
          <p:nvPr>
            <p:ph type="title"/>
          </p:nvPr>
        </p:nvSpPr>
        <p:spPr>
          <a:xfrm>
            <a:off x="839788" y="2427564"/>
            <a:ext cx="10512424" cy="1215466"/>
          </a:xfrm>
        </p:spPr>
        <p:txBody>
          <a:bodyPr/>
          <a:lstStyle/>
          <a:p>
            <a:pPr>
              <a:lnSpc>
                <a:spcPct val="100000"/>
              </a:lnSpc>
              <a:spcBef>
                <a:spcPts val="600"/>
              </a:spcBef>
              <a:spcAft>
                <a:spcPts val="1200"/>
              </a:spcAft>
            </a:pPr>
            <a:r>
              <a:rPr lang="en-NZ" sz="4800" noProof="0" dirty="0">
                <a:latin typeface="Serrano Bold Italic" pitchFamily="50" charset="0"/>
                <a:ea typeface="Calibri Light"/>
                <a:cs typeface="Calibri Light"/>
              </a:rPr>
              <a:t>Our Agentic AI Strategy</a:t>
            </a:r>
            <a:br>
              <a:rPr lang="en-NZ" sz="4000" noProof="0" dirty="0">
                <a:latin typeface="Serrano Bold Italic" pitchFamily="50" charset="0"/>
                <a:ea typeface="Calibri Light"/>
                <a:cs typeface="Calibri Light"/>
              </a:rPr>
            </a:br>
            <a:br>
              <a:rPr lang="en-NZ" sz="4000" noProof="0" dirty="0">
                <a:latin typeface="Serrano Bold Italic" pitchFamily="50" charset="0"/>
                <a:ea typeface="Calibri Light"/>
                <a:cs typeface="Calibri Light"/>
              </a:rPr>
            </a:br>
            <a:r>
              <a:rPr lang="en-NZ" sz="4000" noProof="0" dirty="0">
                <a:latin typeface="Serrano Bold Italic" pitchFamily="50" charset="0"/>
                <a:ea typeface="Calibri Light"/>
                <a:cs typeface="Calibri Light"/>
              </a:rPr>
              <a:t>Considering alignment with NAB strategy</a:t>
            </a:r>
            <a:br>
              <a:rPr lang="en-NZ" sz="4000" noProof="0" dirty="0">
                <a:latin typeface="Serrano Bold Italic" pitchFamily="50" charset="0"/>
                <a:ea typeface="Calibri Light"/>
                <a:cs typeface="Calibri Light"/>
              </a:rPr>
            </a:br>
            <a:br>
              <a:rPr lang="en-NZ" sz="4000" noProof="0" dirty="0">
                <a:latin typeface="Serrano Bold Italic" pitchFamily="50" charset="0"/>
                <a:ea typeface="Calibri Light"/>
                <a:cs typeface="Calibri Light"/>
              </a:rPr>
            </a:br>
            <a:r>
              <a:rPr lang="en-NZ" sz="2000" noProof="0" dirty="0">
                <a:latin typeface="Serrano Bold Italic" pitchFamily="50" charset="0"/>
                <a:ea typeface="Calibri Light"/>
                <a:cs typeface="Calibri Light"/>
              </a:rPr>
              <a:t>August  2025</a:t>
            </a:r>
            <a:br>
              <a:rPr lang="en-NZ" sz="2000" noProof="0" dirty="0">
                <a:latin typeface="Serrano Bold Italic" pitchFamily="50" charset="0"/>
                <a:ea typeface="Calibri Light"/>
                <a:cs typeface="Calibri Light"/>
              </a:rPr>
            </a:br>
            <a:r>
              <a:rPr lang="en-NZ" sz="2000" noProof="0" dirty="0">
                <a:latin typeface="Serrano Bold Italic" pitchFamily="50" charset="0"/>
                <a:ea typeface="Calibri Light"/>
                <a:cs typeface="Calibri Light"/>
              </a:rPr>
              <a:t>Dermot O’Brien</a:t>
            </a:r>
            <a:endParaRPr lang="en-NZ" sz="2800" noProof="0" dirty="0">
              <a:latin typeface="Serrano Bold Italic" pitchFamily="50" charset="0"/>
              <a:ea typeface="Calibri Light"/>
              <a:cs typeface="Calibri Light"/>
            </a:endParaRPr>
          </a:p>
        </p:txBody>
      </p:sp>
      <p:sp>
        <p:nvSpPr>
          <p:cNvPr id="2" name="Rectangle 1">
            <a:extLst>
              <a:ext uri="{FF2B5EF4-FFF2-40B4-BE49-F238E27FC236}">
                <a16:creationId xmlns:a16="http://schemas.microsoft.com/office/drawing/2014/main" id="{D92E2DD8-EE73-06F4-B4F8-598D41CC3F7C}"/>
              </a:ext>
            </a:extLst>
          </p:cNvPr>
          <p:cNvSpPr/>
          <p:nvPr/>
        </p:nvSpPr>
        <p:spPr>
          <a:xfrm>
            <a:off x="10168544" y="149988"/>
            <a:ext cx="1126518" cy="37213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100" b="1" noProof="0" dirty="0"/>
              <a:t>PRELIMINARY</a:t>
            </a:r>
          </a:p>
        </p:txBody>
      </p:sp>
      <p:sp>
        <p:nvSpPr>
          <p:cNvPr id="3" name="Rectangle 2">
            <a:extLst>
              <a:ext uri="{FF2B5EF4-FFF2-40B4-BE49-F238E27FC236}">
                <a16:creationId xmlns:a16="http://schemas.microsoft.com/office/drawing/2014/main" id="{D43DF591-0AF7-9465-4D82-5D75E9CA5E5E}"/>
              </a:ext>
            </a:extLst>
          </p:cNvPr>
          <p:cNvSpPr/>
          <p:nvPr/>
        </p:nvSpPr>
        <p:spPr>
          <a:xfrm>
            <a:off x="11352212" y="149988"/>
            <a:ext cx="717550" cy="372138"/>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NZ" sz="1050" b="1" noProof="0" dirty="0"/>
              <a:t>AI Assisted</a:t>
            </a:r>
          </a:p>
          <a:p>
            <a:endParaRPr lang="en-NZ" sz="1050" b="1" noProof="0" dirty="0"/>
          </a:p>
        </p:txBody>
      </p:sp>
      <p:sp>
        <p:nvSpPr>
          <p:cNvPr id="5" name="Rectangle 4">
            <a:extLst>
              <a:ext uri="{FF2B5EF4-FFF2-40B4-BE49-F238E27FC236}">
                <a16:creationId xmlns:a16="http://schemas.microsoft.com/office/drawing/2014/main" id="{C2881B06-321B-C930-F8AA-9039B316ABAC}"/>
              </a:ext>
            </a:extLst>
          </p:cNvPr>
          <p:cNvSpPr/>
          <p:nvPr/>
        </p:nvSpPr>
        <p:spPr>
          <a:xfrm>
            <a:off x="11409361" y="327827"/>
            <a:ext cx="603251" cy="160107"/>
          </a:xfrm>
          <a:prstGeom prst="rect">
            <a:avLst/>
          </a:prstGeom>
          <a:solidFill>
            <a:srgbClr val="A1D0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800" noProof="0" dirty="0">
                <a:solidFill>
                  <a:srgbClr val="002F6B"/>
                </a:solidFill>
              </a:rPr>
              <a:t>CURATED</a:t>
            </a:r>
          </a:p>
        </p:txBody>
      </p:sp>
    </p:spTree>
    <p:extLst>
      <p:ext uri="{BB962C8B-B14F-4D97-AF65-F5344CB8AC3E}">
        <p14:creationId xmlns:p14="http://schemas.microsoft.com/office/powerpoint/2010/main" val="418916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AD9213A-5E29-272E-678B-5BDB34DA26C0}"/>
              </a:ext>
            </a:extLst>
          </p:cNvPr>
          <p:cNvSpPr txBox="1"/>
          <p:nvPr/>
        </p:nvSpPr>
        <p:spPr>
          <a:xfrm>
            <a:off x="447616" y="1408148"/>
            <a:ext cx="5487852" cy="461665"/>
          </a:xfrm>
          <a:prstGeom prst="rect">
            <a:avLst/>
          </a:prstGeom>
          <a:noFill/>
        </p:spPr>
        <p:txBody>
          <a:bodyPr wrap="square">
            <a:spAutoFit/>
          </a:bodyPr>
          <a:lstStyle/>
          <a:p>
            <a:r>
              <a:rPr lang="en-NZ" sz="1200" noProof="0" dirty="0">
                <a:solidFill>
                  <a:srgbClr val="000000"/>
                </a:solidFill>
              </a:rPr>
              <a:t>Assess the alignment of Accenture AI Refinery against NAB Agentic AI Strategy [1]</a:t>
            </a:r>
            <a:r>
              <a:rPr lang="en-NZ" sz="1200" baseline="30000" noProof="0" dirty="0">
                <a:solidFill>
                  <a:srgbClr val="000000"/>
                </a:solidFill>
              </a:rPr>
              <a:t> 1</a:t>
            </a:r>
            <a:r>
              <a:rPr lang="en-NZ" sz="1200" noProof="0" dirty="0">
                <a:solidFill>
                  <a:srgbClr val="000000"/>
                </a:solidFill>
              </a:rPr>
              <a:t>. Use the assessment to fast start our BNZ Target State Architecture for Agentic AI. </a:t>
            </a:r>
          </a:p>
        </p:txBody>
      </p:sp>
      <p:sp>
        <p:nvSpPr>
          <p:cNvPr id="3" name="Slide Number Placeholder 7">
            <a:extLst>
              <a:ext uri="{FF2B5EF4-FFF2-40B4-BE49-F238E27FC236}">
                <a16:creationId xmlns:a16="http://schemas.microsoft.com/office/drawing/2014/main" id="{496DC984-56D6-70D2-70FC-E7EBE53895C8}"/>
              </a:ext>
            </a:extLst>
          </p:cNvPr>
          <p:cNvSpPr txBox="1">
            <a:spLocks/>
          </p:cNvSpPr>
          <p:nvPr/>
        </p:nvSpPr>
        <p:spPr>
          <a:xfrm>
            <a:off x="143828" y="6433028"/>
            <a:ext cx="30638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5A4CF9-4EB3-4341-AF18-D9A68BC60189}" type="slidenum">
              <a:rPr lang="en-NZ" sz="1600" noProof="0" smtClean="0">
                <a:latin typeface="Aptos" panose="020B0004020202020204" pitchFamily="34" charset="0"/>
              </a:rPr>
              <a:pPr/>
              <a:t>2</a:t>
            </a:fld>
            <a:endParaRPr lang="en-NZ" sz="1600" noProof="0" dirty="0">
              <a:latin typeface="Aptos" panose="020B0004020202020204" pitchFamily="34" charset="0"/>
            </a:endParaRPr>
          </a:p>
        </p:txBody>
      </p:sp>
      <p:sp>
        <p:nvSpPr>
          <p:cNvPr id="11" name="TextBox 10">
            <a:extLst>
              <a:ext uri="{FF2B5EF4-FFF2-40B4-BE49-F238E27FC236}">
                <a16:creationId xmlns:a16="http://schemas.microsoft.com/office/drawing/2014/main" id="{7FB2042F-9BD7-A0C0-8DC4-3FCDA27CFDB1}"/>
              </a:ext>
            </a:extLst>
          </p:cNvPr>
          <p:cNvSpPr txBox="1"/>
          <p:nvPr/>
        </p:nvSpPr>
        <p:spPr>
          <a:xfrm>
            <a:off x="434158" y="2001795"/>
            <a:ext cx="2657521" cy="307777"/>
          </a:xfrm>
          <a:prstGeom prst="rect">
            <a:avLst/>
          </a:prstGeom>
          <a:noFill/>
        </p:spPr>
        <p:txBody>
          <a:bodyPr wrap="square">
            <a:spAutoFit/>
          </a:bodyPr>
          <a:lstStyle/>
          <a:p>
            <a:r>
              <a:rPr lang="en-NZ" sz="1400" b="1" noProof="0" dirty="0">
                <a:solidFill>
                  <a:srgbClr val="000000"/>
                </a:solidFill>
                <a:latin typeface="Aptos" panose="020B0004020202020204" pitchFamily="34" charset="0"/>
              </a:rPr>
              <a:t>Summary</a:t>
            </a:r>
          </a:p>
        </p:txBody>
      </p:sp>
      <p:pic>
        <p:nvPicPr>
          <p:cNvPr id="13" name="Picture 12">
            <a:extLst>
              <a:ext uri="{FF2B5EF4-FFF2-40B4-BE49-F238E27FC236}">
                <a16:creationId xmlns:a16="http://schemas.microsoft.com/office/drawing/2014/main" id="{8BC5F35C-FCF3-3F59-CAE8-AFE08C414897}"/>
              </a:ext>
            </a:extLst>
          </p:cNvPr>
          <p:cNvPicPr>
            <a:picLocks noChangeAspect="1"/>
          </p:cNvPicPr>
          <p:nvPr/>
        </p:nvPicPr>
        <p:blipFill>
          <a:blip r:embed="rId3"/>
          <a:stretch>
            <a:fillRect/>
          </a:stretch>
        </p:blipFill>
        <p:spPr>
          <a:xfrm>
            <a:off x="6863690" y="3793976"/>
            <a:ext cx="837502" cy="445360"/>
          </a:xfrm>
          <a:prstGeom prst="rect">
            <a:avLst/>
          </a:prstGeom>
        </p:spPr>
      </p:pic>
      <p:pic>
        <p:nvPicPr>
          <p:cNvPr id="1026" name="Picture 2" descr="NAB-National-Australia-Bank-logo – BraveGen">
            <a:extLst>
              <a:ext uri="{FF2B5EF4-FFF2-40B4-BE49-F238E27FC236}">
                <a16:creationId xmlns:a16="http://schemas.microsoft.com/office/drawing/2014/main" id="{B5B112DE-55BA-DF41-4430-844F4A68B5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1371" y="988021"/>
            <a:ext cx="1043040" cy="58410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7782D80-C601-8971-63D1-982B668E4824}"/>
              </a:ext>
            </a:extLst>
          </p:cNvPr>
          <p:cNvSpPr txBox="1"/>
          <p:nvPr/>
        </p:nvSpPr>
        <p:spPr>
          <a:xfrm>
            <a:off x="7947450" y="1381728"/>
            <a:ext cx="2543305" cy="369332"/>
          </a:xfrm>
          <a:prstGeom prst="rect">
            <a:avLst/>
          </a:prstGeom>
          <a:noFill/>
        </p:spPr>
        <p:txBody>
          <a:bodyPr wrap="square">
            <a:spAutoFit/>
          </a:bodyPr>
          <a:lstStyle/>
          <a:p>
            <a:pPr algn="ctr"/>
            <a:r>
              <a:rPr lang="en-NZ" i="1" noProof="0" dirty="0"/>
              <a:t>NAB Agentic AI Strategy</a:t>
            </a:r>
          </a:p>
        </p:txBody>
      </p:sp>
      <p:sp>
        <p:nvSpPr>
          <p:cNvPr id="14" name="TextBox 13">
            <a:extLst>
              <a:ext uri="{FF2B5EF4-FFF2-40B4-BE49-F238E27FC236}">
                <a16:creationId xmlns:a16="http://schemas.microsoft.com/office/drawing/2014/main" id="{BA7C5354-A4EA-75CA-F4A4-9731293FEF8F}"/>
              </a:ext>
            </a:extLst>
          </p:cNvPr>
          <p:cNvSpPr txBox="1"/>
          <p:nvPr/>
        </p:nvSpPr>
        <p:spPr>
          <a:xfrm>
            <a:off x="6104260" y="4294755"/>
            <a:ext cx="2407111" cy="369332"/>
          </a:xfrm>
          <a:prstGeom prst="rect">
            <a:avLst/>
          </a:prstGeom>
          <a:noFill/>
        </p:spPr>
        <p:txBody>
          <a:bodyPr wrap="square">
            <a:spAutoFit/>
          </a:bodyPr>
          <a:lstStyle/>
          <a:p>
            <a:pPr algn="ctr"/>
            <a:r>
              <a:rPr lang="en-NZ" i="1" noProof="0" dirty="0"/>
              <a:t>BNZ Agentic AI Strategy</a:t>
            </a:r>
          </a:p>
        </p:txBody>
      </p:sp>
      <p:sp>
        <p:nvSpPr>
          <p:cNvPr id="15" name="TextBox 14">
            <a:extLst>
              <a:ext uri="{FF2B5EF4-FFF2-40B4-BE49-F238E27FC236}">
                <a16:creationId xmlns:a16="http://schemas.microsoft.com/office/drawing/2014/main" id="{327F821D-2F43-AA7A-A27E-D7861495E065}"/>
              </a:ext>
            </a:extLst>
          </p:cNvPr>
          <p:cNvSpPr txBox="1"/>
          <p:nvPr/>
        </p:nvSpPr>
        <p:spPr>
          <a:xfrm>
            <a:off x="8609251" y="3244334"/>
            <a:ext cx="1128322" cy="369332"/>
          </a:xfrm>
          <a:prstGeom prst="rect">
            <a:avLst/>
          </a:prstGeom>
          <a:noFill/>
        </p:spPr>
        <p:txBody>
          <a:bodyPr wrap="none" rtlCol="0">
            <a:spAutoFit/>
          </a:bodyPr>
          <a:lstStyle/>
          <a:p>
            <a:r>
              <a:rPr lang="en-NZ" i="1" noProof="0" dirty="0"/>
              <a:t>alignment</a:t>
            </a:r>
          </a:p>
        </p:txBody>
      </p:sp>
      <p:cxnSp>
        <p:nvCxnSpPr>
          <p:cNvPr id="18" name="Straight Connector 17">
            <a:extLst>
              <a:ext uri="{FF2B5EF4-FFF2-40B4-BE49-F238E27FC236}">
                <a16:creationId xmlns:a16="http://schemas.microsoft.com/office/drawing/2014/main" id="{AA2902F2-FBBA-864C-165B-2884E92530B9}"/>
              </a:ext>
            </a:extLst>
          </p:cNvPr>
          <p:cNvCxnSpPr>
            <a:cxnSpLocks/>
          </p:cNvCxnSpPr>
          <p:nvPr/>
        </p:nvCxnSpPr>
        <p:spPr>
          <a:xfrm flipV="1">
            <a:off x="7821032" y="2195736"/>
            <a:ext cx="1377950" cy="1917700"/>
          </a:xfrm>
          <a:prstGeom prst="line">
            <a:avLst/>
          </a:prstGeom>
          <a:ln w="38100" cap="rnd">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99E4E5-1951-A2E2-2F77-1F1C7B5A17AF}"/>
              </a:ext>
            </a:extLst>
          </p:cNvPr>
          <p:cNvCxnSpPr>
            <a:cxnSpLocks/>
          </p:cNvCxnSpPr>
          <p:nvPr/>
        </p:nvCxnSpPr>
        <p:spPr>
          <a:xfrm>
            <a:off x="9198982" y="2195736"/>
            <a:ext cx="1377950" cy="191770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BD106E1-E1DC-50AE-AD7E-49AFEE421B33}"/>
              </a:ext>
            </a:extLst>
          </p:cNvPr>
          <p:cNvCxnSpPr>
            <a:cxnSpLocks/>
          </p:cNvCxnSpPr>
          <p:nvPr/>
        </p:nvCxnSpPr>
        <p:spPr>
          <a:xfrm>
            <a:off x="7821032" y="4115817"/>
            <a:ext cx="2755900" cy="0"/>
          </a:xfrm>
          <a:prstGeom prst="line">
            <a:avLst/>
          </a:prstGeom>
          <a:ln w="38100" cap="rnd">
            <a:solidFill>
              <a:srgbClr val="92D050"/>
            </a:solidFill>
          </a:ln>
        </p:spPr>
        <p:style>
          <a:lnRef idx="1">
            <a:schemeClr val="accent1"/>
          </a:lnRef>
          <a:fillRef idx="0">
            <a:schemeClr val="accent1"/>
          </a:fillRef>
          <a:effectRef idx="0">
            <a:schemeClr val="accent1"/>
          </a:effectRef>
          <a:fontRef idx="minor">
            <a:schemeClr val="tx1"/>
          </a:fontRef>
        </p:style>
      </p:cxnSp>
      <p:pic>
        <p:nvPicPr>
          <p:cNvPr id="1028" name="Picture 4" descr="Accenture Logo, symbol, meaning ...">
            <a:extLst>
              <a:ext uri="{FF2B5EF4-FFF2-40B4-BE49-F238E27FC236}">
                <a16:creationId xmlns:a16="http://schemas.microsoft.com/office/drawing/2014/main" id="{C1922A5E-C58F-19C9-04D5-9B15BD2B6B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80888" y="3804835"/>
            <a:ext cx="971550" cy="544068"/>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DED90566-C810-8F5B-AD6C-019287721EA1}"/>
              </a:ext>
            </a:extLst>
          </p:cNvPr>
          <p:cNvSpPr txBox="1"/>
          <p:nvPr/>
        </p:nvSpPr>
        <p:spPr>
          <a:xfrm>
            <a:off x="10106438" y="2633836"/>
            <a:ext cx="1531698" cy="369332"/>
          </a:xfrm>
          <a:prstGeom prst="rect">
            <a:avLst/>
          </a:prstGeom>
          <a:noFill/>
        </p:spPr>
        <p:txBody>
          <a:bodyPr wrap="square" rtlCol="0">
            <a:spAutoFit/>
          </a:bodyPr>
          <a:lstStyle/>
          <a:p>
            <a:r>
              <a:rPr lang="en-NZ" i="1" noProof="0" dirty="0">
                <a:solidFill>
                  <a:srgbClr val="FF0000"/>
                </a:solidFill>
              </a:rPr>
              <a:t>misalignment </a:t>
            </a:r>
          </a:p>
        </p:txBody>
      </p:sp>
      <p:sp>
        <p:nvSpPr>
          <p:cNvPr id="25" name="TextBox 24">
            <a:extLst>
              <a:ext uri="{FF2B5EF4-FFF2-40B4-BE49-F238E27FC236}">
                <a16:creationId xmlns:a16="http://schemas.microsoft.com/office/drawing/2014/main" id="{69B7889F-AA64-F682-37D7-E8806CEAFC72}"/>
              </a:ext>
            </a:extLst>
          </p:cNvPr>
          <p:cNvSpPr txBox="1"/>
          <p:nvPr/>
        </p:nvSpPr>
        <p:spPr>
          <a:xfrm>
            <a:off x="7132162" y="2628592"/>
            <a:ext cx="1457325" cy="646331"/>
          </a:xfrm>
          <a:prstGeom prst="rect">
            <a:avLst/>
          </a:prstGeom>
          <a:noFill/>
        </p:spPr>
        <p:txBody>
          <a:bodyPr wrap="square" rtlCol="0">
            <a:spAutoFit/>
          </a:bodyPr>
          <a:lstStyle/>
          <a:p>
            <a:r>
              <a:rPr lang="en-NZ" i="1" noProof="0" dirty="0">
                <a:solidFill>
                  <a:srgbClr val="FFC000"/>
                </a:solidFill>
              </a:rPr>
              <a:t>Differing philosophy</a:t>
            </a:r>
          </a:p>
        </p:txBody>
      </p:sp>
      <p:sp>
        <p:nvSpPr>
          <p:cNvPr id="26" name="TextBox 25">
            <a:extLst>
              <a:ext uri="{FF2B5EF4-FFF2-40B4-BE49-F238E27FC236}">
                <a16:creationId xmlns:a16="http://schemas.microsoft.com/office/drawing/2014/main" id="{555AF770-E85B-AF3C-CEFA-C7E956E8241E}"/>
              </a:ext>
            </a:extLst>
          </p:cNvPr>
          <p:cNvSpPr txBox="1"/>
          <p:nvPr/>
        </p:nvSpPr>
        <p:spPr>
          <a:xfrm>
            <a:off x="6129678" y="4603415"/>
            <a:ext cx="2381693" cy="1615827"/>
          </a:xfrm>
          <a:prstGeom prst="rect">
            <a:avLst/>
          </a:prstGeom>
          <a:noFill/>
        </p:spPr>
        <p:txBody>
          <a:bodyPr wrap="square" rtlCol="0">
            <a:spAutoFit/>
          </a:bodyPr>
          <a:lstStyle/>
          <a:p>
            <a:pPr marL="285750" indent="-285750">
              <a:buFont typeface="Arial" panose="020B0604020202020204" pitchFamily="34" charset="0"/>
              <a:buChar char="•"/>
            </a:pPr>
            <a:r>
              <a:rPr lang="en-NZ" sz="1100" noProof="0" dirty="0"/>
              <a:t>Favour buy over build, but open to both</a:t>
            </a:r>
          </a:p>
          <a:p>
            <a:pPr marL="285750" indent="-285750">
              <a:buFont typeface="Arial" panose="020B0604020202020204" pitchFamily="34" charset="0"/>
              <a:buChar char="•"/>
            </a:pPr>
            <a:r>
              <a:rPr lang="en-NZ" sz="1100" noProof="0" dirty="0"/>
              <a:t>Favour fast time to value and partner leverage</a:t>
            </a:r>
          </a:p>
          <a:p>
            <a:pPr marL="285750" indent="-285750">
              <a:buFont typeface="Arial" panose="020B0604020202020204" pitchFamily="34" charset="0"/>
              <a:buChar char="•"/>
            </a:pPr>
            <a:r>
              <a:rPr lang="en-NZ" sz="1100" noProof="0" dirty="0"/>
              <a:t>Hybrid: buy + build i.e. AI Refinery (proprietary / Accenture) plus independent BNZ applications (open / following NAB framework)</a:t>
            </a:r>
          </a:p>
        </p:txBody>
      </p:sp>
      <p:sp>
        <p:nvSpPr>
          <p:cNvPr id="27" name="TextBox 26">
            <a:extLst>
              <a:ext uri="{FF2B5EF4-FFF2-40B4-BE49-F238E27FC236}">
                <a16:creationId xmlns:a16="http://schemas.microsoft.com/office/drawing/2014/main" id="{288C58CC-4086-47A7-AB92-DCEC38839B48}"/>
              </a:ext>
            </a:extLst>
          </p:cNvPr>
          <p:cNvSpPr txBox="1"/>
          <p:nvPr/>
        </p:nvSpPr>
        <p:spPr>
          <a:xfrm>
            <a:off x="8005412" y="1710108"/>
            <a:ext cx="2543305" cy="430887"/>
          </a:xfrm>
          <a:prstGeom prst="rect">
            <a:avLst/>
          </a:prstGeom>
          <a:noFill/>
        </p:spPr>
        <p:txBody>
          <a:bodyPr wrap="square" rtlCol="0">
            <a:spAutoFit/>
          </a:bodyPr>
          <a:lstStyle/>
          <a:p>
            <a:pPr marL="90488" indent="-90488">
              <a:buFont typeface="Arial" panose="020B0604020202020204" pitchFamily="34" charset="0"/>
              <a:buChar char="•"/>
            </a:pPr>
            <a:r>
              <a:rPr lang="en-NZ" sz="1100" noProof="0" dirty="0"/>
              <a:t>Favour build over buy</a:t>
            </a:r>
          </a:p>
          <a:p>
            <a:pPr marL="90488" indent="-90488">
              <a:buFont typeface="Arial" panose="020B0604020202020204" pitchFamily="34" charset="0"/>
              <a:buChar char="•"/>
            </a:pPr>
            <a:r>
              <a:rPr lang="en-NZ" sz="1100" noProof="0" dirty="0"/>
              <a:t>Favour open over vendor proprietary</a:t>
            </a:r>
          </a:p>
        </p:txBody>
      </p:sp>
      <p:sp>
        <p:nvSpPr>
          <p:cNvPr id="28" name="TextBox 27">
            <a:extLst>
              <a:ext uri="{FF2B5EF4-FFF2-40B4-BE49-F238E27FC236}">
                <a16:creationId xmlns:a16="http://schemas.microsoft.com/office/drawing/2014/main" id="{0E1B6B2F-ABAA-83CC-1813-393257CF02C9}"/>
              </a:ext>
            </a:extLst>
          </p:cNvPr>
          <p:cNvSpPr txBox="1"/>
          <p:nvPr/>
        </p:nvSpPr>
        <p:spPr>
          <a:xfrm>
            <a:off x="8765543" y="4206905"/>
            <a:ext cx="1592434" cy="646331"/>
          </a:xfrm>
          <a:prstGeom prst="rect">
            <a:avLst/>
          </a:prstGeom>
          <a:noFill/>
        </p:spPr>
        <p:txBody>
          <a:bodyPr wrap="square" rtlCol="0">
            <a:spAutoFit/>
          </a:bodyPr>
          <a:lstStyle/>
          <a:p>
            <a:r>
              <a:rPr lang="en-NZ" i="1" noProof="0" dirty="0">
                <a:solidFill>
                  <a:srgbClr val="92D050"/>
                </a:solidFill>
              </a:rPr>
              <a:t>Implicit alignment</a:t>
            </a:r>
          </a:p>
        </p:txBody>
      </p:sp>
      <p:sp>
        <p:nvSpPr>
          <p:cNvPr id="29" name="TextBox 28">
            <a:extLst>
              <a:ext uri="{FF2B5EF4-FFF2-40B4-BE49-F238E27FC236}">
                <a16:creationId xmlns:a16="http://schemas.microsoft.com/office/drawing/2014/main" id="{569F4E9F-A708-B097-BAFF-D66D7CEE8725}"/>
              </a:ext>
            </a:extLst>
          </p:cNvPr>
          <p:cNvSpPr txBox="1"/>
          <p:nvPr/>
        </p:nvSpPr>
        <p:spPr>
          <a:xfrm>
            <a:off x="10576932" y="4580927"/>
            <a:ext cx="1346793" cy="430887"/>
          </a:xfrm>
          <a:prstGeom prst="rect">
            <a:avLst/>
          </a:prstGeom>
          <a:noFill/>
        </p:spPr>
        <p:txBody>
          <a:bodyPr wrap="square" rtlCol="0">
            <a:spAutoFit/>
          </a:bodyPr>
          <a:lstStyle/>
          <a:p>
            <a:pPr marL="90488" indent="-90488">
              <a:buFont typeface="Arial" panose="020B0604020202020204" pitchFamily="34" charset="0"/>
              <a:buChar char="•"/>
            </a:pPr>
            <a:r>
              <a:rPr lang="en-NZ" sz="1100" noProof="0" dirty="0"/>
              <a:t>Fast start focused</a:t>
            </a:r>
          </a:p>
          <a:p>
            <a:pPr marL="90488" indent="-90488">
              <a:buFont typeface="Arial" panose="020B0604020202020204" pitchFamily="34" charset="0"/>
              <a:buChar char="•"/>
            </a:pPr>
            <a:r>
              <a:rPr lang="en-NZ" sz="1100" noProof="0" dirty="0"/>
              <a:t>Proprietary</a:t>
            </a:r>
          </a:p>
        </p:txBody>
      </p:sp>
      <p:sp>
        <p:nvSpPr>
          <p:cNvPr id="30" name="TextBox 29">
            <a:extLst>
              <a:ext uri="{FF2B5EF4-FFF2-40B4-BE49-F238E27FC236}">
                <a16:creationId xmlns:a16="http://schemas.microsoft.com/office/drawing/2014/main" id="{F4D95951-BE2D-08F7-2D2A-B73BE940FE9D}"/>
              </a:ext>
            </a:extLst>
          </p:cNvPr>
          <p:cNvSpPr txBox="1"/>
          <p:nvPr/>
        </p:nvSpPr>
        <p:spPr>
          <a:xfrm>
            <a:off x="447615" y="988021"/>
            <a:ext cx="2657521" cy="307777"/>
          </a:xfrm>
          <a:prstGeom prst="rect">
            <a:avLst/>
          </a:prstGeom>
          <a:noFill/>
        </p:spPr>
        <p:txBody>
          <a:bodyPr wrap="square">
            <a:spAutoFit/>
          </a:bodyPr>
          <a:lstStyle/>
          <a:p>
            <a:r>
              <a:rPr lang="en-NZ" sz="1400" b="1" noProof="0" dirty="0">
                <a:solidFill>
                  <a:srgbClr val="000000"/>
                </a:solidFill>
                <a:latin typeface="Aptos" panose="020B0004020202020204" pitchFamily="34" charset="0"/>
              </a:rPr>
              <a:t>Purpose</a:t>
            </a:r>
          </a:p>
        </p:txBody>
      </p:sp>
      <p:sp>
        <p:nvSpPr>
          <p:cNvPr id="31" name="TextBox 30">
            <a:extLst>
              <a:ext uri="{FF2B5EF4-FFF2-40B4-BE49-F238E27FC236}">
                <a16:creationId xmlns:a16="http://schemas.microsoft.com/office/drawing/2014/main" id="{40720E04-9A9D-A89B-9C2B-EAE08DBF4F6E}"/>
              </a:ext>
            </a:extLst>
          </p:cNvPr>
          <p:cNvSpPr txBox="1"/>
          <p:nvPr/>
        </p:nvSpPr>
        <p:spPr>
          <a:xfrm>
            <a:off x="434158" y="2290099"/>
            <a:ext cx="5287780" cy="3970318"/>
          </a:xfrm>
          <a:prstGeom prst="rect">
            <a:avLst/>
          </a:prstGeom>
          <a:noFill/>
        </p:spPr>
        <p:txBody>
          <a:bodyPr wrap="square">
            <a:spAutoFit/>
          </a:bodyPr>
          <a:lstStyle/>
          <a:p>
            <a:r>
              <a:rPr lang="en-NZ" sz="1200" noProof="0" dirty="0">
                <a:solidFill>
                  <a:srgbClr val="000000"/>
                </a:solidFill>
              </a:rPr>
              <a:t>This is an early / preliminary assessment pending further clarifications</a:t>
            </a:r>
            <a:r>
              <a:rPr lang="en-NZ" sz="1200" baseline="30000" noProof="0" dirty="0">
                <a:solidFill>
                  <a:srgbClr val="000000"/>
                </a:solidFill>
              </a:rPr>
              <a:t>2</a:t>
            </a:r>
            <a:r>
              <a:rPr lang="en-NZ" sz="1200" noProof="0" dirty="0">
                <a:solidFill>
                  <a:srgbClr val="000000"/>
                </a:solidFill>
              </a:rPr>
              <a:t> (which may change the assessment). The BNZ Agentic AI Strategy and Target State Architecture (TSA) has not yet been elaborated. We will use our Accenture / BNZ AI Refinery design [2][3]</a:t>
            </a:r>
            <a:r>
              <a:rPr lang="en-NZ" sz="1200" baseline="30000" noProof="0" dirty="0">
                <a:solidFill>
                  <a:srgbClr val="000000"/>
                </a:solidFill>
              </a:rPr>
              <a:t> </a:t>
            </a:r>
            <a:r>
              <a:rPr lang="en-NZ" sz="1200" noProof="0" dirty="0">
                <a:solidFill>
                  <a:srgbClr val="000000"/>
                </a:solidFill>
              </a:rPr>
              <a:t>and the NAB Agentic AI lexicon to fast track our target state definition. For the purposes of this assessment, we assume that AI Refinery will be aligned by default to the (eventual) BNZ Agentic AI TSA i.e. the target state for Agentic AI will be reverse engineered from the AI Refinery for BNZ design and refined to address limitations with AI Refinery and to leverage NAB work.</a:t>
            </a:r>
          </a:p>
          <a:p>
            <a:endParaRPr lang="en-NZ" sz="1200" noProof="0" dirty="0">
              <a:solidFill>
                <a:srgbClr val="000000"/>
              </a:solidFill>
            </a:endParaRPr>
          </a:p>
          <a:p>
            <a:pPr marL="171450" indent="-171450">
              <a:buFont typeface="Arial" panose="020B0604020202020204" pitchFamily="34" charset="0"/>
              <a:buChar char="•"/>
            </a:pPr>
            <a:r>
              <a:rPr lang="en-NZ" sz="1200" noProof="0" dirty="0">
                <a:solidFill>
                  <a:srgbClr val="000000"/>
                </a:solidFill>
              </a:rPr>
              <a:t>AI Refinery provides us with a fast start into agentic AI by leveraging Accenture experience and expertise.</a:t>
            </a:r>
          </a:p>
          <a:p>
            <a:pPr marL="171450" indent="-171450">
              <a:buFont typeface="Arial" panose="020B0604020202020204" pitchFamily="34" charset="0"/>
              <a:buChar char="•"/>
            </a:pPr>
            <a:r>
              <a:rPr lang="en-NZ" sz="1200" noProof="0" dirty="0">
                <a:solidFill>
                  <a:srgbClr val="000000"/>
                </a:solidFill>
              </a:rPr>
              <a:t>However, AI Refinery (as a SaaS offering) is misaligned with NAB Agentic AI strategy and has not been considered by NAB.</a:t>
            </a:r>
          </a:p>
          <a:p>
            <a:pPr marL="171450" indent="-171450">
              <a:buFont typeface="Arial" panose="020B0604020202020204" pitchFamily="34" charset="0"/>
              <a:buChar char="•"/>
            </a:pPr>
            <a:r>
              <a:rPr lang="en-NZ" sz="1200" noProof="0" dirty="0">
                <a:solidFill>
                  <a:srgbClr val="000000"/>
                </a:solidFill>
              </a:rPr>
              <a:t>Even without considering NAB alignment, AI Refinery has limitations, including being limited to NVIDIA supported or open hosted models (notable mainstream models such as Anthropic Claude and Google Gemini are missing).</a:t>
            </a:r>
          </a:p>
          <a:p>
            <a:pPr marL="171450" indent="-171450">
              <a:buFont typeface="Arial" panose="020B0604020202020204" pitchFamily="34" charset="0"/>
              <a:buChar char="•"/>
            </a:pPr>
            <a:r>
              <a:rPr lang="en-NZ" sz="1200" noProof="0" dirty="0">
                <a:solidFill>
                  <a:srgbClr val="000000"/>
                </a:solidFill>
              </a:rPr>
              <a:t>Our BNZ Agentic AI strategy should extend beyond Accenture AI Refinery to include elements from the NAB strategy in a “buy + build” approach as opposed to the NAB “build over buy” approach.</a:t>
            </a:r>
          </a:p>
          <a:p>
            <a:pPr marL="171450" indent="-171450">
              <a:buFont typeface="Arial" panose="020B0604020202020204" pitchFamily="34" charset="0"/>
              <a:buChar char="•"/>
            </a:pPr>
            <a:r>
              <a:rPr lang="en-NZ" sz="1200" noProof="0" dirty="0">
                <a:solidFill>
                  <a:srgbClr val="000000"/>
                </a:solidFill>
              </a:rPr>
              <a:t>The pace of change is too fast to be locked into a single vendor and into a single SaaS offering.</a:t>
            </a:r>
          </a:p>
        </p:txBody>
      </p:sp>
      <p:sp>
        <p:nvSpPr>
          <p:cNvPr id="1024" name="Title 1023">
            <a:extLst>
              <a:ext uri="{FF2B5EF4-FFF2-40B4-BE49-F238E27FC236}">
                <a16:creationId xmlns:a16="http://schemas.microsoft.com/office/drawing/2014/main" id="{525D5F8C-E005-F55B-6CCB-72B05A0840B8}"/>
              </a:ext>
            </a:extLst>
          </p:cNvPr>
          <p:cNvSpPr>
            <a:spLocks noGrp="1"/>
          </p:cNvSpPr>
          <p:nvPr>
            <p:ph type="title" idx="4294967295"/>
          </p:nvPr>
        </p:nvSpPr>
        <p:spPr>
          <a:xfrm>
            <a:off x="533295" y="432376"/>
            <a:ext cx="5562705" cy="335297"/>
          </a:xfrm>
        </p:spPr>
        <p:txBody>
          <a:bodyPr/>
          <a:lstStyle/>
          <a:p>
            <a:r>
              <a:rPr lang="en-NZ" sz="2400" b="1" noProof="0" dirty="0"/>
              <a:t>Considering alignment with NAB Agentic AI strategy </a:t>
            </a:r>
          </a:p>
        </p:txBody>
      </p:sp>
      <p:sp>
        <p:nvSpPr>
          <p:cNvPr id="1025" name="TextBox 1024">
            <a:extLst>
              <a:ext uri="{FF2B5EF4-FFF2-40B4-BE49-F238E27FC236}">
                <a16:creationId xmlns:a16="http://schemas.microsoft.com/office/drawing/2014/main" id="{3D6976B5-A4DD-392A-DE6A-4A0B172F5BE1}"/>
              </a:ext>
            </a:extLst>
          </p:cNvPr>
          <p:cNvSpPr txBox="1"/>
          <p:nvPr/>
        </p:nvSpPr>
        <p:spPr>
          <a:xfrm>
            <a:off x="2232676" y="6528003"/>
            <a:ext cx="1866000" cy="246221"/>
          </a:xfrm>
          <a:prstGeom prst="rect">
            <a:avLst/>
          </a:prstGeom>
          <a:noFill/>
        </p:spPr>
        <p:txBody>
          <a:bodyPr wrap="square">
            <a:spAutoFit/>
          </a:bodyPr>
          <a:lstStyle/>
          <a:p>
            <a:r>
              <a:rPr lang="en-NZ" sz="1000" baseline="30000" noProof="0" dirty="0"/>
              <a:t>2</a:t>
            </a:r>
            <a:r>
              <a:rPr lang="en-NZ" sz="1000" noProof="0" dirty="0"/>
              <a:t> See considerations on page 3.</a:t>
            </a:r>
            <a:endParaRPr lang="en-NZ" sz="1050" noProof="0" dirty="0">
              <a:solidFill>
                <a:srgbClr val="000000"/>
              </a:solidFill>
            </a:endParaRPr>
          </a:p>
        </p:txBody>
      </p:sp>
      <p:sp>
        <p:nvSpPr>
          <p:cNvPr id="16" name="TextBox 15">
            <a:extLst>
              <a:ext uri="{FF2B5EF4-FFF2-40B4-BE49-F238E27FC236}">
                <a16:creationId xmlns:a16="http://schemas.microsoft.com/office/drawing/2014/main" id="{D0941907-829B-D472-A4D4-07B59C1050AD}"/>
              </a:ext>
            </a:extLst>
          </p:cNvPr>
          <p:cNvSpPr txBox="1"/>
          <p:nvPr/>
        </p:nvSpPr>
        <p:spPr>
          <a:xfrm>
            <a:off x="10551515" y="4225488"/>
            <a:ext cx="1625599" cy="369332"/>
          </a:xfrm>
          <a:prstGeom prst="rect">
            <a:avLst/>
          </a:prstGeom>
          <a:noFill/>
        </p:spPr>
        <p:txBody>
          <a:bodyPr wrap="square">
            <a:spAutoFit/>
          </a:bodyPr>
          <a:lstStyle/>
          <a:p>
            <a:r>
              <a:rPr lang="en-NZ" i="1" noProof="0" dirty="0"/>
              <a:t>AI Refinery</a:t>
            </a:r>
          </a:p>
        </p:txBody>
      </p:sp>
      <p:sp>
        <p:nvSpPr>
          <p:cNvPr id="2" name="TextBox 1">
            <a:extLst>
              <a:ext uri="{FF2B5EF4-FFF2-40B4-BE49-F238E27FC236}">
                <a16:creationId xmlns:a16="http://schemas.microsoft.com/office/drawing/2014/main" id="{8CA13D00-9FEC-1483-D97D-E0C3E0A8BD32}"/>
              </a:ext>
            </a:extLst>
          </p:cNvPr>
          <p:cNvSpPr txBox="1"/>
          <p:nvPr/>
        </p:nvSpPr>
        <p:spPr>
          <a:xfrm>
            <a:off x="657546" y="6523369"/>
            <a:ext cx="1866000" cy="246221"/>
          </a:xfrm>
          <a:prstGeom prst="rect">
            <a:avLst/>
          </a:prstGeom>
          <a:noFill/>
        </p:spPr>
        <p:txBody>
          <a:bodyPr wrap="square">
            <a:spAutoFit/>
          </a:bodyPr>
          <a:lstStyle/>
          <a:p>
            <a:r>
              <a:rPr lang="en-NZ" sz="1000" baseline="30000" noProof="0" dirty="0"/>
              <a:t>1</a:t>
            </a:r>
            <a:r>
              <a:rPr lang="en-NZ" sz="1000" noProof="0" dirty="0"/>
              <a:t> See reference on page 6.</a:t>
            </a:r>
            <a:endParaRPr lang="en-NZ" sz="1050" noProof="0" dirty="0">
              <a:solidFill>
                <a:srgbClr val="000000"/>
              </a:solidFill>
            </a:endParaRPr>
          </a:p>
        </p:txBody>
      </p:sp>
    </p:spTree>
    <p:extLst>
      <p:ext uri="{BB962C8B-B14F-4D97-AF65-F5344CB8AC3E}">
        <p14:creationId xmlns:p14="http://schemas.microsoft.com/office/powerpoint/2010/main" val="3734177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34CAD-74FD-4A76-F329-5B11DCC2EA46}"/>
              </a:ext>
            </a:extLst>
          </p:cNvPr>
          <p:cNvSpPr>
            <a:spLocks noGrp="1"/>
          </p:cNvSpPr>
          <p:nvPr>
            <p:ph type="title" idx="4294967295"/>
          </p:nvPr>
        </p:nvSpPr>
        <p:spPr>
          <a:xfrm>
            <a:off x="182241" y="386635"/>
            <a:ext cx="11232000" cy="332555"/>
          </a:xfrm>
        </p:spPr>
        <p:txBody>
          <a:bodyPr anchor="ctr"/>
          <a:lstStyle/>
          <a:p>
            <a:r>
              <a:rPr lang="en-NZ" sz="2400" b="1" kern="1200" noProof="0" dirty="0">
                <a:solidFill>
                  <a:srgbClr val="193364"/>
                </a:solidFill>
                <a:effectLst/>
                <a:ea typeface="+mn-ea"/>
              </a:rPr>
              <a:t>AI Refinery is misaligned with NAB Agentic AI strategy </a:t>
            </a:r>
            <a:endParaRPr lang="en-NZ" sz="2400" b="1" noProof="0" dirty="0">
              <a:solidFill>
                <a:srgbClr val="193364"/>
              </a:solidFill>
            </a:endParaRPr>
          </a:p>
        </p:txBody>
      </p:sp>
      <p:pic>
        <p:nvPicPr>
          <p:cNvPr id="18" name="Picture 17" descr="A screenshot of a computer&#10;&#10;AI-generated content may be incorrect.">
            <a:extLst>
              <a:ext uri="{FF2B5EF4-FFF2-40B4-BE49-F238E27FC236}">
                <a16:creationId xmlns:a16="http://schemas.microsoft.com/office/drawing/2014/main" id="{8E30E05A-CDBF-7E0D-9DD9-6E17A2702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889" y="791110"/>
            <a:ext cx="11896222" cy="5556965"/>
          </a:xfrm>
          <a:prstGeom prst="rect">
            <a:avLst/>
          </a:prstGeom>
        </p:spPr>
      </p:pic>
    </p:spTree>
    <p:extLst>
      <p:ext uri="{BB962C8B-B14F-4D97-AF65-F5344CB8AC3E}">
        <p14:creationId xmlns:p14="http://schemas.microsoft.com/office/powerpoint/2010/main" val="3437446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577C97-FB82-35E1-5BEC-AA017EA542E5}"/>
              </a:ext>
            </a:extLst>
          </p:cNvPr>
          <p:cNvPicPr>
            <a:picLocks noChangeAspect="1"/>
          </p:cNvPicPr>
          <p:nvPr/>
        </p:nvPicPr>
        <p:blipFill>
          <a:blip r:embed="rId2"/>
          <a:stretch>
            <a:fillRect/>
          </a:stretch>
        </p:blipFill>
        <p:spPr>
          <a:xfrm>
            <a:off x="1688481" y="1028700"/>
            <a:ext cx="9427894" cy="5134356"/>
          </a:xfrm>
          <a:prstGeom prst="rect">
            <a:avLst/>
          </a:prstGeom>
        </p:spPr>
      </p:pic>
      <p:sp>
        <p:nvSpPr>
          <p:cNvPr id="4" name="Title 3">
            <a:extLst>
              <a:ext uri="{FF2B5EF4-FFF2-40B4-BE49-F238E27FC236}">
                <a16:creationId xmlns:a16="http://schemas.microsoft.com/office/drawing/2014/main" id="{E9FF6163-4274-D59A-5A89-CAEF90D5B9FC}"/>
              </a:ext>
            </a:extLst>
          </p:cNvPr>
          <p:cNvSpPr>
            <a:spLocks noGrp="1"/>
          </p:cNvSpPr>
          <p:nvPr>
            <p:ph type="title" idx="4294967295"/>
          </p:nvPr>
        </p:nvSpPr>
        <p:spPr>
          <a:xfrm>
            <a:off x="289069" y="316003"/>
            <a:ext cx="11232000" cy="466936"/>
          </a:xfrm>
        </p:spPr>
        <p:txBody>
          <a:bodyPr anchor="ctr"/>
          <a:lstStyle/>
          <a:p>
            <a:r>
              <a:rPr lang="en-NZ" sz="2400" b="1" i="0" noProof="0" dirty="0">
                <a:solidFill>
                  <a:srgbClr val="193364"/>
                </a:solidFill>
                <a:effectLst/>
              </a:rPr>
              <a:t>Our BNZ design for AI Refinery can accommodate both AI Refinery applications and applications</a:t>
            </a:r>
            <a:endParaRPr lang="en-NZ" sz="2400" b="1" noProof="0" dirty="0">
              <a:solidFill>
                <a:srgbClr val="193364"/>
              </a:solidFill>
            </a:endParaRPr>
          </a:p>
        </p:txBody>
      </p:sp>
    </p:spTree>
    <p:extLst>
      <p:ext uri="{BB962C8B-B14F-4D97-AF65-F5344CB8AC3E}">
        <p14:creationId xmlns:p14="http://schemas.microsoft.com/office/powerpoint/2010/main" val="1175460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AI-generated content may be incorrect.">
            <a:extLst>
              <a:ext uri="{FF2B5EF4-FFF2-40B4-BE49-F238E27FC236}">
                <a16:creationId xmlns:a16="http://schemas.microsoft.com/office/drawing/2014/main" id="{7FA3EC94-BC97-4A06-9EBA-7F77AF7AA4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9882"/>
            <a:ext cx="12192000" cy="6038236"/>
          </a:xfrm>
          <a:prstGeom prst="rect">
            <a:avLst/>
          </a:prstGeom>
        </p:spPr>
      </p:pic>
    </p:spTree>
    <p:extLst>
      <p:ext uri="{BB962C8B-B14F-4D97-AF65-F5344CB8AC3E}">
        <p14:creationId xmlns:p14="http://schemas.microsoft.com/office/powerpoint/2010/main" val="1669158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50D27D-720D-D1DF-1C2F-2CD6F2AA6223}"/>
              </a:ext>
            </a:extLst>
          </p:cNvPr>
          <p:cNvPicPr>
            <a:picLocks noChangeAspect="1"/>
          </p:cNvPicPr>
          <p:nvPr/>
        </p:nvPicPr>
        <p:blipFill>
          <a:blip r:embed="rId3"/>
          <a:stretch>
            <a:fillRect/>
          </a:stretch>
        </p:blipFill>
        <p:spPr>
          <a:xfrm>
            <a:off x="631488" y="495362"/>
            <a:ext cx="10929023" cy="5867275"/>
          </a:xfrm>
          <a:prstGeom prst="rect">
            <a:avLst/>
          </a:prstGeom>
        </p:spPr>
      </p:pic>
    </p:spTree>
    <p:extLst>
      <p:ext uri="{BB962C8B-B14F-4D97-AF65-F5344CB8AC3E}">
        <p14:creationId xmlns:p14="http://schemas.microsoft.com/office/powerpoint/2010/main" val="252058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3C885E-EAFF-254A-7494-D466CDB3667C}"/>
              </a:ext>
            </a:extLst>
          </p:cNvPr>
          <p:cNvSpPr>
            <a:spLocks noGrp="1"/>
          </p:cNvSpPr>
          <p:nvPr>
            <p:ph type="title" idx="4294967295"/>
          </p:nvPr>
        </p:nvSpPr>
        <p:spPr>
          <a:xfrm>
            <a:off x="386132" y="314637"/>
            <a:ext cx="11232000" cy="302051"/>
          </a:xfrm>
        </p:spPr>
        <p:txBody>
          <a:bodyPr/>
          <a:lstStyle/>
          <a:p>
            <a:r>
              <a:rPr lang="en-NZ" sz="2400" b="1" noProof="0" dirty="0"/>
              <a:t>Considerations</a:t>
            </a:r>
          </a:p>
        </p:txBody>
      </p:sp>
      <p:graphicFrame>
        <p:nvGraphicFramePr>
          <p:cNvPr id="4" name="Table 3">
            <a:extLst>
              <a:ext uri="{FF2B5EF4-FFF2-40B4-BE49-F238E27FC236}">
                <a16:creationId xmlns:a16="http://schemas.microsoft.com/office/drawing/2014/main" id="{E923793C-ECF1-45F1-E131-EBC825323B06}"/>
              </a:ext>
            </a:extLst>
          </p:cNvPr>
          <p:cNvGraphicFramePr>
            <a:graphicFrameLocks noGrp="1"/>
          </p:cNvGraphicFramePr>
          <p:nvPr>
            <p:extLst>
              <p:ext uri="{D42A27DB-BD31-4B8C-83A1-F6EECF244321}">
                <p14:modId xmlns:p14="http://schemas.microsoft.com/office/powerpoint/2010/main" val="3779795678"/>
              </p:ext>
            </p:extLst>
          </p:nvPr>
        </p:nvGraphicFramePr>
        <p:xfrm>
          <a:off x="386132" y="854345"/>
          <a:ext cx="8127999" cy="1633220"/>
        </p:xfrm>
        <a:graphic>
          <a:graphicData uri="http://schemas.openxmlformats.org/drawingml/2006/table">
            <a:tbl>
              <a:tblPr firstRow="1" bandRow="1">
                <a:tableStyleId>{7E9639D4-E3E2-4D34-9284-5A2195B3D0D7}</a:tableStyleId>
              </a:tblPr>
              <a:tblGrid>
                <a:gridCol w="429031">
                  <a:extLst>
                    <a:ext uri="{9D8B030D-6E8A-4147-A177-3AD203B41FA5}">
                      <a16:colId xmlns:a16="http://schemas.microsoft.com/office/drawing/2014/main" val="2759693802"/>
                    </a:ext>
                  </a:extLst>
                </a:gridCol>
                <a:gridCol w="4260271">
                  <a:extLst>
                    <a:ext uri="{9D8B030D-6E8A-4147-A177-3AD203B41FA5}">
                      <a16:colId xmlns:a16="http://schemas.microsoft.com/office/drawing/2014/main" val="3839337649"/>
                    </a:ext>
                  </a:extLst>
                </a:gridCol>
                <a:gridCol w="3438697">
                  <a:extLst>
                    <a:ext uri="{9D8B030D-6E8A-4147-A177-3AD203B41FA5}">
                      <a16:colId xmlns:a16="http://schemas.microsoft.com/office/drawing/2014/main" val="54334070"/>
                    </a:ext>
                  </a:extLst>
                </a:gridCol>
              </a:tblGrid>
              <a:tr h="370840">
                <a:tc>
                  <a:txBody>
                    <a:bodyPr/>
                    <a:lstStyle/>
                    <a:p>
                      <a:pPr algn="ctr"/>
                      <a:r>
                        <a:rPr lang="en-NZ" sz="1050" noProof="0" dirty="0">
                          <a:solidFill>
                            <a:srgbClr val="FFFFFF"/>
                          </a:solidFill>
                        </a:rPr>
                        <a:t>#</a:t>
                      </a:r>
                    </a:p>
                  </a:txBody>
                  <a:tcPr/>
                </a:tc>
                <a:tc>
                  <a:txBody>
                    <a:bodyPr/>
                    <a:lstStyle/>
                    <a:p>
                      <a:r>
                        <a:rPr lang="en-NZ" sz="1050" noProof="0" dirty="0">
                          <a:solidFill>
                            <a:srgbClr val="FFFFFF"/>
                          </a:solidFill>
                        </a:rPr>
                        <a:t>Consideration</a:t>
                      </a:r>
                    </a:p>
                  </a:txBody>
                  <a:tcPr/>
                </a:tc>
                <a:tc>
                  <a:txBody>
                    <a:bodyPr/>
                    <a:lstStyle/>
                    <a:p>
                      <a:r>
                        <a:rPr lang="en-NZ" sz="1050" noProof="0" dirty="0">
                          <a:solidFill>
                            <a:srgbClr val="FFFFFF"/>
                          </a:solidFill>
                        </a:rPr>
                        <a:t>Recommendation</a:t>
                      </a:r>
                    </a:p>
                  </a:txBody>
                  <a:tcPr/>
                </a:tc>
                <a:extLst>
                  <a:ext uri="{0D108BD9-81ED-4DB2-BD59-A6C34878D82A}">
                    <a16:rowId xmlns:a16="http://schemas.microsoft.com/office/drawing/2014/main" val="3351781337"/>
                  </a:ext>
                </a:extLst>
              </a:tr>
              <a:tr h="370840">
                <a:tc>
                  <a:txBody>
                    <a:bodyPr/>
                    <a:lstStyle/>
                    <a:p>
                      <a:pPr algn="ctr"/>
                      <a:r>
                        <a:rPr lang="en-NZ" sz="1050" noProof="0" dirty="0"/>
                        <a:t>1</a:t>
                      </a:r>
                    </a:p>
                  </a:txBody>
                  <a:tcPr/>
                </a:tc>
                <a:tc>
                  <a:txBody>
                    <a:bodyPr/>
                    <a:lstStyle/>
                    <a:p>
                      <a:r>
                        <a:rPr lang="en-NZ" sz="1050" b="1" noProof="0" dirty="0"/>
                        <a:t>Limited LLM choices</a:t>
                      </a:r>
                      <a:r>
                        <a:rPr lang="en-NZ" sz="1050" noProof="0" dirty="0"/>
                        <a:t>. LLMs available in AI Refinery are restricted to models </a:t>
                      </a:r>
                      <a:r>
                        <a:rPr lang="en-NZ" sz="1050" noProof="0" dirty="0">
                          <a:hlinkClick r:id="rId2"/>
                        </a:rPr>
                        <a:t>supported</a:t>
                      </a:r>
                      <a:r>
                        <a:rPr lang="en-NZ" sz="1050" baseline="0" noProof="0" dirty="0">
                          <a:hlinkClick r:id="rId2"/>
                        </a:rPr>
                        <a:t> by NVIDIA NIM</a:t>
                      </a:r>
                      <a:r>
                        <a:rPr lang="en-NZ" sz="1050" baseline="0" noProof="0" dirty="0"/>
                        <a:t> or open weight models (that can be self-hosted). Key mainstream model families are missing, including Anthropic Claude and Google Gemini. Reliance on Llama models when Meta is rumoured to be pivoting away from developing Llama further.</a:t>
                      </a:r>
                      <a:endParaRPr lang="en-NZ" sz="1050" noProof="0" dirty="0"/>
                    </a:p>
                  </a:txBody>
                  <a:tcPr/>
                </a:tc>
                <a:tc>
                  <a:txBody>
                    <a:bodyPr/>
                    <a:lstStyle/>
                    <a:p>
                      <a:r>
                        <a:rPr lang="en-NZ" sz="1050" noProof="0" dirty="0"/>
                        <a:t>Keep open to other frameworks (including NAB preferred) rather than just AI Refinery. </a:t>
                      </a:r>
                    </a:p>
                  </a:txBody>
                  <a:tcPr/>
                </a:tc>
                <a:extLst>
                  <a:ext uri="{0D108BD9-81ED-4DB2-BD59-A6C34878D82A}">
                    <a16:rowId xmlns:a16="http://schemas.microsoft.com/office/drawing/2014/main" val="2415555813"/>
                  </a:ext>
                </a:extLst>
              </a:tr>
              <a:tr h="370840">
                <a:tc>
                  <a:txBody>
                    <a:bodyPr/>
                    <a:lstStyle/>
                    <a:p>
                      <a:pPr algn="ctr"/>
                      <a:r>
                        <a:rPr lang="en-NZ" sz="1050" noProof="0" dirty="0"/>
                        <a:t>2</a:t>
                      </a:r>
                    </a:p>
                  </a:txBody>
                  <a:tcPr/>
                </a:tc>
                <a:tc>
                  <a:txBody>
                    <a:bodyPr/>
                    <a:lstStyle/>
                    <a:p>
                      <a:r>
                        <a:rPr lang="en-NZ" sz="1050" noProof="0" dirty="0"/>
                        <a:t>Etc.</a:t>
                      </a:r>
                    </a:p>
                  </a:txBody>
                  <a:tcPr/>
                </a:tc>
                <a:tc>
                  <a:txBody>
                    <a:bodyPr/>
                    <a:lstStyle/>
                    <a:p>
                      <a:endParaRPr lang="en-NZ" sz="1050" noProof="0" dirty="0"/>
                    </a:p>
                  </a:txBody>
                  <a:tcPr/>
                </a:tc>
                <a:extLst>
                  <a:ext uri="{0D108BD9-81ED-4DB2-BD59-A6C34878D82A}">
                    <a16:rowId xmlns:a16="http://schemas.microsoft.com/office/drawing/2014/main" val="1793956463"/>
                  </a:ext>
                </a:extLst>
              </a:tr>
            </a:tbl>
          </a:graphicData>
        </a:graphic>
      </p:graphicFrame>
    </p:spTree>
    <p:extLst>
      <p:ext uri="{BB962C8B-B14F-4D97-AF65-F5344CB8AC3E}">
        <p14:creationId xmlns:p14="http://schemas.microsoft.com/office/powerpoint/2010/main" val="2424068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A81D0-B1FD-CF97-ABE4-E8D8805C1F76}"/>
              </a:ext>
            </a:extLst>
          </p:cNvPr>
          <p:cNvSpPr>
            <a:spLocks noGrp="1"/>
          </p:cNvSpPr>
          <p:nvPr>
            <p:ph type="title"/>
          </p:nvPr>
        </p:nvSpPr>
        <p:spPr>
          <a:xfrm>
            <a:off x="298858" y="213021"/>
            <a:ext cx="10512424" cy="502605"/>
          </a:xfrm>
        </p:spPr>
        <p:txBody>
          <a:bodyPr/>
          <a:lstStyle/>
          <a:p>
            <a:r>
              <a:rPr lang="en-NZ" noProof="0" dirty="0"/>
              <a:t>References</a:t>
            </a:r>
          </a:p>
        </p:txBody>
      </p:sp>
      <p:sp>
        <p:nvSpPr>
          <p:cNvPr id="3" name="TextBox 2">
            <a:extLst>
              <a:ext uri="{FF2B5EF4-FFF2-40B4-BE49-F238E27FC236}">
                <a16:creationId xmlns:a16="http://schemas.microsoft.com/office/drawing/2014/main" id="{B00B7C3D-4B3A-57FF-C73C-0F2592DEF631}"/>
              </a:ext>
            </a:extLst>
          </p:cNvPr>
          <p:cNvSpPr txBox="1"/>
          <p:nvPr/>
        </p:nvSpPr>
        <p:spPr>
          <a:xfrm>
            <a:off x="584790" y="1382232"/>
            <a:ext cx="9784760" cy="923330"/>
          </a:xfrm>
          <a:prstGeom prst="rect">
            <a:avLst/>
          </a:prstGeom>
          <a:noFill/>
        </p:spPr>
        <p:txBody>
          <a:bodyPr wrap="square" rtlCol="0">
            <a:spAutoFit/>
          </a:bodyPr>
          <a:lstStyle/>
          <a:p>
            <a:pPr marL="342900" indent="-342900">
              <a:buFont typeface="+mj-lt"/>
              <a:buAutoNum type="arabicPeriod"/>
            </a:pPr>
            <a:r>
              <a:rPr lang="en-NZ" i="1" noProof="0" dirty="0"/>
              <a:t>Technology modernisation - Tech Spike - </a:t>
            </a:r>
            <a:r>
              <a:rPr lang="en-NZ" i="1" noProof="0" dirty="0" err="1"/>
              <a:t>AgenticAI</a:t>
            </a:r>
            <a:r>
              <a:rPr lang="en-NZ" i="1" noProof="0" dirty="0"/>
              <a:t> Feasibility Assessment</a:t>
            </a:r>
            <a:r>
              <a:rPr lang="en-NZ" noProof="0" dirty="0"/>
              <a:t>. NAB, August 2025.</a:t>
            </a:r>
          </a:p>
          <a:p>
            <a:pPr marL="342900" indent="-342900">
              <a:buFont typeface="+mj-lt"/>
              <a:buAutoNum type="arabicPeriod"/>
            </a:pPr>
            <a:r>
              <a:rPr lang="en-NZ" i="1" noProof="0" dirty="0">
                <a:hlinkClick r:id="rId2"/>
              </a:rPr>
              <a:t>AI Refinery – Design</a:t>
            </a:r>
            <a:r>
              <a:rPr lang="en-NZ" noProof="0" dirty="0"/>
              <a:t>. Accenture. August 2025.</a:t>
            </a:r>
          </a:p>
          <a:p>
            <a:pPr marL="342900" indent="-342900">
              <a:buFont typeface="+mj-lt"/>
              <a:buAutoNum type="arabicPeriod"/>
            </a:pPr>
            <a:r>
              <a:rPr lang="en-NZ" i="1" noProof="0" dirty="0">
                <a:hlinkClick r:id="rId3"/>
              </a:rPr>
              <a:t>AI Refinery – Design on a page</a:t>
            </a:r>
            <a:r>
              <a:rPr lang="en-NZ" noProof="0" dirty="0"/>
              <a:t>. BNZ / Accenture, August 2025.</a:t>
            </a:r>
          </a:p>
        </p:txBody>
      </p:sp>
    </p:spTree>
    <p:extLst>
      <p:ext uri="{BB962C8B-B14F-4D97-AF65-F5344CB8AC3E}">
        <p14:creationId xmlns:p14="http://schemas.microsoft.com/office/powerpoint/2010/main" val="3822684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ED3B9-DF3D-B904-ADE3-EAE2817826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EEAFCE-894A-94C0-3747-2C7157C75756}"/>
              </a:ext>
            </a:extLst>
          </p:cNvPr>
          <p:cNvSpPr>
            <a:spLocks noGrp="1"/>
          </p:cNvSpPr>
          <p:nvPr>
            <p:ph type="title"/>
          </p:nvPr>
        </p:nvSpPr>
        <p:spPr>
          <a:xfrm>
            <a:off x="6054428" y="964249"/>
            <a:ext cx="5175547" cy="1804454"/>
          </a:xfrm>
        </p:spPr>
        <p:txBody>
          <a:bodyPr/>
          <a:lstStyle/>
          <a:p>
            <a:pPr>
              <a:lnSpc>
                <a:spcPct val="100000"/>
              </a:lnSpc>
              <a:spcBef>
                <a:spcPts val="0"/>
              </a:spcBef>
            </a:pPr>
            <a:r>
              <a:rPr lang="en-NZ" sz="5400" noProof="0" dirty="0"/>
              <a:t>AI Refinery Design against NAB  Agentic Framework</a:t>
            </a:r>
          </a:p>
        </p:txBody>
      </p:sp>
      <p:sp>
        <p:nvSpPr>
          <p:cNvPr id="4" name="Text Placeholder 3">
            <a:extLst>
              <a:ext uri="{FF2B5EF4-FFF2-40B4-BE49-F238E27FC236}">
                <a16:creationId xmlns:a16="http://schemas.microsoft.com/office/drawing/2014/main" id="{DC81C00F-0E67-E169-8175-41140C8747E6}"/>
              </a:ext>
            </a:extLst>
          </p:cNvPr>
          <p:cNvSpPr>
            <a:spLocks noGrp="1"/>
          </p:cNvSpPr>
          <p:nvPr>
            <p:ph type="body" sz="quarter" idx="10"/>
          </p:nvPr>
        </p:nvSpPr>
        <p:spPr>
          <a:xfrm>
            <a:off x="6096000" y="5577391"/>
            <a:ext cx="1374160" cy="339588"/>
          </a:xfrm>
        </p:spPr>
        <p:txBody>
          <a:bodyPr anchor="ctr"/>
          <a:lstStyle/>
          <a:p>
            <a:r>
              <a:rPr lang="en-NZ" sz="1200" noProof="0" dirty="0">
                <a:latin typeface="+mn-lt"/>
              </a:rPr>
              <a:t>Document Reviewed:</a:t>
            </a:r>
          </a:p>
        </p:txBody>
      </p:sp>
      <p:sp>
        <p:nvSpPr>
          <p:cNvPr id="5" name="TextBox 4">
            <a:extLst>
              <a:ext uri="{FF2B5EF4-FFF2-40B4-BE49-F238E27FC236}">
                <a16:creationId xmlns:a16="http://schemas.microsoft.com/office/drawing/2014/main" id="{539332C3-0674-6B79-36BF-8BCD987E2E3A}"/>
              </a:ext>
            </a:extLst>
          </p:cNvPr>
          <p:cNvSpPr txBox="1"/>
          <p:nvPr/>
        </p:nvSpPr>
        <p:spPr>
          <a:xfrm>
            <a:off x="5959178" y="4089298"/>
            <a:ext cx="4860923" cy="923330"/>
          </a:xfrm>
          <a:prstGeom prst="rect">
            <a:avLst/>
          </a:prstGeom>
          <a:noFill/>
        </p:spPr>
        <p:txBody>
          <a:bodyPr wrap="square" rtlCol="0">
            <a:spAutoFit/>
          </a:bodyPr>
          <a:lstStyle/>
          <a:p>
            <a:r>
              <a:rPr lang="en-NZ" i="1" noProof="0" dirty="0"/>
              <a:t>29/08/2025 A review of the Accenture design document for the AI refinery for BNZ against the NAB Agentic AI framework.</a:t>
            </a:r>
          </a:p>
        </p:txBody>
      </p:sp>
      <p:sp>
        <p:nvSpPr>
          <p:cNvPr id="7" name="TextBox 6">
            <a:extLst>
              <a:ext uri="{FF2B5EF4-FFF2-40B4-BE49-F238E27FC236}">
                <a16:creationId xmlns:a16="http://schemas.microsoft.com/office/drawing/2014/main" id="{B17EE34A-B210-D15C-36A7-0D4B4DD46CA4}"/>
              </a:ext>
            </a:extLst>
          </p:cNvPr>
          <p:cNvSpPr txBox="1"/>
          <p:nvPr/>
        </p:nvSpPr>
        <p:spPr>
          <a:xfrm>
            <a:off x="7470160" y="5608686"/>
            <a:ext cx="4484915" cy="276999"/>
          </a:xfrm>
          <a:prstGeom prst="rect">
            <a:avLst/>
          </a:prstGeom>
          <a:noFill/>
        </p:spPr>
        <p:txBody>
          <a:bodyPr wrap="square" anchor="ctr">
            <a:spAutoFit/>
          </a:bodyPr>
          <a:lstStyle/>
          <a:p>
            <a:r>
              <a:rPr lang="en-NZ" sz="1200" i="1" noProof="0" dirty="0">
                <a:hlinkClick r:id="rId3"/>
              </a:rPr>
              <a:t>AI Refinery – Design</a:t>
            </a:r>
            <a:r>
              <a:rPr lang="en-NZ" sz="1200" noProof="0" dirty="0"/>
              <a:t>. Accenture. August 2025.</a:t>
            </a:r>
          </a:p>
        </p:txBody>
      </p:sp>
    </p:spTree>
    <p:extLst>
      <p:ext uri="{BB962C8B-B14F-4D97-AF65-F5344CB8AC3E}">
        <p14:creationId xmlns:p14="http://schemas.microsoft.com/office/powerpoint/2010/main" val="2876707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DD236-6241-9B21-55FD-19807C45F1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5772C9-825A-6185-CD9F-1AFA4F235BD4}"/>
              </a:ext>
            </a:extLst>
          </p:cNvPr>
          <p:cNvSpPr>
            <a:spLocks noGrp="1"/>
          </p:cNvSpPr>
          <p:nvPr>
            <p:ph type="title"/>
          </p:nvPr>
        </p:nvSpPr>
        <p:spPr/>
        <p:txBody>
          <a:bodyPr/>
          <a:lstStyle/>
          <a:p>
            <a:r>
              <a:rPr lang="en-NZ" noProof="0" dirty="0"/>
              <a:t>Summary of Findings</a:t>
            </a:r>
          </a:p>
        </p:txBody>
      </p:sp>
      <p:graphicFrame>
        <p:nvGraphicFramePr>
          <p:cNvPr id="2" name="Table 1">
            <a:extLst>
              <a:ext uri="{FF2B5EF4-FFF2-40B4-BE49-F238E27FC236}">
                <a16:creationId xmlns:a16="http://schemas.microsoft.com/office/drawing/2014/main" id="{8EB6F991-AF1C-5F55-4782-2237E2505E81}"/>
              </a:ext>
            </a:extLst>
          </p:cNvPr>
          <p:cNvGraphicFramePr>
            <a:graphicFrameLocks noGrp="1"/>
          </p:cNvGraphicFramePr>
          <p:nvPr>
            <p:extLst>
              <p:ext uri="{D42A27DB-BD31-4B8C-83A1-F6EECF244321}">
                <p14:modId xmlns:p14="http://schemas.microsoft.com/office/powerpoint/2010/main" val="2125897877"/>
              </p:ext>
            </p:extLst>
          </p:nvPr>
        </p:nvGraphicFramePr>
        <p:xfrm>
          <a:off x="839787" y="4576529"/>
          <a:ext cx="10512426" cy="1508760"/>
        </p:xfrm>
        <a:graphic>
          <a:graphicData uri="http://schemas.openxmlformats.org/drawingml/2006/table">
            <a:tbl>
              <a:tblPr firstRow="1" bandRow="1" bandCol="1">
                <a:tableStyleId>{5C22544A-7EE6-4342-B048-85BDC9FD1C3A}</a:tableStyleId>
              </a:tblPr>
              <a:tblGrid>
                <a:gridCol w="3504142">
                  <a:extLst>
                    <a:ext uri="{9D8B030D-6E8A-4147-A177-3AD203B41FA5}">
                      <a16:colId xmlns:a16="http://schemas.microsoft.com/office/drawing/2014/main" val="4252726685"/>
                    </a:ext>
                  </a:extLst>
                </a:gridCol>
                <a:gridCol w="3504142">
                  <a:extLst>
                    <a:ext uri="{9D8B030D-6E8A-4147-A177-3AD203B41FA5}">
                      <a16:colId xmlns:a16="http://schemas.microsoft.com/office/drawing/2014/main" val="305176536"/>
                    </a:ext>
                  </a:extLst>
                </a:gridCol>
                <a:gridCol w="3504142">
                  <a:extLst>
                    <a:ext uri="{9D8B030D-6E8A-4147-A177-3AD203B41FA5}">
                      <a16:colId xmlns:a16="http://schemas.microsoft.com/office/drawing/2014/main" val="2816967759"/>
                    </a:ext>
                  </a:extLst>
                </a:gridCol>
              </a:tblGrid>
              <a:tr h="167640">
                <a:tc>
                  <a:txBody>
                    <a:bodyPr/>
                    <a:lstStyle/>
                    <a:p>
                      <a:pPr>
                        <a:spcBef>
                          <a:spcPts val="600"/>
                        </a:spcBef>
                        <a:buNone/>
                      </a:pPr>
                      <a:r>
                        <a:rPr lang="en-NZ" sz="1100" noProof="0" dirty="0">
                          <a:effectLst/>
                        </a:rPr>
                        <a:t>NAB Principle</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AI Refinery Alignment</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Gap</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67407971"/>
                  </a:ext>
                </a:extLst>
              </a:tr>
              <a:tr h="167640">
                <a:tc>
                  <a:txBody>
                    <a:bodyPr/>
                    <a:lstStyle/>
                    <a:p>
                      <a:pPr>
                        <a:spcBef>
                          <a:spcPts val="600"/>
                        </a:spcBef>
                        <a:buNone/>
                      </a:pPr>
                      <a:r>
                        <a:rPr lang="en-NZ" sz="1100" noProof="0" dirty="0">
                          <a:effectLst/>
                        </a:rPr>
                        <a:t>Transparency through open source</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Poor - Proprietary frameworks</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High</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09163964"/>
                  </a:ext>
                </a:extLst>
              </a:tr>
              <a:tr h="167640">
                <a:tc>
                  <a:txBody>
                    <a:bodyPr/>
                    <a:lstStyle/>
                    <a:p>
                      <a:pPr>
                        <a:spcBef>
                          <a:spcPts val="600"/>
                        </a:spcBef>
                        <a:buNone/>
                      </a:pPr>
                      <a:r>
                        <a:rPr lang="en-NZ" sz="1100" noProof="0" dirty="0">
                          <a:effectLst/>
                        </a:rPr>
                        <a:t>Clearly established goals and limits</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Fair - Basic boundaries defined</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Medium</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06164771"/>
                  </a:ext>
                </a:extLst>
              </a:tr>
              <a:tr h="167640">
                <a:tc>
                  <a:txBody>
                    <a:bodyPr/>
                    <a:lstStyle/>
                    <a:p>
                      <a:pPr>
                        <a:spcBef>
                          <a:spcPts val="600"/>
                        </a:spcBef>
                        <a:buNone/>
                      </a:pPr>
                      <a:r>
                        <a:rPr lang="en-NZ" sz="1100" noProof="0" dirty="0">
                          <a:effectLst/>
                        </a:rPr>
                        <a:t>Interoperability, portability, modularity</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Poor - Vendor lock-in approach</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High</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48052204"/>
                  </a:ext>
                </a:extLst>
              </a:tr>
              <a:tr h="167640">
                <a:tc>
                  <a:txBody>
                    <a:bodyPr/>
                    <a:lstStyle/>
                    <a:p>
                      <a:pPr>
                        <a:spcBef>
                          <a:spcPts val="600"/>
                        </a:spcBef>
                        <a:buNone/>
                      </a:pPr>
                      <a:r>
                        <a:rPr lang="en-NZ" sz="1100" noProof="0" dirty="0">
                          <a:effectLst/>
                        </a:rPr>
                        <a:t>Feedback and adaptability</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Fair - Basic monitoring</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Medium</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82456096"/>
                  </a:ext>
                </a:extLst>
              </a:tr>
              <a:tr h="167640">
                <a:tc>
                  <a:txBody>
                    <a:bodyPr/>
                    <a:lstStyle/>
                    <a:p>
                      <a:pPr>
                        <a:spcBef>
                          <a:spcPts val="600"/>
                        </a:spcBef>
                        <a:buNone/>
                      </a:pPr>
                      <a:r>
                        <a:rPr lang="en-NZ" sz="1100" noProof="0" dirty="0">
                          <a:effectLst/>
                        </a:rPr>
                        <a:t>Strong governance frameworks</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Poor - Incomplete governance</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High</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84264670"/>
                  </a:ext>
                </a:extLst>
              </a:tr>
              <a:tr h="167640">
                <a:tc>
                  <a:txBody>
                    <a:bodyPr/>
                    <a:lstStyle/>
                    <a:p>
                      <a:pPr>
                        <a:spcBef>
                          <a:spcPts val="600"/>
                        </a:spcBef>
                        <a:buNone/>
                      </a:pPr>
                      <a:r>
                        <a:rPr lang="en-NZ" sz="1100" noProof="0" dirty="0">
                          <a:effectLst/>
                        </a:rPr>
                        <a:t>Fail-Safe Mechanisms</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Fair - Basic safety measures</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Medium</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24058674"/>
                  </a:ext>
                </a:extLst>
              </a:tr>
              <a:tr h="167640">
                <a:tc>
                  <a:txBody>
                    <a:bodyPr/>
                    <a:lstStyle/>
                    <a:p>
                      <a:pPr>
                        <a:spcBef>
                          <a:spcPts val="600"/>
                        </a:spcBef>
                        <a:buNone/>
                      </a:pPr>
                      <a:r>
                        <a:rPr lang="en-NZ" sz="1100" noProof="0" dirty="0">
                          <a:effectLst/>
                        </a:rPr>
                        <a:t>Data privacy and security</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Good - Strong foundation</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Low</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94646634"/>
                  </a:ext>
                </a:extLst>
              </a:tr>
              <a:tr h="167640">
                <a:tc>
                  <a:txBody>
                    <a:bodyPr/>
                    <a:lstStyle/>
                    <a:p>
                      <a:pPr>
                        <a:spcBef>
                          <a:spcPts val="600"/>
                        </a:spcBef>
                        <a:buNone/>
                      </a:pPr>
                      <a:r>
                        <a:rPr lang="en-NZ" sz="1100" noProof="0" dirty="0">
                          <a:effectLst/>
                        </a:rPr>
                        <a:t>Shared Responsibility with centralized governance</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Poor - Centralized approach only</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tc>
                  <a:txBody>
                    <a:bodyPr/>
                    <a:lstStyle/>
                    <a:p>
                      <a:pPr>
                        <a:spcBef>
                          <a:spcPts val="600"/>
                        </a:spcBef>
                        <a:buNone/>
                      </a:pPr>
                      <a:r>
                        <a:rPr lang="en-NZ" sz="1100" noProof="0" dirty="0">
                          <a:effectLst/>
                        </a:rPr>
                        <a:t>High</a:t>
                      </a:r>
                      <a:endParaRPr lang="en-NZ" sz="11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39530805"/>
                  </a:ext>
                </a:extLst>
              </a:tr>
            </a:tbl>
          </a:graphicData>
        </a:graphic>
      </p:graphicFrame>
      <p:sp>
        <p:nvSpPr>
          <p:cNvPr id="3" name="Rectangle 1">
            <a:extLst>
              <a:ext uri="{FF2B5EF4-FFF2-40B4-BE49-F238E27FC236}">
                <a16:creationId xmlns:a16="http://schemas.microsoft.com/office/drawing/2014/main" id="{E3318630-B0E5-9546-394B-80858C1B9A54}"/>
              </a:ext>
            </a:extLst>
          </p:cNvPr>
          <p:cNvSpPr>
            <a:spLocks noChangeArrowheads="1"/>
          </p:cNvSpPr>
          <p:nvPr/>
        </p:nvSpPr>
        <p:spPr bwMode="auto">
          <a:xfrm>
            <a:off x="334462" y="228147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57056" tIns="126960" rIns="91440" bIns="45720" numCol="1" anchor="ctr" anchorCtr="0" compatLnSpc="1">
            <a:prstTxWarp prst="textNoShape">
              <a:avLst/>
            </a:prstTxWarp>
            <a:spAutoFit/>
          </a:bodyPr>
          <a:lstStyle/>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NZ" sz="1100" b="1" i="0" u="none" strike="noStrike" cap="none" normalizeH="0" baseline="0" noProof="0" dirty="0">
                <a:ln>
                  <a:noFill/>
                </a:ln>
                <a:solidFill>
                  <a:srgbClr val="663366"/>
                </a:solidFill>
                <a:effectLst/>
                <a:latin typeface="Rockwell" panose="02060603020205020403" pitchFamily="18" charset="0"/>
                <a:ea typeface="MS Gothic" panose="020B0609070205080204" pitchFamily="49" charset="-128"/>
                <a:cs typeface="Times New Roman" panose="02020603050405020304" pitchFamily="18" charset="0"/>
              </a:rPr>
              <a:t>C</a:t>
            </a:r>
            <a:r>
              <a:rPr kumimoji="0" lang="en-NZ" sz="1100" b="1" i="0" u="none" strike="noStrike" cap="none" normalizeH="0" baseline="0" noProof="0" dirty="0" bmk="">
                <a:ln>
                  <a:noFill/>
                </a:ln>
                <a:solidFill>
                  <a:srgbClr val="663366"/>
                </a:solidFill>
                <a:effectLst/>
                <a:latin typeface="Rockwell" panose="02060603020205020403" pitchFamily="18" charset="0"/>
                <a:ea typeface="MS Gothic" panose="020B0609070205080204" pitchFamily="49" charset="-128"/>
                <a:cs typeface="Times New Roman" panose="02020603050405020304" pitchFamily="18" charset="0"/>
              </a:rPr>
              <a:t>ritical Gaps (Score: 40/100)</a:t>
            </a:r>
          </a:p>
          <a:p>
            <a:pPr marL="0" marR="0" lvl="0" indent="0" algn="l" defTabSz="914400" rtl="0" eaLnBrk="0" fontAlgn="base" latinLnBrk="0" hangingPunct="0">
              <a:lnSpc>
                <a:spcPct val="100000"/>
              </a:lnSpc>
              <a:spcBef>
                <a:spcPct val="0"/>
              </a:spcBef>
              <a:spcAft>
                <a:spcPct val="0"/>
              </a:spcAft>
              <a:buClrTx/>
              <a:buSzTx/>
              <a:buFontTx/>
              <a:buNone/>
              <a:tabLst/>
            </a:pPr>
            <a:r>
              <a:rPr kumimoji="0" lang="en-NZ" sz="1100" b="1"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Architecture Misalignment:</a:t>
            </a:r>
            <a:endParaRPr kumimoji="0" lang="en-NZ" sz="800" b="0" i="0" u="none" strike="noStrike" cap="none" normalizeH="0" baseline="0" noProof="0" dirty="0" bmk="">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AI Refinery follows proprietary/vendor-specific patterns vs NAB's open-source first approach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Missing key NAB components: Agent Registry, MCP Gateway, Event Backbone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Lacks federated execution model preferred by NAB</a:t>
            </a:r>
            <a:endParaRPr kumimoji="0" lang="en-NZ" sz="800" b="0" i="0" u="none" strike="noStrike" cap="none" normalizeH="0" baseline="0" noProof="0" dirty="0" bmk="">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Z" sz="1100" b="1"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Technology Stack Divergence:</a:t>
            </a:r>
            <a:endParaRPr kumimoji="0" lang="en-NZ" sz="800" b="0" i="0" u="none" strike="noStrike" cap="none" normalizeH="0" baseline="0" noProof="0" dirty="0" bmk="">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Limited alignment with NAB's preferred tech stack (AWS </a:t>
            </a:r>
            <a:r>
              <a:rPr kumimoji="0" lang="en-NZ" sz="1100" b="0" i="0" u="none" strike="noStrike" cap="none" normalizeH="0" baseline="0" noProof="0" dirty="0" err="1"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AgentCore</a:t>
            </a: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 Strands, </a:t>
            </a:r>
            <a:r>
              <a:rPr kumimoji="0" lang="en-NZ" sz="1100" b="0" i="0" u="none" strike="noStrike" cap="none" normalizeH="0" baseline="0" noProof="0" dirty="0" err="1"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LangGraph</a:t>
            </a: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Missing Python-native development approach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Insufficient integration with NAB's existing platforms (NEF, </a:t>
            </a:r>
            <a:r>
              <a:rPr kumimoji="0" lang="en-NZ" sz="1100" b="0" i="0" u="none" strike="noStrike" cap="none" normalizeH="0" baseline="0" noProof="0" dirty="0" err="1"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MLFlow</a:t>
            </a: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 Kafka)</a:t>
            </a:r>
            <a:endParaRPr kumimoji="0" lang="en-NZ" sz="800" b="0" i="0" u="none" strike="noStrike" cap="none" normalizeH="0" baseline="0" noProof="0" dirty="0" bmk="">
              <a:ln>
                <a:noFill/>
              </a:ln>
              <a:solidFill>
                <a:schemeClr val="tx1"/>
              </a:solidFill>
              <a:effectLst/>
            </a:endParaRP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NZ" sz="1100" b="1" i="0" u="none" strike="noStrike" cap="none" normalizeH="0" baseline="0" noProof="0" dirty="0" bmk="">
                <a:ln>
                  <a:noFill/>
                </a:ln>
                <a:solidFill>
                  <a:srgbClr val="663366"/>
                </a:solidFill>
                <a:effectLst/>
                <a:latin typeface="Rockwell" panose="02060603020205020403" pitchFamily="18" charset="0"/>
                <a:ea typeface="MS Gothic" panose="020B0609070205080204" pitchFamily="49" charset="-128"/>
                <a:cs typeface="Times New Roman" panose="02020603050405020304" pitchFamily="18" charset="0"/>
              </a:rPr>
              <a:t>NAB Design Principles Compliance:</a:t>
            </a: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NZ" sz="1100" b="1" i="0" u="none" strike="noStrike" cap="none" normalizeH="0" baseline="0" noProof="0" dirty="0" bmk="">
                <a:ln>
                  <a:noFill/>
                </a:ln>
                <a:solidFill>
                  <a:srgbClr val="663366"/>
                </a:solidFill>
                <a:effectLst/>
                <a:latin typeface="Rockwell" panose="02060603020205020403" pitchFamily="18" charset="0"/>
                <a:ea typeface="MS Gothic" panose="020B0609070205080204" pitchFamily="49" charset="-128"/>
                <a:cs typeface="Times New Roman" panose="02020603050405020304" pitchFamily="18" charset="0"/>
              </a:rPr>
              <a:t>Critical Actions Required:</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NZ" sz="1100" b="1"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Adopt NAB-Approved Frameworks:</a:t>
            </a: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 Migrate from proprietary to open-source frameworks (Strands, </a:t>
            </a:r>
            <a:r>
              <a:rPr kumimoji="0" lang="en-NZ" sz="1100" b="0" i="0" u="none" strike="noStrike" cap="none" normalizeH="0" baseline="0" noProof="0" dirty="0" err="1"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LangGraph</a:t>
            </a: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NZ" sz="1100" b="1"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Implement Missing Components:</a:t>
            </a: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 Agent Registry, MCP Gateway, Event Backbone</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NZ" sz="1100" b="1"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Align with NAB Architecture:</a:t>
            </a: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 Adopt federated execution with centralized governance model</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NZ" sz="1100" b="1"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Complete Integration:</a:t>
            </a: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 Full NEF, MLFlow3, and enterprise system integration</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NZ" sz="1100" b="1"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Implement Progressive Autonomy:</a:t>
            </a:r>
            <a:r>
              <a:rPr kumimoji="0" lang="en-NZ" sz="1100" b="0" i="0" u="none" strike="noStrike" cap="none" normalizeH="0" baseline="0" noProof="0" dirty="0" bmk="">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 Human-in-the-loop → Human-on-the-loop → Human-in-the-background</a:t>
            </a:r>
            <a:endParaRPr kumimoji="0" lang="en-NZ" sz="800" b="0" i="0" u="none" strike="noStrike" cap="none" normalizeH="0" baseline="0" noProof="0" dirty="0" bmk="">
              <a:ln>
                <a:noFill/>
              </a:ln>
              <a:solidFill>
                <a:schemeClr val="tx1"/>
              </a:solidFill>
              <a:effectLst/>
            </a:endParaRP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NZ" sz="1100" b="1" i="0" u="none" strike="noStrike" cap="none" normalizeH="0" baseline="0" noProof="0" dirty="0" bmk="">
                <a:ln>
                  <a:noFill/>
                </a:ln>
                <a:solidFill>
                  <a:srgbClr val="663366"/>
                </a:solidFill>
                <a:effectLst/>
                <a:latin typeface="Rockwell" panose="02060603020205020403" pitchFamily="18" charset="0"/>
                <a:ea typeface="MS Gothic" panose="020B0609070205080204" pitchFamily="49" charset="-128"/>
                <a:cs typeface="Times New Roman" panose="02020603050405020304" pitchFamily="18" charset="0"/>
              </a:rPr>
              <a:t>Recommendation: Major Redesign Required</a:t>
            </a:r>
            <a:endParaRPr kumimoji="0" lang="en-NZ" sz="1100" b="1" i="0" u="none" strike="noStrike" cap="none" normalizeH="0" baseline="0" noProof="0" dirty="0">
              <a:ln>
                <a:noFill/>
              </a:ln>
              <a:solidFill>
                <a:srgbClr val="663366"/>
              </a:solidFill>
              <a:effectLst/>
              <a:latin typeface="Rockwell" panose="02060603020205020403" pitchFamily="18" charset="0"/>
              <a:ea typeface="MS Gothic" panose="020B0609070205080204" pitchFamily="49" charset="-128"/>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Z" sz="1100" b="0" i="0" u="none" strike="noStrike" cap="none" normalizeH="0" baseline="0" noProof="0" dirty="0" bmk="recommendation-major-redesign-required">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AI Refinery requires substantial architectural changes to align with NAB's agentic framework. Consider either:</a:t>
            </a:r>
            <a:endParaRPr kumimoji="0" lang="en-NZ" sz="800" b="0" i="0" u="none" strike="noStrike" cap="none" normalizeH="0" baseline="0" noProof="0" dirty="0" bmk="recommendation-major-redesign-required">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NZ" sz="1100" b="1" i="0" u="none" strike="noStrike" cap="none" normalizeH="0" baseline="0" noProof="0" dirty="0" bmk="recommendation-major-redesign-required">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Hybrid Approach:</a:t>
            </a:r>
            <a:r>
              <a:rPr kumimoji="0" lang="en-NZ" sz="1100" b="0" i="0" u="none" strike="noStrike" cap="none" normalizeH="0" baseline="0" noProof="0" dirty="0" bmk="recommendation-major-redesign-required">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 Use AI Refinery as foundation layer with NAB framework overlay</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NZ" sz="1100" b="1" i="0" u="none" strike="noStrike" cap="none" normalizeH="0" baseline="0" noProof="0" dirty="0" bmk="recommendation-major-redesign-required">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Native Implementation:</a:t>
            </a:r>
            <a:r>
              <a:rPr kumimoji="0" lang="en-NZ" sz="1100" b="0" i="0" u="none" strike="noStrike" cap="none" normalizeH="0" baseline="0" noProof="0" dirty="0" bmk="recommendation-major-redesign-required">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 Build NAB-compliant platform using approved technologies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NZ" sz="1100" b="1" i="0" u="none" strike="noStrike" cap="none" normalizeH="0" baseline="0" noProof="0" dirty="0" bmk="recommendation-major-redesign-required">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Vendor Collaboration:</a:t>
            </a:r>
            <a:r>
              <a:rPr kumimoji="0" lang="en-NZ" sz="1100" b="0" i="0" u="none" strike="noStrike" cap="none" normalizeH="0" baseline="0" noProof="0" dirty="0" bmk="recommendation-major-redesign-required">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 Work with Accenture to modify AI Refinery for NAB alignment</a:t>
            </a:r>
            <a:endParaRPr kumimoji="0" lang="en-NZ" sz="800" b="0" i="0" u="none" strike="noStrike" cap="none" normalizeH="0" baseline="0" noProof="0" dirty="0" bmk="recommendation-major-redesign-required">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Z" sz="1100" b="0" i="0" u="none" strike="noStrike" cap="none" normalizeH="0" baseline="0" noProof="0" dirty="0" bmk="recommendation-major-redesign-required">
                <a:ln>
                  <a:noFill/>
                </a:ln>
                <a:solidFill>
                  <a:schemeClr val="tx1"/>
                </a:solidFill>
                <a:effectLst/>
                <a:latin typeface="Aptos" panose="020B0004020202020204" pitchFamily="34" charset="0"/>
                <a:ea typeface="MS Gothic" panose="020B0609070205080204" pitchFamily="49" charset="-128"/>
                <a:cs typeface="Times New Roman" panose="02020603050405020304" pitchFamily="18" charset="0"/>
              </a:rPr>
              <a:t>The current design represents a vendor-centric approach that conflicts with NAB's strategic direction toward open-source, federated, and governance-first agentic systems.</a:t>
            </a:r>
            <a:endParaRPr kumimoji="0" lang="en-NZ" sz="1800" b="0" i="0" u="none" strike="noStrike" cap="none" normalizeH="0" baseline="0" noProof="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21176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616CBD-5A5B-6D73-A26F-DC41C7F4EF3D}"/>
              </a:ext>
            </a:extLst>
          </p:cNvPr>
          <p:cNvSpPr>
            <a:spLocks noGrp="1"/>
          </p:cNvSpPr>
          <p:nvPr>
            <p:ph type="title"/>
          </p:nvPr>
        </p:nvSpPr>
        <p:spPr/>
        <p:txBody>
          <a:bodyPr/>
          <a:lstStyle/>
          <a:p>
            <a:endParaRPr lang="en-NZ" noProof="0" dirty="0"/>
          </a:p>
        </p:txBody>
      </p:sp>
      <p:graphicFrame>
        <p:nvGraphicFramePr>
          <p:cNvPr id="6" name="Table 5">
            <a:extLst>
              <a:ext uri="{FF2B5EF4-FFF2-40B4-BE49-F238E27FC236}">
                <a16:creationId xmlns:a16="http://schemas.microsoft.com/office/drawing/2014/main" id="{05E6EAFD-AC50-706A-16B0-8BBCFA58801E}"/>
              </a:ext>
            </a:extLst>
          </p:cNvPr>
          <p:cNvGraphicFramePr>
            <a:graphicFrameLocks noGrp="1"/>
          </p:cNvGraphicFramePr>
          <p:nvPr>
            <p:extLst>
              <p:ext uri="{D42A27DB-BD31-4B8C-83A1-F6EECF244321}">
                <p14:modId xmlns:p14="http://schemas.microsoft.com/office/powerpoint/2010/main" val="3682724428"/>
              </p:ext>
            </p:extLst>
          </p:nvPr>
        </p:nvGraphicFramePr>
        <p:xfrm>
          <a:off x="316349" y="885825"/>
          <a:ext cx="11066025" cy="11790000"/>
        </p:xfrm>
        <a:graphic>
          <a:graphicData uri="http://schemas.openxmlformats.org/drawingml/2006/table">
            <a:tbl>
              <a:tblPr firstRow="1" bandRow="1" bandCol="1">
                <a:tableStyleId>{5C22544A-7EE6-4342-B048-85BDC9FD1C3A}</a:tableStyleId>
              </a:tblPr>
              <a:tblGrid>
                <a:gridCol w="367402">
                  <a:extLst>
                    <a:ext uri="{9D8B030D-6E8A-4147-A177-3AD203B41FA5}">
                      <a16:colId xmlns:a16="http://schemas.microsoft.com/office/drawing/2014/main" val="1272852290"/>
                    </a:ext>
                  </a:extLst>
                </a:gridCol>
                <a:gridCol w="939958">
                  <a:extLst>
                    <a:ext uri="{9D8B030D-6E8A-4147-A177-3AD203B41FA5}">
                      <a16:colId xmlns:a16="http://schemas.microsoft.com/office/drawing/2014/main" val="1487327850"/>
                    </a:ext>
                  </a:extLst>
                </a:gridCol>
                <a:gridCol w="1763742">
                  <a:extLst>
                    <a:ext uri="{9D8B030D-6E8A-4147-A177-3AD203B41FA5}">
                      <a16:colId xmlns:a16="http://schemas.microsoft.com/office/drawing/2014/main" val="2494156160"/>
                    </a:ext>
                  </a:extLst>
                </a:gridCol>
                <a:gridCol w="929397">
                  <a:extLst>
                    <a:ext uri="{9D8B030D-6E8A-4147-A177-3AD203B41FA5}">
                      <a16:colId xmlns:a16="http://schemas.microsoft.com/office/drawing/2014/main" val="3063071190"/>
                    </a:ext>
                  </a:extLst>
                </a:gridCol>
                <a:gridCol w="1932723">
                  <a:extLst>
                    <a:ext uri="{9D8B030D-6E8A-4147-A177-3AD203B41FA5}">
                      <a16:colId xmlns:a16="http://schemas.microsoft.com/office/drawing/2014/main" val="1250894545"/>
                    </a:ext>
                  </a:extLst>
                </a:gridCol>
                <a:gridCol w="3551942">
                  <a:extLst>
                    <a:ext uri="{9D8B030D-6E8A-4147-A177-3AD203B41FA5}">
                      <a16:colId xmlns:a16="http://schemas.microsoft.com/office/drawing/2014/main" val="4248008364"/>
                    </a:ext>
                  </a:extLst>
                </a:gridCol>
                <a:gridCol w="1580861">
                  <a:extLst>
                    <a:ext uri="{9D8B030D-6E8A-4147-A177-3AD203B41FA5}">
                      <a16:colId xmlns:a16="http://schemas.microsoft.com/office/drawing/2014/main" val="590680428"/>
                    </a:ext>
                  </a:extLst>
                </a:gridCol>
              </a:tblGrid>
              <a:tr h="360000">
                <a:tc>
                  <a:txBody>
                    <a:bodyPr/>
                    <a:lstStyle/>
                    <a:p>
                      <a:pPr>
                        <a:spcBef>
                          <a:spcPts val="600"/>
                        </a:spcBef>
                        <a:buNone/>
                      </a:pPr>
                      <a:r>
                        <a:rPr lang="en-NZ" sz="1000" noProof="0" dirty="0">
                          <a:effectLst/>
                        </a:rPr>
                        <a: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Category</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Finding</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Severity</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Document Section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Framework Alignment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Recommendation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1074853374"/>
                  </a:ext>
                </a:extLst>
              </a:tr>
              <a:tr h="360000">
                <a:tc>
                  <a:txBody>
                    <a:bodyPr/>
                    <a:lstStyle/>
                    <a:p>
                      <a:pPr>
                        <a:spcBef>
                          <a:spcPts val="600"/>
                        </a:spcBef>
                        <a:buNone/>
                      </a:pPr>
                      <a:r>
                        <a:rPr lang="en-NZ" sz="1000" noProof="0" dirty="0">
                          <a:effectLst/>
                        </a:rPr>
                        <a:t>1</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Agentic Framework Alignment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AI Refinery uses proprietary frameworks vs NAB's preference for open-source (Strands, </a:t>
                      </a:r>
                      <a:r>
                        <a:rPr lang="en-NZ" sz="1000" noProof="0" dirty="0" err="1">
                          <a:effectLst/>
                        </a:rPr>
                        <a:t>LangGraph</a:t>
                      </a:r>
                      <a:r>
                        <a:rPr lang="en-NZ" sz="1000" noProof="0" dirty="0">
                          <a:effectLst/>
                        </a:rPr>
                        <a: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High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1.1.3 AI Adoption and Acceleration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Contradicts NAB Design Principle: "Transparency through open source"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Migrate to NAB-approved open-source frameworks (Strands Agents, </a:t>
                      </a:r>
                      <a:r>
                        <a:rPr lang="en-NZ" sz="1000" noProof="0" dirty="0" err="1">
                          <a:effectLst/>
                        </a:rPr>
                        <a:t>LangGraph</a:t>
                      </a:r>
                      <a:r>
                        <a:rPr lang="en-NZ" sz="1000" noProof="0" dirty="0">
                          <a:effectLst/>
                        </a:rPr>
                        <a:t>) or provide integration path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3057283404"/>
                  </a:ext>
                </a:extLst>
              </a:tr>
              <a:tr h="360000">
                <a:tc>
                  <a:txBody>
                    <a:bodyPr/>
                    <a:lstStyle/>
                    <a:p>
                      <a:pPr>
                        <a:spcBef>
                          <a:spcPts val="600"/>
                        </a:spcBef>
                        <a:buNone/>
                      </a:pPr>
                      <a:r>
                        <a:rPr lang="en-NZ" sz="1000" noProof="0" dirty="0">
                          <a:effectLst/>
                        </a:rPr>
                        <a:t>2</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Agent Pattern Classification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Document lacks clear mapping to NAB's 5 agentic system patterns (1-5 complexity levels)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High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4.2 High-Level System Architecture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Missing alignment with NAB pattern taxonomy</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Map AI Refinery components to NAB's agentic patterns and define complexity levels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1668155590"/>
                  </a:ext>
                </a:extLst>
              </a:tr>
              <a:tr h="360000">
                <a:tc>
                  <a:txBody>
                    <a:bodyPr/>
                    <a:lstStyle/>
                    <a:p>
                      <a:pPr>
                        <a:spcBef>
                          <a:spcPts val="600"/>
                        </a:spcBef>
                        <a:buNone/>
                      </a:pPr>
                      <a:r>
                        <a:rPr lang="en-NZ" sz="1000" noProof="0" dirty="0">
                          <a:effectLst/>
                        </a:rPr>
                        <a:t>3</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Python-Native Development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Limited evidence of Python-native agentic stack alignment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Medium</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4.1 Conceptual Architecture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Requirement: "Python-native, Agentic stack"</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Demonstrate Python-first development approach and SDK compatibility</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958764096"/>
                  </a:ext>
                </a:extLst>
              </a:tr>
              <a:tr h="360000">
                <a:tc>
                  <a:txBody>
                    <a:bodyPr/>
                    <a:lstStyle/>
                    <a:p>
                      <a:pPr>
                        <a:spcBef>
                          <a:spcPts val="600"/>
                        </a:spcBef>
                        <a:buNone/>
                      </a:pPr>
                      <a:r>
                        <a:rPr lang="en-NZ" sz="1000" noProof="0" dirty="0">
                          <a:effectLst/>
                        </a:rPr>
                        <a:t>4</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Centralized Platform Blueprints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Missing centralized CI/CD templates and guardrails via NEF/</a:t>
                      </a:r>
                      <a:r>
                        <a:rPr lang="en-NZ" sz="1000" noProof="0" dirty="0" err="1">
                          <a:effectLst/>
                        </a:rPr>
                        <a:t>MLFlow</a:t>
                      </a:r>
                      <a:r>
                        <a:rPr lang="en-NZ" sz="1000" noProof="0" dirty="0">
                          <a:effectLst/>
                        </a:rPr>
                        <a:t> integration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Critical</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Missing Section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Requirement: "Centralised Platform-hosted blueprints"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Implement NEF integration with CI/CD templates and </a:t>
                      </a:r>
                      <a:r>
                        <a:rPr lang="en-NZ" sz="1000" noProof="0" dirty="0" err="1">
                          <a:effectLst/>
                        </a:rPr>
                        <a:t>MLFlow</a:t>
                      </a:r>
                      <a:r>
                        <a:rPr lang="en-NZ" sz="1000" noProof="0" dirty="0">
                          <a:effectLst/>
                        </a:rPr>
                        <a:t> governance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413789395"/>
                  </a:ext>
                </a:extLst>
              </a:tr>
              <a:tr h="360000">
                <a:tc>
                  <a:txBody>
                    <a:bodyPr/>
                    <a:lstStyle/>
                    <a:p>
                      <a:pPr>
                        <a:spcBef>
                          <a:spcPts val="600"/>
                        </a:spcBef>
                        <a:buNone/>
                      </a:pPr>
                      <a:r>
                        <a:rPr lang="en-NZ" sz="1000" noProof="0" dirty="0">
                          <a:effectLst/>
                        </a:rPr>
                        <a:t>5</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Agent Registry &amp; Catalogue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No central agent registry or tools catalogue implementation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Critical</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Missing Section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Core Component: "Agent Registry/Tools Catalogue"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Develop comprehensive agent registry with metadata management and discovery</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347192205"/>
                  </a:ext>
                </a:extLst>
              </a:tr>
              <a:tr h="360000">
                <a:tc>
                  <a:txBody>
                    <a:bodyPr/>
                    <a:lstStyle/>
                    <a:p>
                      <a:pPr>
                        <a:spcBef>
                          <a:spcPts val="600"/>
                        </a:spcBef>
                        <a:buNone/>
                      </a:pPr>
                      <a:r>
                        <a:rPr lang="en-NZ" sz="1000" noProof="0" dirty="0">
                          <a:effectLst/>
                        </a:rPr>
                        <a:t>6</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Event-Driven Architecture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Limited implementation of event-driven agent communication backbone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High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5. Network Flow</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Requirement: "Long-running message-driven with persistent memory"</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Implement Kafka-based event backbone for A2A, A2H, A2T communication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3575658318"/>
                  </a:ext>
                </a:extLst>
              </a:tr>
              <a:tr h="360000">
                <a:tc>
                  <a:txBody>
                    <a:bodyPr/>
                    <a:lstStyle/>
                    <a:p>
                      <a:pPr>
                        <a:spcBef>
                          <a:spcPts val="600"/>
                        </a:spcBef>
                        <a:buNone/>
                      </a:pPr>
                      <a:r>
                        <a:rPr lang="en-NZ" sz="1000" noProof="0" dirty="0">
                          <a:effectLst/>
                        </a:rPr>
                        <a:t>7</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MCP Protocol Support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No mention of Model Control Protocol (MCP) implementation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Critical</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Missing Section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Standard: "Open standard protocols - MCP + OTEL"</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Implement MCP gateway and server architecture for agent interoperability</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1441483390"/>
                  </a:ext>
                </a:extLst>
              </a:tr>
              <a:tr h="360000">
                <a:tc>
                  <a:txBody>
                    <a:bodyPr/>
                    <a:lstStyle/>
                    <a:p>
                      <a:pPr>
                        <a:spcBef>
                          <a:spcPts val="600"/>
                        </a:spcBef>
                        <a:buNone/>
                      </a:pPr>
                      <a:r>
                        <a:rPr lang="en-NZ" sz="1000" noProof="0" dirty="0">
                          <a:effectLst/>
                        </a:rPr>
                        <a:t>8</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err="1">
                          <a:effectLst/>
                        </a:rPr>
                        <a:t>OpenTelemetry</a:t>
                      </a:r>
                      <a:r>
                        <a:rPr lang="en-NZ" sz="1000" noProof="0" dirty="0">
                          <a:effectLst/>
                        </a:rPr>
                        <a:t> Integration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Basic logging but lacks comprehensive OTEL implementation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High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11. Monitoring and Reporting</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Requirement: "Trace-level structured logging - Enterprise Open Tel."</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Implement comprehensive </a:t>
                      </a:r>
                      <a:r>
                        <a:rPr lang="en-NZ" sz="1000" noProof="0" dirty="0" err="1">
                          <a:effectLst/>
                        </a:rPr>
                        <a:t>OpenTelemetry</a:t>
                      </a:r>
                      <a:r>
                        <a:rPr lang="en-NZ" sz="1000" noProof="0" dirty="0">
                          <a:effectLst/>
                        </a:rPr>
                        <a:t> for spans, embeddings, vector traces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3791036994"/>
                  </a:ext>
                </a:extLst>
              </a:tr>
              <a:tr h="360000">
                <a:tc>
                  <a:txBody>
                    <a:bodyPr/>
                    <a:lstStyle/>
                    <a:p>
                      <a:pPr>
                        <a:spcBef>
                          <a:spcPts val="600"/>
                        </a:spcBef>
                        <a:buNone/>
                      </a:pPr>
                      <a:r>
                        <a:rPr lang="en-NZ" sz="1000" noProof="0" dirty="0">
                          <a:effectLst/>
                        </a:rPr>
                        <a:t>9</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Multi-Agent Orchestration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Orchestrator agents lack sophisticated coordination mechanisms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High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4.2 High-Level System Architecture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Pattern: "Dynamic, multi agent collaboration &amp; autonomous decisioning"</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Implement advanced multi-agent coordination with conflict resolution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1324187217"/>
                  </a:ext>
                </a:extLst>
              </a:tr>
              <a:tr h="360000">
                <a:tc>
                  <a:txBody>
                    <a:bodyPr/>
                    <a:lstStyle/>
                    <a:p>
                      <a:pPr>
                        <a:spcBef>
                          <a:spcPts val="600"/>
                        </a:spcBef>
                        <a:buNone/>
                      </a:pPr>
                      <a:r>
                        <a:rPr lang="en-NZ" sz="1000" noProof="0" dirty="0">
                          <a:effectLst/>
                        </a:rPr>
                        <a:t>10</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Agent Memory Architecture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Insufficient detail on short-term vs long-term memory management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Medium</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4.2 High-Level System Architecture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Core Component: "Memory: Persisted state (short and/or long term)"</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Design comprehensive memory architecture with session management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1918908680"/>
                  </a:ext>
                </a:extLst>
              </a:tr>
              <a:tr h="360000">
                <a:tc>
                  <a:txBody>
                    <a:bodyPr/>
                    <a:lstStyle/>
                    <a:p>
                      <a:pPr>
                        <a:spcBef>
                          <a:spcPts val="600"/>
                        </a:spcBef>
                        <a:buNone/>
                      </a:pPr>
                      <a:r>
                        <a:rPr lang="en-NZ" sz="1000" noProof="0" dirty="0">
                          <a:effectLst/>
                        </a:rPr>
                        <a:t>11</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Human-in-the-Loop Framework</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Basic human oversight but lacks NAB's progressive autonomy model</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High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9.2 Human Oversight Requirements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Progression: Human-direct → Human-supervise → Human-background</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Implement progressive autonomy with defined escalation triggers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4043511699"/>
                  </a:ext>
                </a:extLst>
              </a:tr>
              <a:tr h="360000">
                <a:tc>
                  <a:txBody>
                    <a:bodyPr/>
                    <a:lstStyle/>
                    <a:p>
                      <a:pPr>
                        <a:spcBef>
                          <a:spcPts val="600"/>
                        </a:spcBef>
                        <a:buNone/>
                      </a:pPr>
                      <a:r>
                        <a:rPr lang="en-NZ" sz="1000" noProof="0" dirty="0">
                          <a:effectLst/>
                        </a:rPr>
                        <a:t>12</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Agent Evaluation Framework</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Limited agent-specific evaluation and </a:t>
                      </a:r>
                      <a:r>
                        <a:rPr lang="en-NZ" sz="1000" noProof="0" dirty="0" err="1">
                          <a:effectLst/>
                        </a:rPr>
                        <a:t>behavioral</a:t>
                      </a:r>
                      <a:r>
                        <a:rPr lang="en-NZ" sz="1000" noProof="0" dirty="0">
                          <a:effectLst/>
                        </a:rPr>
                        <a:t> analytics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High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11.1 Performance Metrics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Requirement: "Agent evaluation &amp; observability"</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Implement comprehensive agent evaluation with MLFlow3 integration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3998539003"/>
                  </a:ext>
                </a:extLst>
              </a:tr>
              <a:tr h="360000">
                <a:tc>
                  <a:txBody>
                    <a:bodyPr/>
                    <a:lstStyle/>
                    <a:p>
                      <a:pPr>
                        <a:spcBef>
                          <a:spcPts val="600"/>
                        </a:spcBef>
                        <a:buNone/>
                      </a:pPr>
                      <a:r>
                        <a:rPr lang="en-NZ" sz="1000" noProof="0" dirty="0">
                          <a:effectLst/>
                        </a:rPr>
                        <a:t>13</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Semantic Knowledge Graph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No implementation of semantic graph database for agent reasoning</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Medium</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4.4 Data Architecture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Component: "</a:t>
                      </a:r>
                      <a:r>
                        <a:rPr lang="en-NZ" sz="1000" noProof="0" dirty="0" err="1">
                          <a:effectLst/>
                        </a:rPr>
                        <a:t>GraphDB</a:t>
                      </a:r>
                      <a:r>
                        <a:rPr lang="en-NZ" sz="1000" noProof="0" dirty="0">
                          <a:effectLst/>
                        </a:rPr>
                        <a:t> (Semantic) / </a:t>
                      </a:r>
                      <a:r>
                        <a:rPr lang="en-NZ" sz="1000" noProof="0" dirty="0" err="1">
                          <a:effectLst/>
                        </a:rPr>
                        <a:t>VectorDB</a:t>
                      </a:r>
                      <a:r>
                        <a:rPr lang="en-NZ" sz="1000" noProof="0" dirty="0">
                          <a:effectLst/>
                        </a:rPr>
                        <a: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Implement PostgreSQL with AGE extensions for semantic relationships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3850787873"/>
                  </a:ext>
                </a:extLst>
              </a:tr>
              <a:tr h="360000">
                <a:tc>
                  <a:txBody>
                    <a:bodyPr/>
                    <a:lstStyle/>
                    <a:p>
                      <a:pPr>
                        <a:spcBef>
                          <a:spcPts val="600"/>
                        </a:spcBef>
                        <a:buNone/>
                      </a:pPr>
                      <a:r>
                        <a:rPr lang="en-NZ" sz="1000" noProof="0" dirty="0">
                          <a:effectLst/>
                        </a:rPr>
                        <a:t>14</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Agent Portability</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Limited discussion of agent portability across cloud providers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Medium</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7. Availability</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Principle: "Interoperability, portability, and modularity"</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Design agent portability strategy with re-deployment approach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2657657396"/>
                  </a:ext>
                </a:extLst>
              </a:tr>
              <a:tr h="360000">
                <a:tc>
                  <a:txBody>
                    <a:bodyPr/>
                    <a:lstStyle/>
                    <a:p>
                      <a:pPr>
                        <a:spcBef>
                          <a:spcPts val="600"/>
                        </a:spcBef>
                        <a:buNone/>
                      </a:pPr>
                      <a:r>
                        <a:rPr lang="en-NZ" sz="1000" noProof="0" dirty="0">
                          <a:effectLst/>
                        </a:rPr>
                        <a:t>15</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Federated Agent Hosting</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Centralized hosting vs NAB's federated execution runtime approach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Medium</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4.3 Component Architecture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Architecture: "Federated Agentic Execution Runtime"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Implement federated hosting model with centralized governance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3368449280"/>
                  </a:ext>
                </a:extLst>
              </a:tr>
              <a:tr h="360000">
                <a:tc>
                  <a:txBody>
                    <a:bodyPr/>
                    <a:lstStyle/>
                    <a:p>
                      <a:pPr>
                        <a:spcBef>
                          <a:spcPts val="600"/>
                        </a:spcBef>
                        <a:buNone/>
                      </a:pPr>
                      <a:r>
                        <a:rPr lang="en-NZ" sz="1000" noProof="0" dirty="0">
                          <a:effectLst/>
                        </a:rPr>
                        <a:t>16</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Agent Lifecycle Management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Basic deployment patterns vs NAB's agent-as-product model</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High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Missing Section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Model: "Agents as a Product" with modular deployment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Implement comprehensive agent lifecycle with versioning and rollback</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1495696991"/>
                  </a:ext>
                </a:extLst>
              </a:tr>
              <a:tr h="360000">
                <a:tc>
                  <a:txBody>
                    <a:bodyPr/>
                    <a:lstStyle/>
                    <a:p>
                      <a:pPr>
                        <a:spcBef>
                          <a:spcPts val="600"/>
                        </a:spcBef>
                        <a:buNone/>
                      </a:pPr>
                      <a:r>
                        <a:rPr lang="en-NZ" sz="1000" noProof="0" dirty="0">
                          <a:effectLst/>
                        </a:rPr>
                        <a:t>17</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Security &amp; Integration Alignment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Good security foundation but lacks NAB-specific integration patterns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Medium</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8. Security</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Requirement: Data sovereignty and enterprise integration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Enhance security framework to align with NAB's data sovereignty requirements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1138094452"/>
                  </a:ext>
                </a:extLst>
              </a:tr>
              <a:tr h="360000">
                <a:tc>
                  <a:txBody>
                    <a:bodyPr/>
                    <a:lstStyle/>
                    <a:p>
                      <a:pPr>
                        <a:spcBef>
                          <a:spcPts val="600"/>
                        </a:spcBef>
                        <a:buNone/>
                      </a:pPr>
                      <a:r>
                        <a:rPr lang="en-NZ" sz="1000" noProof="0" dirty="0">
                          <a:effectLst/>
                        </a:rPr>
                        <a:t>18</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Developer Experience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Limited discussion of developer workflows and friction points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Medium</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Missing Section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Focus: "Identify and address handoffs and friction"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Implement streamlined developer experience with NAB tooling integration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2691335066"/>
                  </a:ext>
                </a:extLst>
              </a:tr>
              <a:tr h="360000">
                <a:tc>
                  <a:txBody>
                    <a:bodyPr/>
                    <a:lstStyle/>
                    <a:p>
                      <a:pPr>
                        <a:spcBef>
                          <a:spcPts val="600"/>
                        </a:spcBef>
                        <a:buNone/>
                      </a:pPr>
                      <a:r>
                        <a:rPr lang="en-NZ" sz="1000" noProof="0" dirty="0">
                          <a:effectLst/>
                        </a:rPr>
                        <a:t>19</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Agent Governance Model</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Basic governance vs NAB's comprehensive </a:t>
                      </a:r>
                      <a:r>
                        <a:rPr lang="en-NZ" sz="1000" noProof="0" dirty="0" err="1">
                          <a:effectLst/>
                        </a:rPr>
                        <a:t>AgentOps</a:t>
                      </a:r>
                      <a:r>
                        <a:rPr lang="en-NZ" sz="1000" noProof="0" dirty="0">
                          <a:effectLst/>
                        </a:rPr>
                        <a:t> framework</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High</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9. Governance and Oversight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Model: "Centralised Agent authoring with </a:t>
                      </a:r>
                      <a:r>
                        <a:rPr lang="en-NZ" sz="1000" noProof="0" dirty="0" err="1">
                          <a:effectLst/>
                        </a:rPr>
                        <a:t>AgentOps</a:t>
                      </a:r>
                      <a:r>
                        <a:rPr lang="en-NZ" sz="1000" noProof="0" dirty="0">
                          <a:effectLst/>
                        </a:rPr>
                        <a:t> governance"</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Implement comprehensive </a:t>
                      </a:r>
                      <a:r>
                        <a:rPr lang="en-NZ" sz="1000" noProof="0" dirty="0" err="1">
                          <a:effectLst/>
                        </a:rPr>
                        <a:t>AgentOps</a:t>
                      </a:r>
                      <a:r>
                        <a:rPr lang="en-NZ" sz="1000" noProof="0" dirty="0">
                          <a:effectLst/>
                        </a:rPr>
                        <a:t> governance with central authoring</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1911972929"/>
                  </a:ext>
                </a:extLst>
              </a:tr>
              <a:tr h="360000">
                <a:tc>
                  <a:txBody>
                    <a:bodyPr/>
                    <a:lstStyle/>
                    <a:p>
                      <a:pPr>
                        <a:spcBef>
                          <a:spcPts val="600"/>
                        </a:spcBef>
                        <a:buNone/>
                      </a:pPr>
                      <a:r>
                        <a:rPr lang="en-NZ" sz="1000" noProof="0" dirty="0">
                          <a:effectLst/>
                        </a:rPr>
                        <a:t>20</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Use Case Alignment</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Incomplete use cases vs NAB's specific domain-aligned solutions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Critical</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2. Use Cases</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NAB Approach: Domain-aligned solutions with tenant integration</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tc>
                  <a:txBody>
                    <a:bodyPr/>
                    <a:lstStyle/>
                    <a:p>
                      <a:pPr>
                        <a:spcBef>
                          <a:spcPts val="600"/>
                        </a:spcBef>
                        <a:buNone/>
                      </a:pPr>
                      <a:r>
                        <a:rPr lang="en-NZ" sz="1000" noProof="0" dirty="0">
                          <a:effectLst/>
                        </a:rPr>
                        <a:t>Complete use case specifications aligned with NAB's delivery model</a:t>
                      </a:r>
                      <a:endParaRPr lang="en-NZ" sz="1000" noProof="0" dirty="0">
                        <a:effectLst/>
                        <a:latin typeface="Aptos" panose="020B0004020202020204" pitchFamily="34" charset="0"/>
                        <a:ea typeface="MS Gothic" panose="020B0609070205080204" pitchFamily="49" charset="-128"/>
                        <a:cs typeface="Times New Roman" panose="02020603050405020304" pitchFamily="18" charset="0"/>
                      </a:endParaRPr>
                    </a:p>
                  </a:txBody>
                  <a:tcPr marL="45720" marR="45720"/>
                </a:tc>
                <a:extLst>
                  <a:ext uri="{0D108BD9-81ED-4DB2-BD59-A6C34878D82A}">
                    <a16:rowId xmlns:a16="http://schemas.microsoft.com/office/drawing/2014/main" val="1524123724"/>
                  </a:ext>
                </a:extLst>
              </a:tr>
            </a:tbl>
          </a:graphicData>
        </a:graphic>
      </p:graphicFrame>
    </p:spTree>
    <p:extLst>
      <p:ext uri="{BB962C8B-B14F-4D97-AF65-F5344CB8AC3E}">
        <p14:creationId xmlns:p14="http://schemas.microsoft.com/office/powerpoint/2010/main" val="1788754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EDCD0B-E21E-511F-22AB-873BB27044C0}"/>
              </a:ext>
            </a:extLst>
          </p:cNvPr>
          <p:cNvSpPr>
            <a:spLocks noGrp="1"/>
          </p:cNvSpPr>
          <p:nvPr>
            <p:ph type="title"/>
          </p:nvPr>
        </p:nvSpPr>
        <p:spPr>
          <a:xfrm>
            <a:off x="6054428" y="1910304"/>
            <a:ext cx="4484915" cy="1080000"/>
          </a:xfrm>
        </p:spPr>
        <p:txBody>
          <a:bodyPr/>
          <a:lstStyle/>
          <a:p>
            <a:r>
              <a:rPr lang="en-NZ" noProof="0" dirty="0"/>
              <a:t>AI Refinery Design Review</a:t>
            </a:r>
          </a:p>
        </p:txBody>
      </p:sp>
      <p:sp>
        <p:nvSpPr>
          <p:cNvPr id="4" name="Text Placeholder 3">
            <a:extLst>
              <a:ext uri="{FF2B5EF4-FFF2-40B4-BE49-F238E27FC236}">
                <a16:creationId xmlns:a16="http://schemas.microsoft.com/office/drawing/2014/main" id="{B78FACC4-CA31-9B84-96F1-91D4226CF175}"/>
              </a:ext>
            </a:extLst>
          </p:cNvPr>
          <p:cNvSpPr>
            <a:spLocks noGrp="1"/>
          </p:cNvSpPr>
          <p:nvPr>
            <p:ph type="body" sz="quarter" idx="10"/>
          </p:nvPr>
        </p:nvSpPr>
        <p:spPr>
          <a:xfrm>
            <a:off x="6112490" y="3646715"/>
            <a:ext cx="4860923" cy="339588"/>
          </a:xfrm>
        </p:spPr>
        <p:txBody>
          <a:bodyPr/>
          <a:lstStyle/>
          <a:p>
            <a:r>
              <a:rPr lang="en-NZ" sz="2000" noProof="0" dirty="0"/>
              <a:t>Document:</a:t>
            </a:r>
          </a:p>
        </p:txBody>
      </p:sp>
      <p:sp>
        <p:nvSpPr>
          <p:cNvPr id="5" name="TextBox 4">
            <a:extLst>
              <a:ext uri="{FF2B5EF4-FFF2-40B4-BE49-F238E27FC236}">
                <a16:creationId xmlns:a16="http://schemas.microsoft.com/office/drawing/2014/main" id="{CDEFD0F8-B3DB-A766-B034-7E20D1FE6905}"/>
              </a:ext>
            </a:extLst>
          </p:cNvPr>
          <p:cNvSpPr txBox="1"/>
          <p:nvPr/>
        </p:nvSpPr>
        <p:spPr>
          <a:xfrm>
            <a:off x="6054428" y="4444419"/>
            <a:ext cx="4860923" cy="646331"/>
          </a:xfrm>
          <a:prstGeom prst="rect">
            <a:avLst/>
          </a:prstGeom>
          <a:noFill/>
        </p:spPr>
        <p:txBody>
          <a:bodyPr wrap="square" rtlCol="0">
            <a:spAutoFit/>
          </a:bodyPr>
          <a:lstStyle/>
          <a:p>
            <a:r>
              <a:rPr lang="en-NZ" i="1" noProof="0" dirty="0"/>
              <a:t>29/08/2025 A review of the Accenture design document for the AI Refinery for BNZ.</a:t>
            </a:r>
          </a:p>
        </p:txBody>
      </p:sp>
      <p:sp>
        <p:nvSpPr>
          <p:cNvPr id="7" name="TextBox 6">
            <a:extLst>
              <a:ext uri="{FF2B5EF4-FFF2-40B4-BE49-F238E27FC236}">
                <a16:creationId xmlns:a16="http://schemas.microsoft.com/office/drawing/2014/main" id="{8E21FD95-4EF7-D30F-E749-90DAC13709C6}"/>
              </a:ext>
            </a:extLst>
          </p:cNvPr>
          <p:cNvSpPr txBox="1"/>
          <p:nvPr/>
        </p:nvSpPr>
        <p:spPr>
          <a:xfrm>
            <a:off x="7315203" y="3596151"/>
            <a:ext cx="4484915" cy="369332"/>
          </a:xfrm>
          <a:prstGeom prst="rect">
            <a:avLst/>
          </a:prstGeom>
          <a:noFill/>
        </p:spPr>
        <p:txBody>
          <a:bodyPr wrap="square">
            <a:spAutoFit/>
          </a:bodyPr>
          <a:lstStyle/>
          <a:p>
            <a:r>
              <a:rPr lang="en-NZ" i="1" noProof="0" dirty="0">
                <a:hlinkClick r:id="rId3"/>
              </a:rPr>
              <a:t>AI Refinery – Design</a:t>
            </a:r>
            <a:r>
              <a:rPr lang="en-NZ" noProof="0" dirty="0"/>
              <a:t>. Accenture. August 2025.</a:t>
            </a:r>
          </a:p>
        </p:txBody>
      </p:sp>
    </p:spTree>
    <p:extLst>
      <p:ext uri="{BB962C8B-B14F-4D97-AF65-F5344CB8AC3E}">
        <p14:creationId xmlns:p14="http://schemas.microsoft.com/office/powerpoint/2010/main" val="2395291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008F8-2196-61E8-C1D9-FEF9306A6FC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99618A-3C46-C690-5E1F-52D267A2205C}"/>
              </a:ext>
            </a:extLst>
          </p:cNvPr>
          <p:cNvSpPr>
            <a:spLocks noGrp="1"/>
          </p:cNvSpPr>
          <p:nvPr>
            <p:ph type="title"/>
          </p:nvPr>
        </p:nvSpPr>
        <p:spPr/>
        <p:txBody>
          <a:bodyPr/>
          <a:lstStyle/>
          <a:p>
            <a:r>
              <a:rPr lang="en-NZ" noProof="0" dirty="0"/>
              <a:t>AI Refinery Design Review   </a:t>
            </a:r>
            <a:r>
              <a:rPr lang="en-NZ" sz="2000" noProof="0" dirty="0"/>
              <a:t>1 of 2</a:t>
            </a:r>
            <a:endParaRPr lang="en-NZ" noProof="0" dirty="0"/>
          </a:p>
        </p:txBody>
      </p:sp>
      <p:graphicFrame>
        <p:nvGraphicFramePr>
          <p:cNvPr id="5" name="Table 4">
            <a:extLst>
              <a:ext uri="{FF2B5EF4-FFF2-40B4-BE49-F238E27FC236}">
                <a16:creationId xmlns:a16="http://schemas.microsoft.com/office/drawing/2014/main" id="{44F72ECC-63D8-3BF9-AB24-2C9D261E67CB}"/>
              </a:ext>
            </a:extLst>
          </p:cNvPr>
          <p:cNvGraphicFramePr>
            <a:graphicFrameLocks noGrp="1"/>
          </p:cNvGraphicFramePr>
          <p:nvPr>
            <p:extLst>
              <p:ext uri="{D42A27DB-BD31-4B8C-83A1-F6EECF244321}">
                <p14:modId xmlns:p14="http://schemas.microsoft.com/office/powerpoint/2010/main" val="4046314177"/>
              </p:ext>
            </p:extLst>
          </p:nvPr>
        </p:nvGraphicFramePr>
        <p:xfrm>
          <a:off x="249239" y="751068"/>
          <a:ext cx="11555769" cy="5667504"/>
        </p:xfrm>
        <a:graphic>
          <a:graphicData uri="http://schemas.openxmlformats.org/drawingml/2006/table">
            <a:tbl>
              <a:tblPr/>
              <a:tblGrid>
                <a:gridCol w="336188">
                  <a:extLst>
                    <a:ext uri="{9D8B030D-6E8A-4147-A177-3AD203B41FA5}">
                      <a16:colId xmlns:a16="http://schemas.microsoft.com/office/drawing/2014/main" val="1604375270"/>
                    </a:ext>
                  </a:extLst>
                </a:gridCol>
                <a:gridCol w="976245">
                  <a:extLst>
                    <a:ext uri="{9D8B030D-6E8A-4147-A177-3AD203B41FA5}">
                      <a16:colId xmlns:a16="http://schemas.microsoft.com/office/drawing/2014/main" val="2596201820"/>
                    </a:ext>
                  </a:extLst>
                </a:gridCol>
                <a:gridCol w="3719245">
                  <a:extLst>
                    <a:ext uri="{9D8B030D-6E8A-4147-A177-3AD203B41FA5}">
                      <a16:colId xmlns:a16="http://schemas.microsoft.com/office/drawing/2014/main" val="2000721941"/>
                    </a:ext>
                  </a:extLst>
                </a:gridCol>
                <a:gridCol w="667820">
                  <a:extLst>
                    <a:ext uri="{9D8B030D-6E8A-4147-A177-3AD203B41FA5}">
                      <a16:colId xmlns:a16="http://schemas.microsoft.com/office/drawing/2014/main" val="3609898304"/>
                    </a:ext>
                  </a:extLst>
                </a:gridCol>
                <a:gridCol w="1263721">
                  <a:extLst>
                    <a:ext uri="{9D8B030D-6E8A-4147-A177-3AD203B41FA5}">
                      <a16:colId xmlns:a16="http://schemas.microsoft.com/office/drawing/2014/main" val="425710057"/>
                    </a:ext>
                  </a:extLst>
                </a:gridCol>
                <a:gridCol w="4592550">
                  <a:extLst>
                    <a:ext uri="{9D8B030D-6E8A-4147-A177-3AD203B41FA5}">
                      <a16:colId xmlns:a16="http://schemas.microsoft.com/office/drawing/2014/main" val="1835526554"/>
                    </a:ext>
                  </a:extLst>
                </a:gridCol>
              </a:tblGrid>
              <a:tr h="205559">
                <a:tc>
                  <a:txBody>
                    <a:bodyPr/>
                    <a:lstStyle/>
                    <a:p>
                      <a:pPr algn="ctr">
                        <a:lnSpc>
                          <a:spcPct val="115000"/>
                        </a:lnSpc>
                        <a:spcAft>
                          <a:spcPts val="800"/>
                        </a:spcAft>
                        <a:buNone/>
                      </a:pPr>
                      <a:r>
                        <a:rPr lang="en-NZ" sz="1000" b="1" kern="100">
                          <a:solidFill>
                            <a:srgbClr val="FFFFFF"/>
                          </a:solidFill>
                          <a:effectLst/>
                          <a:latin typeface="Aptos Light" panose="020F0502020204030204" pitchFamily="34" charset="0"/>
                          <a:ea typeface="Aptos" panose="020B0004020202020204" pitchFamily="34" charset="0"/>
                          <a:cs typeface="Times New Roman" panose="02020603050405020304" pitchFamily="18" charset="0"/>
                        </a:rPr>
                        <a:t>#</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93364"/>
                    </a:solidFill>
                  </a:tcPr>
                </a:tc>
                <a:tc>
                  <a:txBody>
                    <a:bodyPr/>
                    <a:lstStyle/>
                    <a:p>
                      <a:pPr>
                        <a:lnSpc>
                          <a:spcPct val="115000"/>
                        </a:lnSpc>
                        <a:spcAft>
                          <a:spcPts val="800"/>
                        </a:spcAft>
                        <a:buNone/>
                      </a:pPr>
                      <a:r>
                        <a:rPr lang="en-NZ" sz="1000" b="1" kern="100">
                          <a:solidFill>
                            <a:srgbClr val="FFFFFF"/>
                          </a:solidFill>
                          <a:effectLst/>
                          <a:latin typeface="Aptos Light" panose="020F0502020204030204" pitchFamily="34" charset="0"/>
                          <a:ea typeface="Aptos" panose="020B0004020202020204" pitchFamily="34" charset="0"/>
                          <a:cs typeface="Times New Roman" panose="02020603050405020304" pitchFamily="18" charset="0"/>
                        </a:rPr>
                        <a:t>Category</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93364"/>
                    </a:solidFill>
                  </a:tcPr>
                </a:tc>
                <a:tc>
                  <a:txBody>
                    <a:bodyPr/>
                    <a:lstStyle/>
                    <a:p>
                      <a:pPr>
                        <a:lnSpc>
                          <a:spcPct val="115000"/>
                        </a:lnSpc>
                        <a:spcAft>
                          <a:spcPts val="800"/>
                        </a:spcAft>
                        <a:buNone/>
                      </a:pPr>
                      <a:r>
                        <a:rPr lang="en-NZ" sz="1000" b="1" kern="100" dirty="0">
                          <a:solidFill>
                            <a:srgbClr val="FFFFFF"/>
                          </a:solidFill>
                          <a:effectLst/>
                          <a:latin typeface="Aptos Light" panose="020F0502020204030204" pitchFamily="34" charset="0"/>
                          <a:ea typeface="Aptos" panose="020B0004020202020204" pitchFamily="34" charset="0"/>
                          <a:cs typeface="Times New Roman" panose="02020603050405020304" pitchFamily="18" charset="0"/>
                        </a:rPr>
                        <a:t>Finding</a:t>
                      </a:r>
                      <a:endParaRPr lang="en-NZ" sz="1000" kern="100" dirty="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93364"/>
                    </a:solidFill>
                  </a:tcPr>
                </a:tc>
                <a:tc>
                  <a:txBody>
                    <a:bodyPr/>
                    <a:lstStyle/>
                    <a:p>
                      <a:pPr algn="ctr">
                        <a:lnSpc>
                          <a:spcPct val="115000"/>
                        </a:lnSpc>
                        <a:spcAft>
                          <a:spcPts val="800"/>
                        </a:spcAft>
                        <a:buNone/>
                      </a:pPr>
                      <a:r>
                        <a:rPr lang="en-NZ" sz="1000" b="1" kern="100">
                          <a:solidFill>
                            <a:srgbClr val="FFFFFF"/>
                          </a:solidFill>
                          <a:effectLst/>
                          <a:latin typeface="Aptos Light" panose="020F0502020204030204" pitchFamily="34" charset="0"/>
                          <a:ea typeface="Aptos" panose="020B0004020202020204" pitchFamily="34" charset="0"/>
                          <a:cs typeface="Times New Roman" panose="02020603050405020304" pitchFamily="18" charset="0"/>
                        </a:rPr>
                        <a:t>Severity</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93364"/>
                    </a:solidFill>
                  </a:tcPr>
                </a:tc>
                <a:tc>
                  <a:txBody>
                    <a:bodyPr/>
                    <a:lstStyle/>
                    <a:p>
                      <a:pPr algn="ctr">
                        <a:lnSpc>
                          <a:spcPct val="115000"/>
                        </a:lnSpc>
                        <a:spcAft>
                          <a:spcPts val="800"/>
                        </a:spcAft>
                        <a:buNone/>
                      </a:pPr>
                      <a:r>
                        <a:rPr lang="en-NZ" sz="1000" b="1" kern="100">
                          <a:solidFill>
                            <a:srgbClr val="FFFFFF"/>
                          </a:solidFill>
                          <a:effectLst/>
                          <a:latin typeface="Aptos Light" panose="020F0502020204030204" pitchFamily="34" charset="0"/>
                          <a:ea typeface="Aptos" panose="020B0004020202020204" pitchFamily="34" charset="0"/>
                          <a:cs typeface="Times New Roman" panose="02020603050405020304" pitchFamily="18" charset="0"/>
                        </a:rPr>
                        <a:t>Document Section</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93364"/>
                    </a:solidFill>
                  </a:tcPr>
                </a:tc>
                <a:tc>
                  <a:txBody>
                    <a:bodyPr/>
                    <a:lstStyle/>
                    <a:p>
                      <a:pPr>
                        <a:lnSpc>
                          <a:spcPct val="115000"/>
                        </a:lnSpc>
                        <a:spcAft>
                          <a:spcPts val="800"/>
                        </a:spcAft>
                        <a:buNone/>
                      </a:pPr>
                      <a:r>
                        <a:rPr lang="en-NZ" sz="1000" b="1" kern="100">
                          <a:solidFill>
                            <a:srgbClr val="FFFFFF"/>
                          </a:solidFill>
                          <a:effectLst/>
                          <a:latin typeface="Aptos Light" panose="020F0502020204030204" pitchFamily="34" charset="0"/>
                          <a:ea typeface="Aptos" panose="020B0004020202020204" pitchFamily="34" charset="0"/>
                          <a:cs typeface="Times New Roman" panose="02020603050405020304" pitchFamily="18" charset="0"/>
                        </a:rPr>
                        <a:t>Recommendation</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93364"/>
                    </a:solidFill>
                  </a:tcPr>
                </a:tc>
                <a:extLst>
                  <a:ext uri="{0D108BD9-81ED-4DB2-BD59-A6C34878D82A}">
                    <a16:rowId xmlns:a16="http://schemas.microsoft.com/office/drawing/2014/main" val="2095697115"/>
                  </a:ext>
                </a:extLst>
              </a:tr>
              <a:tr h="504000">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1</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dirty="0">
                          <a:effectLst/>
                          <a:latin typeface="Aptos Light" panose="020F0502020204030204" pitchFamily="34" charset="0"/>
                          <a:ea typeface="Aptos" panose="020B0004020202020204" pitchFamily="34" charset="0"/>
                          <a:cs typeface="Times New Roman" panose="02020603050405020304" pitchFamily="18" charset="0"/>
                        </a:rPr>
                        <a:t>Agentic Architecture</a:t>
                      </a:r>
                      <a:endParaRPr lang="en-NZ" sz="1000" kern="100" dirty="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The description of the agentic architecture falls well below a reasonable threshold for describing a solution architecture. Limited detail on agent autonomy levels, decision-making boundaries, and human-in-the-loop mechanisms.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High</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1.1.1 Agentic Architecture</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Define clear autonomy levels, decision boundaries, escalation criteria, and human oversight triggers for each agent type.</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90571349"/>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2</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Multi-Agent Coordination</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Limited discussion of agent consensus mechanisms, resource allocation, and task distribution.</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High</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1.1.1 Agentic Architecture</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Outline supported patterns for agent mechanisms for consensus, resource allocation strategies, and dynamic task distribution.</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166447929"/>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3</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Use Case Documentation</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Use cases are incomplete with placeholder text and lack detailed requirements analysis. This is not a solution design if there is no indication of how it will be used.</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Critical</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2. Use Cases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Ideally, complete specifications of representative use cases including user stories (or equivalent), acceptance criteria, data requirements, and success metrics. If this is not possible, define patterns for indicative use cases with at least one describing “worst case” from a cybersecurity / threat standpoint.</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773272135"/>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4</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Agent Lifecycle Management</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Missing narrative for agent versioning, deployment strategies, and rollback mechanisms. </a:t>
                      </a:r>
                      <a:r>
                        <a:rPr lang="en-US" sz="1000" kern="100" dirty="0">
                          <a:effectLst/>
                          <a:latin typeface="Aptos Light" panose="020F0502020204030204" pitchFamily="34" charset="0"/>
                          <a:ea typeface="Aptos" panose="020B0004020202020204" pitchFamily="34" charset="0"/>
                          <a:cs typeface="Times New Roman" panose="02020603050405020304" pitchFamily="18" charset="0"/>
                        </a:rPr>
                        <a:t>Unclear how agents are developed and deployed.</a:t>
                      </a:r>
                      <a:endParaRPr lang="en-NZ" sz="1000" kern="100" dirty="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Medium</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4.1 Conceptual Architecture</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Outline agent versioning strategy, blue-green deployment patterns, and anticipated automated rollback procedures.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21551823"/>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5</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Agent Orchestration</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Insufficient detail on inter-agent communication protocols, conflict resolution, and coordination mechanisms.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High</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4.2 High-Level System Architecture</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Outline agent communication patterns, message formats, conflict resolution algorithms, and coordination strategies.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7365441"/>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6</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Agent Memory &amp; Context</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Aptos Light" panose="020F0502020204030204" pitchFamily="34" charset="0"/>
                          <a:ea typeface="Aptos" panose="020B0004020202020204" pitchFamily="34" charset="0"/>
                          <a:cs typeface="Times New Roman" panose="02020603050405020304" pitchFamily="18" charset="0"/>
                        </a:rPr>
                        <a:t>Insufficient detail on supported patterns for agent memory architecture, context persistence, and knowledge retention.</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Medium</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4.2 High-Level System Architecture</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Outline the anticipated and/or supported patterns for agent memory architecture with short-term, long-term, and episodic memory patterns.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16971835"/>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7</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Deployment Architecture</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Aptos Light" panose="020F0502020204030204" pitchFamily="34" charset="0"/>
                          <a:ea typeface="Aptos" panose="020B0004020202020204" pitchFamily="34" charset="0"/>
                          <a:cs typeface="Times New Roman" panose="02020603050405020304" pitchFamily="18" charset="0"/>
                        </a:rPr>
                        <a:t>Good Kubernetes foundation but lacks agent-specific deployment patterns for both Accenture developed and BNZ developed agentic apps.</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Low</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4.3 Component Architecture</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Describe agent-specific deployment patterns, resource allocation, and isolation strategies.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471503471"/>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8</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dirty="0">
                          <a:effectLst/>
                          <a:latin typeface="Aptos Light" panose="020F0502020204030204" pitchFamily="34" charset="0"/>
                          <a:ea typeface="Aptos" panose="020B0004020202020204" pitchFamily="34" charset="0"/>
                          <a:cs typeface="Times New Roman" panose="02020603050405020304" pitchFamily="18" charset="0"/>
                        </a:rPr>
                        <a:t>Integration Patterns</a:t>
                      </a:r>
                      <a:endParaRPr lang="en-NZ" sz="1000" kern="100" dirty="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Limited discussion of external system integration and API management in the context of agents. No mention of Model Control Protocol (MCP) implementation.</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Medium</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5. Network Flow</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Outline standard integration patterns, API specifications, and external system interaction protocols for agents specifically.</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96196756"/>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9</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dirty="0">
                          <a:effectLst/>
                          <a:latin typeface="Aptos Light" panose="020F0502020204030204" pitchFamily="34" charset="0"/>
                          <a:ea typeface="Aptos" panose="020B0004020202020204" pitchFamily="34" charset="0"/>
                          <a:cs typeface="Times New Roman" panose="02020603050405020304" pitchFamily="18" charset="0"/>
                        </a:rPr>
                        <a:t>Security Architecture</a:t>
                      </a:r>
                      <a:endParaRPr lang="en-NZ" sz="1000" kern="100" dirty="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Good foundation but lacks agent-specific security considerations and threat modelling.</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Medium</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8. Security</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Provide a higher level narrative to outline agent-specific threats, security boundaries, and access control mechanisms for agents.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9768640"/>
                  </a:ext>
                </a:extLst>
              </a:tr>
            </a:tbl>
          </a:graphicData>
        </a:graphic>
      </p:graphicFrame>
    </p:spTree>
    <p:extLst>
      <p:ext uri="{BB962C8B-B14F-4D97-AF65-F5344CB8AC3E}">
        <p14:creationId xmlns:p14="http://schemas.microsoft.com/office/powerpoint/2010/main" val="3265232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E5CD4-A639-E779-DE9F-675222651FB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92F4210-759F-81DA-FDE3-80136E2C6CB8}"/>
              </a:ext>
            </a:extLst>
          </p:cNvPr>
          <p:cNvSpPr>
            <a:spLocks noGrp="1"/>
          </p:cNvSpPr>
          <p:nvPr>
            <p:ph type="title"/>
          </p:nvPr>
        </p:nvSpPr>
        <p:spPr>
          <a:xfrm>
            <a:off x="238963" y="197093"/>
            <a:ext cx="10512424" cy="502605"/>
          </a:xfrm>
        </p:spPr>
        <p:txBody>
          <a:bodyPr/>
          <a:lstStyle/>
          <a:p>
            <a:r>
              <a:rPr lang="en-NZ" noProof="0" dirty="0"/>
              <a:t>AI Refinery Design Review   </a:t>
            </a:r>
            <a:r>
              <a:rPr lang="en-NZ" sz="2000" noProof="0" dirty="0"/>
              <a:t>2 of 2</a:t>
            </a:r>
            <a:endParaRPr lang="en-NZ" noProof="0" dirty="0"/>
          </a:p>
        </p:txBody>
      </p:sp>
      <p:graphicFrame>
        <p:nvGraphicFramePr>
          <p:cNvPr id="5" name="Table 4">
            <a:extLst>
              <a:ext uri="{FF2B5EF4-FFF2-40B4-BE49-F238E27FC236}">
                <a16:creationId xmlns:a16="http://schemas.microsoft.com/office/drawing/2014/main" id="{C025EB0E-A145-C8FA-0612-0FCB020610C6}"/>
              </a:ext>
            </a:extLst>
          </p:cNvPr>
          <p:cNvGraphicFramePr>
            <a:graphicFrameLocks noGrp="1"/>
          </p:cNvGraphicFramePr>
          <p:nvPr>
            <p:extLst>
              <p:ext uri="{D42A27DB-BD31-4B8C-83A1-F6EECF244321}">
                <p14:modId xmlns:p14="http://schemas.microsoft.com/office/powerpoint/2010/main" val="2898562890"/>
              </p:ext>
            </p:extLst>
          </p:nvPr>
        </p:nvGraphicFramePr>
        <p:xfrm>
          <a:off x="164387" y="699698"/>
          <a:ext cx="11788650" cy="5947348"/>
        </p:xfrm>
        <a:graphic>
          <a:graphicData uri="http://schemas.openxmlformats.org/drawingml/2006/table">
            <a:tbl>
              <a:tblPr/>
              <a:tblGrid>
                <a:gridCol w="342963">
                  <a:extLst>
                    <a:ext uri="{9D8B030D-6E8A-4147-A177-3AD203B41FA5}">
                      <a16:colId xmlns:a16="http://schemas.microsoft.com/office/drawing/2014/main" val="1604375270"/>
                    </a:ext>
                  </a:extLst>
                </a:gridCol>
                <a:gridCol w="964475">
                  <a:extLst>
                    <a:ext uri="{9D8B030D-6E8A-4147-A177-3AD203B41FA5}">
                      <a16:colId xmlns:a16="http://schemas.microsoft.com/office/drawing/2014/main" val="2596201820"/>
                    </a:ext>
                  </a:extLst>
                </a:gridCol>
                <a:gridCol w="4014304">
                  <a:extLst>
                    <a:ext uri="{9D8B030D-6E8A-4147-A177-3AD203B41FA5}">
                      <a16:colId xmlns:a16="http://schemas.microsoft.com/office/drawing/2014/main" val="2000721941"/>
                    </a:ext>
                  </a:extLst>
                </a:gridCol>
                <a:gridCol w="607910">
                  <a:extLst>
                    <a:ext uri="{9D8B030D-6E8A-4147-A177-3AD203B41FA5}">
                      <a16:colId xmlns:a16="http://schemas.microsoft.com/office/drawing/2014/main" val="3609898304"/>
                    </a:ext>
                  </a:extLst>
                </a:gridCol>
                <a:gridCol w="1100527">
                  <a:extLst>
                    <a:ext uri="{9D8B030D-6E8A-4147-A177-3AD203B41FA5}">
                      <a16:colId xmlns:a16="http://schemas.microsoft.com/office/drawing/2014/main" val="425710057"/>
                    </a:ext>
                  </a:extLst>
                </a:gridCol>
                <a:gridCol w="4758471">
                  <a:extLst>
                    <a:ext uri="{9D8B030D-6E8A-4147-A177-3AD203B41FA5}">
                      <a16:colId xmlns:a16="http://schemas.microsoft.com/office/drawing/2014/main" val="1835526554"/>
                    </a:ext>
                  </a:extLst>
                </a:gridCol>
              </a:tblGrid>
              <a:tr h="205559">
                <a:tc>
                  <a:txBody>
                    <a:bodyPr/>
                    <a:lstStyle/>
                    <a:p>
                      <a:pPr algn="ctr">
                        <a:lnSpc>
                          <a:spcPct val="115000"/>
                        </a:lnSpc>
                        <a:spcAft>
                          <a:spcPts val="800"/>
                        </a:spcAft>
                        <a:buNone/>
                      </a:pPr>
                      <a:r>
                        <a:rPr lang="en-NZ" sz="1000" b="1" kern="100">
                          <a:solidFill>
                            <a:srgbClr val="FFFFFF"/>
                          </a:solidFill>
                          <a:effectLst/>
                          <a:latin typeface="Aptos Light" panose="020F0502020204030204" pitchFamily="34" charset="0"/>
                          <a:ea typeface="Aptos" panose="020B0004020202020204" pitchFamily="34" charset="0"/>
                          <a:cs typeface="Times New Roman" panose="02020603050405020304" pitchFamily="18" charset="0"/>
                        </a:rPr>
                        <a:t>#</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93364"/>
                    </a:solidFill>
                  </a:tcPr>
                </a:tc>
                <a:tc>
                  <a:txBody>
                    <a:bodyPr/>
                    <a:lstStyle/>
                    <a:p>
                      <a:pPr>
                        <a:lnSpc>
                          <a:spcPct val="115000"/>
                        </a:lnSpc>
                        <a:spcAft>
                          <a:spcPts val="800"/>
                        </a:spcAft>
                        <a:buNone/>
                      </a:pPr>
                      <a:r>
                        <a:rPr lang="en-NZ" sz="1000" b="1" kern="100">
                          <a:solidFill>
                            <a:srgbClr val="FFFFFF"/>
                          </a:solidFill>
                          <a:effectLst/>
                          <a:latin typeface="Aptos Light" panose="020F0502020204030204" pitchFamily="34" charset="0"/>
                          <a:ea typeface="Aptos" panose="020B0004020202020204" pitchFamily="34" charset="0"/>
                          <a:cs typeface="Times New Roman" panose="02020603050405020304" pitchFamily="18" charset="0"/>
                        </a:rPr>
                        <a:t>Category</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93364"/>
                    </a:solidFill>
                  </a:tcPr>
                </a:tc>
                <a:tc>
                  <a:txBody>
                    <a:bodyPr/>
                    <a:lstStyle/>
                    <a:p>
                      <a:pPr>
                        <a:lnSpc>
                          <a:spcPct val="115000"/>
                        </a:lnSpc>
                        <a:spcAft>
                          <a:spcPts val="800"/>
                        </a:spcAft>
                        <a:buNone/>
                      </a:pPr>
                      <a:r>
                        <a:rPr lang="en-NZ" sz="1000" b="1" kern="100">
                          <a:solidFill>
                            <a:srgbClr val="FFFFFF"/>
                          </a:solidFill>
                          <a:effectLst/>
                          <a:latin typeface="Aptos Light" panose="020F0502020204030204" pitchFamily="34" charset="0"/>
                          <a:ea typeface="Aptos" panose="020B0004020202020204" pitchFamily="34" charset="0"/>
                          <a:cs typeface="Times New Roman" panose="02020603050405020304" pitchFamily="18" charset="0"/>
                        </a:rPr>
                        <a:t>Finding</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93364"/>
                    </a:solidFill>
                  </a:tcPr>
                </a:tc>
                <a:tc>
                  <a:txBody>
                    <a:bodyPr/>
                    <a:lstStyle/>
                    <a:p>
                      <a:pPr algn="ctr">
                        <a:lnSpc>
                          <a:spcPct val="115000"/>
                        </a:lnSpc>
                        <a:spcAft>
                          <a:spcPts val="800"/>
                        </a:spcAft>
                        <a:buNone/>
                      </a:pPr>
                      <a:r>
                        <a:rPr lang="en-NZ" sz="1000" b="1" kern="100">
                          <a:solidFill>
                            <a:srgbClr val="FFFFFF"/>
                          </a:solidFill>
                          <a:effectLst/>
                          <a:latin typeface="Aptos Light" panose="020F0502020204030204" pitchFamily="34" charset="0"/>
                          <a:ea typeface="Aptos" panose="020B0004020202020204" pitchFamily="34" charset="0"/>
                          <a:cs typeface="Times New Roman" panose="02020603050405020304" pitchFamily="18" charset="0"/>
                        </a:rPr>
                        <a:t>Severity</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93364"/>
                    </a:solidFill>
                  </a:tcPr>
                </a:tc>
                <a:tc>
                  <a:txBody>
                    <a:bodyPr/>
                    <a:lstStyle/>
                    <a:p>
                      <a:pPr>
                        <a:lnSpc>
                          <a:spcPct val="115000"/>
                        </a:lnSpc>
                        <a:spcAft>
                          <a:spcPts val="800"/>
                        </a:spcAft>
                        <a:buNone/>
                      </a:pPr>
                      <a:r>
                        <a:rPr lang="en-NZ" sz="1000" b="1" kern="100">
                          <a:solidFill>
                            <a:srgbClr val="FFFFFF"/>
                          </a:solidFill>
                          <a:effectLst/>
                          <a:latin typeface="Aptos Light" panose="020F0502020204030204" pitchFamily="34" charset="0"/>
                          <a:ea typeface="Aptos" panose="020B0004020202020204" pitchFamily="34" charset="0"/>
                          <a:cs typeface="Times New Roman" panose="02020603050405020304" pitchFamily="18" charset="0"/>
                        </a:rPr>
                        <a:t>Document Section</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93364"/>
                    </a:solidFill>
                  </a:tcPr>
                </a:tc>
                <a:tc>
                  <a:txBody>
                    <a:bodyPr/>
                    <a:lstStyle/>
                    <a:p>
                      <a:pPr>
                        <a:lnSpc>
                          <a:spcPct val="115000"/>
                        </a:lnSpc>
                        <a:spcAft>
                          <a:spcPts val="800"/>
                        </a:spcAft>
                        <a:buNone/>
                      </a:pPr>
                      <a:r>
                        <a:rPr lang="en-NZ" sz="1000" b="1" kern="100">
                          <a:solidFill>
                            <a:srgbClr val="FFFFFF"/>
                          </a:solidFill>
                          <a:effectLst/>
                          <a:latin typeface="Aptos Light" panose="020F0502020204030204" pitchFamily="34" charset="0"/>
                          <a:ea typeface="Aptos" panose="020B0004020202020204" pitchFamily="34" charset="0"/>
                          <a:cs typeface="Times New Roman" panose="02020603050405020304" pitchFamily="18" charset="0"/>
                        </a:rPr>
                        <a:t>Recommendation</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93364"/>
                    </a:solidFill>
                  </a:tcPr>
                </a:tc>
                <a:extLst>
                  <a:ext uri="{0D108BD9-81ED-4DB2-BD59-A6C34878D82A}">
                    <a16:rowId xmlns:a16="http://schemas.microsoft.com/office/drawing/2014/main" val="2095697115"/>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10</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Data Governance</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Basic data protection but insufficient for agent data usage, lineage, and compliance.</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Medium</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8.8 Data Protection</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Describe how comprehensive data governance for agent operations will be implemented, including usage tracking and lineage.</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65551954"/>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11</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Governance Framework</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Aptos Light" panose="020F0502020204030204" pitchFamily="34" charset="0"/>
                          <a:ea typeface="Aptos" panose="020B0004020202020204" pitchFamily="34" charset="0"/>
                          <a:cs typeface="Times New Roman" panose="02020603050405020304" pitchFamily="18" charset="0"/>
                        </a:rPr>
                        <a:t>Still only placeholder content with no actual governance structure defined. The Confluence page does not describe operational / CoE governance.</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Critical</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9. Governance and Oversight</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Document operational / operating model AI governance framework with clear roles, responsibilities, and decision-making processes.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236881850"/>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12</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Safety &amp; Guardrails</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Aptos Light" panose="020F0502020204030204" pitchFamily="34" charset="0"/>
                          <a:ea typeface="Aptos" panose="020B0004020202020204" pitchFamily="34" charset="0"/>
                          <a:cs typeface="Times New Roman" panose="02020603050405020304" pitchFamily="18" charset="0"/>
                        </a:rPr>
                        <a:t>[Medium] Basic RAI framework but lacks comprehensive safety mechanisms for autonomous operations. This is a bunch of assertions without describing actual mechanisms / patterns. Not linked to other Accenture RAI work for BNZ.</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High</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9.3 Ethical AI Framework</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Outline agent safety patterns / mechanisms including circuit breakers, safety monitors, and fail-safe defaults.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911846331"/>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13</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Business Continuity</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Aptos Light" panose="020F0502020204030204" pitchFamily="34" charset="0"/>
                          <a:ea typeface="Aptos" panose="020B0004020202020204" pitchFamily="34" charset="0"/>
                          <a:cs typeface="Times New Roman" panose="02020603050405020304" pitchFamily="18" charset="0"/>
                        </a:rPr>
                        <a:t>Good high-level approach but lacks agent-specific continuity planning. The primary role of the solution is as an agentic AI framework so these considerations are important.</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Medium</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10.1 Business Continuity</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Outline agent-specific business continuity approaches / patterns, including state preservation and recovery procedures.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080716393"/>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14</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Change Management</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Basic change management but lacks agent lifecycle management considerations.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Medium</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10.2 Change Management</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Describe agent-specific change management including version control and deployment procedures.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65618885"/>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15</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Testing Strategy</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No mention of agent testing methodologies, simulation environments, or validation frameworks.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Critical</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11 Missing sub-section</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Describe the typical testing strategy including unit, integration, and behavioural testing for agents.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658320039"/>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16</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Performance Optimization</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Aptos Light" panose="020F0502020204030204" pitchFamily="34" charset="0"/>
                          <a:ea typeface="Aptos" panose="020B0004020202020204" pitchFamily="34" charset="0"/>
                          <a:cs typeface="Times New Roman" panose="02020603050405020304" pitchFamily="18" charset="0"/>
                        </a:rPr>
                        <a:t>Limited discussion of how metrics will be used for optimization, specifically agent performance tuning, resource optimization, and scaling strategies.</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Medium</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11.1 Performance Metrics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Outline agent-specific performance metrics, optimization strategies, and auto-scaling mechanisms.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858119018"/>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17</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Compliance &amp; Regulation</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Still only placeholder content for regulatory compliance framework.</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High</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12. Regulatory Compliance Framework</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Outline specific compliance strategies for AI/ML regulations and industry standards with reference to the Accenture Responsible AI (RAI) being done.</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291161281"/>
                  </a:ext>
                </a:extLst>
              </a:tr>
              <a:tr h="504000">
                <a:tc>
                  <a:txBody>
                    <a:bodyPr/>
                    <a:lstStyle/>
                    <a:p>
                      <a:pPr algn="ct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18</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b="1" kern="100">
                          <a:effectLst/>
                          <a:latin typeface="Aptos Light" panose="020F0502020204030204" pitchFamily="34" charset="0"/>
                          <a:ea typeface="Aptos" panose="020B0004020202020204" pitchFamily="34" charset="0"/>
                          <a:cs typeface="Times New Roman" panose="02020603050405020304" pitchFamily="18" charset="0"/>
                        </a:rPr>
                        <a:t>Documentation Quality</a:t>
                      </a:r>
                      <a:endParaRPr lang="en-NZ" sz="1000" kern="10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US" sz="1000" kern="100" dirty="0">
                          <a:effectLst/>
                          <a:latin typeface="Aptos Light" panose="020F0502020204030204" pitchFamily="34" charset="0"/>
                          <a:ea typeface="Aptos" panose="020B0004020202020204" pitchFamily="34" charset="0"/>
                          <a:cs typeface="Times New Roman" panose="02020603050405020304" pitchFamily="18" charset="0"/>
                        </a:rPr>
                        <a:t>[High] Overall, many sections contain placeholder text and lack technical depth from a solution architecture perspective. The separate Design-on-a-page document adequately outlines the platform from an infrastructure perspective. This document should build on that to describe the solution usage and typical patterns as an “inside the agentic box”. It does not.</a:t>
                      </a:r>
                      <a:endParaRPr lang="en-NZ" sz="1000" kern="100" dirty="0">
                        <a:effectLst/>
                        <a:latin typeface="Aptos Light" panose="020F0502020204030204" pitchFamily="34" charset="0"/>
                        <a:ea typeface="Aptos" panose="020B0004020202020204" pitchFamily="34" charset="0"/>
                        <a:cs typeface="Times New Roman" panose="02020603050405020304" pitchFamily="18" charset="0"/>
                      </a:endParaRP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High</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a:effectLst/>
                          <a:latin typeface="Aptos Light" panose="020F0502020204030204" pitchFamily="34" charset="0"/>
                          <a:ea typeface="Aptos" panose="020B0004020202020204" pitchFamily="34" charset="0"/>
                          <a:cs typeface="Times New Roman" panose="02020603050405020304" pitchFamily="18" charset="0"/>
                        </a:rPr>
                        <a:t>Throughout</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nSpc>
                          <a:spcPct val="115000"/>
                        </a:lnSpc>
                        <a:spcAft>
                          <a:spcPts val="800"/>
                        </a:spcAft>
                        <a:buNone/>
                      </a:pPr>
                      <a:r>
                        <a:rPr lang="en-NZ" sz="1000" kern="100" dirty="0">
                          <a:effectLst/>
                          <a:latin typeface="Aptos Light" panose="020F0502020204030204" pitchFamily="34" charset="0"/>
                          <a:ea typeface="Aptos" panose="020B0004020202020204" pitchFamily="34" charset="0"/>
                          <a:cs typeface="Times New Roman" panose="02020603050405020304" pitchFamily="18" charset="0"/>
                        </a:rPr>
                        <a:t>Complete all placeholder sections with appropriate narrative or link to comprehensive documentation that does.</a:t>
                      </a:r>
                    </a:p>
                  </a:txBody>
                  <a:tcPr marL="45720" marR="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295843314"/>
                  </a:ext>
                </a:extLst>
              </a:tr>
            </a:tbl>
          </a:graphicData>
        </a:graphic>
      </p:graphicFrame>
    </p:spTree>
    <p:extLst>
      <p:ext uri="{BB962C8B-B14F-4D97-AF65-F5344CB8AC3E}">
        <p14:creationId xmlns:p14="http://schemas.microsoft.com/office/powerpoint/2010/main" val="481830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9CC226-9781-75C2-C236-1AD6F654E6B7}"/>
              </a:ext>
            </a:extLst>
          </p:cNvPr>
          <p:cNvSpPr>
            <a:spLocks noGrp="1"/>
          </p:cNvSpPr>
          <p:nvPr>
            <p:ph type="title"/>
          </p:nvPr>
        </p:nvSpPr>
        <p:spPr/>
        <p:txBody>
          <a:bodyPr/>
          <a:lstStyle/>
          <a:p>
            <a:r>
              <a:rPr lang="en-NZ" dirty="0"/>
              <a:t>Partnering Considerations</a:t>
            </a:r>
          </a:p>
        </p:txBody>
      </p:sp>
      <p:sp>
        <p:nvSpPr>
          <p:cNvPr id="4" name="Text Placeholder 3">
            <a:extLst>
              <a:ext uri="{FF2B5EF4-FFF2-40B4-BE49-F238E27FC236}">
                <a16:creationId xmlns:a16="http://schemas.microsoft.com/office/drawing/2014/main" id="{05D0AF1D-A34A-944E-2EE9-11F6E4A15B76}"/>
              </a:ext>
            </a:extLst>
          </p:cNvPr>
          <p:cNvSpPr>
            <a:spLocks noGrp="1"/>
          </p:cNvSpPr>
          <p:nvPr>
            <p:ph type="body" sz="quarter" idx="10"/>
          </p:nvPr>
        </p:nvSpPr>
        <p:spPr/>
        <p:txBody>
          <a:bodyPr/>
          <a:lstStyle/>
          <a:p>
            <a:r>
              <a:rPr lang="en-NZ" dirty="0"/>
              <a:t>Accenture and alternatives</a:t>
            </a:r>
          </a:p>
        </p:txBody>
      </p:sp>
    </p:spTree>
    <p:extLst>
      <p:ext uri="{BB962C8B-B14F-4D97-AF65-F5344CB8AC3E}">
        <p14:creationId xmlns:p14="http://schemas.microsoft.com/office/powerpoint/2010/main" val="1628971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34EDB-2484-EA5C-F735-A2819134A1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102835-5138-AF9B-815B-46D732AE0024}"/>
              </a:ext>
            </a:extLst>
          </p:cNvPr>
          <p:cNvSpPr>
            <a:spLocks noGrp="1"/>
          </p:cNvSpPr>
          <p:nvPr>
            <p:ph type="title"/>
          </p:nvPr>
        </p:nvSpPr>
        <p:spPr>
          <a:xfrm>
            <a:off x="249240" y="191313"/>
            <a:ext cx="10512424" cy="502605"/>
          </a:xfrm>
        </p:spPr>
        <p:txBody>
          <a:bodyPr/>
          <a:lstStyle/>
          <a:p>
            <a:r>
              <a:rPr lang="en-NZ" dirty="0"/>
              <a:t>Partnership vs DIY Decisions</a:t>
            </a:r>
          </a:p>
        </p:txBody>
      </p:sp>
      <p:sp>
        <p:nvSpPr>
          <p:cNvPr id="7" name="TextBox 6">
            <a:extLst>
              <a:ext uri="{FF2B5EF4-FFF2-40B4-BE49-F238E27FC236}">
                <a16:creationId xmlns:a16="http://schemas.microsoft.com/office/drawing/2014/main" id="{865DE4FD-3CEA-A8E6-82CF-8BE0DE3ED841}"/>
              </a:ext>
            </a:extLst>
          </p:cNvPr>
          <p:cNvSpPr txBox="1"/>
          <p:nvPr/>
        </p:nvSpPr>
        <p:spPr>
          <a:xfrm>
            <a:off x="515939" y="902061"/>
            <a:ext cx="5406229" cy="4616648"/>
          </a:xfrm>
          <a:prstGeom prst="rect">
            <a:avLst/>
          </a:prstGeom>
          <a:noFill/>
        </p:spPr>
        <p:txBody>
          <a:bodyPr wrap="square">
            <a:spAutoFit/>
          </a:bodyPr>
          <a:lstStyle/>
          <a:p>
            <a:pPr algn="l">
              <a:spcAft>
                <a:spcPts val="1200"/>
              </a:spcAft>
              <a:buNone/>
            </a:pPr>
            <a:r>
              <a:rPr lang="en-US" sz="1100" b="1" i="0" dirty="0">
                <a:solidFill>
                  <a:schemeClr val="tx1">
                    <a:lumMod val="50000"/>
                  </a:schemeClr>
                </a:solidFill>
                <a:effectLst/>
                <a:latin typeface="Aptos Light" panose="020B0004020202020204" pitchFamily="34" charset="0"/>
              </a:rPr>
              <a:t>DIY Approach Challenges for BNZ:</a:t>
            </a:r>
            <a:endParaRPr lang="en-US" sz="1100" b="0" i="0" dirty="0">
              <a:solidFill>
                <a:schemeClr val="tx1">
                  <a:lumMod val="50000"/>
                </a:schemeClr>
              </a:solidFill>
              <a:effectLst/>
              <a:latin typeface="Aptos Light" panose="020B0004020202020204" pitchFamily="34" charset="0"/>
            </a:endParaRPr>
          </a:p>
          <a:p>
            <a:pPr marL="228600" indent="-228600" algn="l">
              <a:buFont typeface="+mj-lt"/>
              <a:buAutoNum type="arabicPeriod"/>
            </a:pPr>
            <a:r>
              <a:rPr lang="en-US" sz="1100" b="1" i="0" dirty="0">
                <a:solidFill>
                  <a:schemeClr val="tx1">
                    <a:lumMod val="50000"/>
                  </a:schemeClr>
                </a:solidFill>
                <a:effectLst/>
                <a:latin typeface="Aptos Light" panose="020B0004020202020204" pitchFamily="34" charset="0"/>
              </a:rPr>
              <a:t>Talent Acquisition:</a:t>
            </a:r>
            <a:r>
              <a:rPr lang="en-US" sz="1100" b="0" i="0" dirty="0">
                <a:solidFill>
                  <a:schemeClr val="tx1">
                    <a:lumMod val="50000"/>
                  </a:schemeClr>
                </a:solidFill>
                <a:effectLst/>
                <a:latin typeface="Aptos Light" panose="020B0004020202020204" pitchFamily="34" charset="0"/>
              </a:rPr>
              <a:t> Limited pool of AI experts in New Zealand; competing with global tech companies for scarce talent.</a:t>
            </a:r>
          </a:p>
          <a:p>
            <a:pPr marL="228600" indent="-228600" algn="l">
              <a:buFont typeface="+mj-lt"/>
              <a:buAutoNum type="arabicPeriod"/>
            </a:pPr>
            <a:r>
              <a:rPr lang="en-US" sz="1100" b="1" i="0" dirty="0">
                <a:solidFill>
                  <a:schemeClr val="tx1">
                    <a:lumMod val="50000"/>
                  </a:schemeClr>
                </a:solidFill>
                <a:effectLst/>
                <a:latin typeface="Aptos Light" panose="020B0004020202020204" pitchFamily="34" charset="0"/>
              </a:rPr>
              <a:t>Investment Scale:</a:t>
            </a:r>
            <a:r>
              <a:rPr lang="en-US" sz="1100" b="0" i="0" dirty="0">
                <a:solidFill>
                  <a:schemeClr val="tx1">
                    <a:lumMod val="50000"/>
                  </a:schemeClr>
                </a:solidFill>
                <a:effectLst/>
                <a:latin typeface="Aptos Light" panose="020B0004020202020204" pitchFamily="34" charset="0"/>
              </a:rPr>
              <a:t> Achieving AI ambition within a shortish timeframe might require disproportionate capital allocation (could be 10-20% of BNZ annual technology budget vs. 1-2% for larger banks).</a:t>
            </a:r>
          </a:p>
          <a:p>
            <a:pPr marL="228600" indent="-228600" algn="l">
              <a:buFont typeface="+mj-lt"/>
              <a:buAutoNum type="arabicPeriod"/>
            </a:pPr>
            <a:r>
              <a:rPr lang="en-US" sz="1100" b="1" i="0" dirty="0">
                <a:solidFill>
                  <a:schemeClr val="tx1">
                    <a:lumMod val="50000"/>
                  </a:schemeClr>
                </a:solidFill>
                <a:effectLst/>
                <a:latin typeface="Aptos Light" panose="020B0004020202020204" pitchFamily="34" charset="0"/>
              </a:rPr>
              <a:t>Development Timeframe:</a:t>
            </a:r>
            <a:r>
              <a:rPr lang="en-US" sz="1100" b="0" i="0" dirty="0">
                <a:solidFill>
                  <a:schemeClr val="tx1">
                    <a:lumMod val="50000"/>
                  </a:schemeClr>
                </a:solidFill>
                <a:effectLst/>
                <a:latin typeface="Aptos Light" panose="020B0004020202020204" pitchFamily="34" charset="0"/>
              </a:rPr>
              <a:t> Potentially 3-5 years to build internal capability vs. 6-18 months with partnership.</a:t>
            </a:r>
          </a:p>
          <a:p>
            <a:pPr marL="228600" indent="-228600" algn="l">
              <a:buFont typeface="+mj-lt"/>
              <a:buAutoNum type="arabicPeriod"/>
            </a:pPr>
            <a:r>
              <a:rPr lang="en-US" sz="1100" b="1" i="0" dirty="0">
                <a:solidFill>
                  <a:schemeClr val="tx1">
                    <a:lumMod val="50000"/>
                  </a:schemeClr>
                </a:solidFill>
                <a:effectLst/>
                <a:latin typeface="Aptos Light" panose="020B0004020202020204" pitchFamily="34" charset="0"/>
              </a:rPr>
              <a:t>Opportunity Cost:</a:t>
            </a:r>
            <a:r>
              <a:rPr lang="en-US" sz="1100" b="0" i="0" dirty="0">
                <a:solidFill>
                  <a:schemeClr val="tx1">
                    <a:lumMod val="50000"/>
                  </a:schemeClr>
                </a:solidFill>
                <a:effectLst/>
                <a:latin typeface="Aptos Light" panose="020B0004020202020204" pitchFamily="34" charset="0"/>
              </a:rPr>
              <a:t> Diverts resources from core banking transformation initiatives.</a:t>
            </a:r>
          </a:p>
          <a:p>
            <a:pPr marL="228600" indent="-228600" algn="l">
              <a:buFont typeface="+mj-lt"/>
              <a:buAutoNum type="arabicPeriod"/>
            </a:pPr>
            <a:r>
              <a:rPr lang="en-US" sz="1100" b="1" i="0" dirty="0">
                <a:solidFill>
                  <a:schemeClr val="tx1">
                    <a:lumMod val="50000"/>
                  </a:schemeClr>
                </a:solidFill>
                <a:effectLst/>
                <a:latin typeface="Aptos Light" panose="020B0004020202020204" pitchFamily="34" charset="0"/>
              </a:rPr>
              <a:t>Risk Profile:</a:t>
            </a:r>
            <a:r>
              <a:rPr lang="en-US" sz="1100" b="0" i="0" dirty="0">
                <a:solidFill>
                  <a:schemeClr val="tx1">
                    <a:lumMod val="50000"/>
                  </a:schemeClr>
                </a:solidFill>
                <a:effectLst/>
                <a:latin typeface="Aptos Light" panose="020B0004020202020204" pitchFamily="34" charset="0"/>
              </a:rPr>
              <a:t> Higher failure probability without proven AI platform development experience (85% failure rate for internal AI projects without external expertise).</a:t>
            </a:r>
          </a:p>
          <a:p>
            <a:pPr algn="l">
              <a:spcAft>
                <a:spcPts val="1200"/>
              </a:spcAft>
              <a:buNone/>
            </a:pPr>
            <a:endParaRPr lang="en-US" sz="1100" b="1" i="0" dirty="0">
              <a:solidFill>
                <a:schemeClr val="tx1">
                  <a:lumMod val="50000"/>
                </a:schemeClr>
              </a:solidFill>
              <a:effectLst/>
              <a:latin typeface="Aptos Light" panose="020B0004020202020204" pitchFamily="34" charset="0"/>
            </a:endParaRPr>
          </a:p>
          <a:p>
            <a:pPr algn="l">
              <a:spcAft>
                <a:spcPts val="1200"/>
              </a:spcAft>
              <a:buNone/>
            </a:pPr>
            <a:r>
              <a:rPr lang="en-US" sz="1100" b="1" i="0" dirty="0">
                <a:solidFill>
                  <a:schemeClr val="tx1">
                    <a:lumMod val="50000"/>
                  </a:schemeClr>
                </a:solidFill>
                <a:effectLst/>
                <a:latin typeface="Aptos Light" panose="020B0004020202020204" pitchFamily="34" charset="0"/>
              </a:rPr>
              <a:t>Consultancy Partnership Advantages for BNZ:</a:t>
            </a:r>
            <a:endParaRPr lang="en-US" sz="1100" b="0" i="0" dirty="0">
              <a:solidFill>
                <a:schemeClr val="tx1">
                  <a:lumMod val="50000"/>
                </a:schemeClr>
              </a:solidFill>
              <a:effectLst/>
              <a:latin typeface="Aptos Light" panose="020B0004020202020204" pitchFamily="34" charset="0"/>
            </a:endParaRPr>
          </a:p>
          <a:p>
            <a:pPr marL="228600" indent="-228600" algn="l">
              <a:buFont typeface="+mj-lt"/>
              <a:buAutoNum type="arabicPeriod"/>
            </a:pPr>
            <a:r>
              <a:rPr lang="en-US" sz="1100" b="1" i="0" dirty="0">
                <a:solidFill>
                  <a:schemeClr val="tx1">
                    <a:lumMod val="50000"/>
                  </a:schemeClr>
                </a:solidFill>
                <a:effectLst/>
                <a:latin typeface="Aptos Light" panose="020B0004020202020204" pitchFamily="34" charset="0"/>
              </a:rPr>
              <a:t>Accelerated Time-to-Value:</a:t>
            </a:r>
            <a:r>
              <a:rPr lang="en-US" sz="1100" b="0" i="0" dirty="0">
                <a:solidFill>
                  <a:schemeClr val="tx1">
                    <a:lumMod val="50000"/>
                  </a:schemeClr>
                </a:solidFill>
                <a:effectLst/>
                <a:latin typeface="Aptos Light" panose="020B0004020202020204" pitchFamily="34" charset="0"/>
              </a:rPr>
              <a:t> Leverage pre-built platforms and frameworks (e.g. Accenture AI Refinery / Distiller).</a:t>
            </a:r>
          </a:p>
          <a:p>
            <a:pPr marL="228600" indent="-228600" algn="l">
              <a:buFont typeface="+mj-lt"/>
              <a:buAutoNum type="arabicPeriod"/>
            </a:pPr>
            <a:r>
              <a:rPr lang="en-US" sz="1100" b="1" i="0" dirty="0">
                <a:solidFill>
                  <a:schemeClr val="tx1">
                    <a:lumMod val="50000"/>
                  </a:schemeClr>
                </a:solidFill>
                <a:effectLst/>
                <a:latin typeface="Aptos Light" panose="020B0004020202020204" pitchFamily="34" charset="0"/>
              </a:rPr>
              <a:t>Access to Global Expertise:</a:t>
            </a:r>
            <a:r>
              <a:rPr lang="en-US" sz="1100" b="0" i="0" dirty="0">
                <a:solidFill>
                  <a:schemeClr val="tx1">
                    <a:lumMod val="50000"/>
                  </a:schemeClr>
                </a:solidFill>
                <a:effectLst/>
                <a:latin typeface="Aptos Light" panose="020B0004020202020204" pitchFamily="34" charset="0"/>
              </a:rPr>
              <a:t> Tap into consultancy global team (e.g. Accenture's 40,000+ AI professionals and banking domain knowledge</a:t>
            </a:r>
            <a:r>
              <a:rPr lang="en-US" sz="1100" dirty="0">
                <a:solidFill>
                  <a:schemeClr val="tx1">
                    <a:lumMod val="50000"/>
                  </a:schemeClr>
                </a:solidFill>
                <a:latin typeface="Aptos Light" panose="020B0004020202020204" pitchFamily="34" charset="0"/>
              </a:rPr>
              <a:t>). </a:t>
            </a:r>
            <a:r>
              <a:rPr lang="en-US" sz="1100">
                <a:solidFill>
                  <a:schemeClr val="tx1">
                    <a:lumMod val="50000"/>
                  </a:schemeClr>
                </a:solidFill>
                <a:latin typeface="Aptos Light" panose="020B0004020202020204" pitchFamily="34" charset="0"/>
              </a:rPr>
              <a:t>However, </a:t>
            </a:r>
            <a:r>
              <a:rPr lang="en-US" sz="1100" b="0" i="0" dirty="0">
                <a:solidFill>
                  <a:schemeClr val="tx1">
                    <a:lumMod val="50000"/>
                  </a:schemeClr>
                </a:solidFill>
                <a:effectLst/>
                <a:latin typeface="Aptos Light" panose="020B0004020202020204" pitchFamily="34" charset="0"/>
              </a:rPr>
              <a:t>given </a:t>
            </a:r>
            <a:r>
              <a:rPr lang="en-US" sz="1100" b="0" i="0">
                <a:solidFill>
                  <a:schemeClr val="tx1">
                    <a:lumMod val="50000"/>
                  </a:schemeClr>
                </a:solidFill>
                <a:effectLst/>
                <a:latin typeface="Aptos Light" panose="020B0004020202020204" pitchFamily="34" charset="0"/>
              </a:rPr>
              <a:t>BNZ’s relatively </a:t>
            </a:r>
            <a:r>
              <a:rPr lang="en-US" sz="1100" b="0" i="0" dirty="0">
                <a:solidFill>
                  <a:schemeClr val="tx1">
                    <a:lumMod val="50000"/>
                  </a:schemeClr>
                </a:solidFill>
                <a:effectLst/>
                <a:latin typeface="Aptos Light" panose="020B0004020202020204" pitchFamily="34" charset="0"/>
              </a:rPr>
              <a:t>small size as </a:t>
            </a:r>
            <a:r>
              <a:rPr lang="en-US" sz="1100" b="0" i="0">
                <a:solidFill>
                  <a:schemeClr val="tx1">
                    <a:lumMod val="50000"/>
                  </a:schemeClr>
                </a:solidFill>
                <a:effectLst/>
                <a:latin typeface="Aptos Light" panose="020B0004020202020204" pitchFamily="34" charset="0"/>
              </a:rPr>
              <a:t>a regional bank, </a:t>
            </a:r>
            <a:r>
              <a:rPr lang="en-US" sz="1100" b="0" i="0" dirty="0">
                <a:solidFill>
                  <a:schemeClr val="tx1">
                    <a:lumMod val="50000"/>
                  </a:schemeClr>
                </a:solidFill>
                <a:effectLst/>
                <a:latin typeface="Aptos Light" panose="020B0004020202020204" pitchFamily="34" charset="0"/>
              </a:rPr>
              <a:t>we may not get the </a:t>
            </a:r>
            <a:r>
              <a:rPr lang="en-US" sz="1100" b="0" i="0">
                <a:solidFill>
                  <a:schemeClr val="tx1">
                    <a:lumMod val="50000"/>
                  </a:schemeClr>
                </a:solidFill>
                <a:effectLst/>
                <a:latin typeface="Aptos Light" panose="020B0004020202020204" pitchFamily="34" charset="0"/>
              </a:rPr>
              <a:t>A team.</a:t>
            </a:r>
            <a:endParaRPr lang="en-US" sz="1100" b="0" i="0" dirty="0">
              <a:solidFill>
                <a:schemeClr val="tx1">
                  <a:lumMod val="50000"/>
                </a:schemeClr>
              </a:solidFill>
              <a:effectLst/>
              <a:latin typeface="Aptos Light" panose="020B0004020202020204" pitchFamily="34" charset="0"/>
            </a:endParaRPr>
          </a:p>
          <a:p>
            <a:pPr marL="228600" indent="-228600" algn="l">
              <a:buFont typeface="+mj-lt"/>
              <a:buAutoNum type="arabicPeriod"/>
            </a:pPr>
            <a:r>
              <a:rPr lang="en-US" sz="1100" b="1" i="0" dirty="0">
                <a:solidFill>
                  <a:schemeClr val="tx1">
                    <a:lumMod val="50000"/>
                  </a:schemeClr>
                </a:solidFill>
                <a:effectLst/>
                <a:latin typeface="Aptos Light" panose="020B0004020202020204" pitchFamily="34" charset="0"/>
              </a:rPr>
              <a:t>Risk Mitigation:</a:t>
            </a:r>
            <a:r>
              <a:rPr lang="en-US" sz="1100" b="0" i="0" dirty="0">
                <a:solidFill>
                  <a:schemeClr val="tx1">
                    <a:lumMod val="50000"/>
                  </a:schemeClr>
                </a:solidFill>
                <a:effectLst/>
                <a:latin typeface="Aptos Light" panose="020B0004020202020204" pitchFamily="34" charset="0"/>
              </a:rPr>
              <a:t> Shared accountability and proven implementation methodologies leveraged from other client engagements.</a:t>
            </a:r>
          </a:p>
          <a:p>
            <a:pPr marL="228600" indent="-228600" algn="l">
              <a:buFont typeface="+mj-lt"/>
              <a:buAutoNum type="arabicPeriod"/>
            </a:pPr>
            <a:r>
              <a:rPr lang="en-US" sz="1100" b="1" i="0" dirty="0">
                <a:solidFill>
                  <a:schemeClr val="tx1">
                    <a:lumMod val="50000"/>
                  </a:schemeClr>
                </a:solidFill>
                <a:effectLst/>
                <a:latin typeface="Aptos Light" panose="020B0004020202020204" pitchFamily="34" charset="0"/>
              </a:rPr>
              <a:t>Cost Efficiency:</a:t>
            </a:r>
            <a:r>
              <a:rPr lang="en-US" sz="1100" b="0" i="0" dirty="0">
                <a:solidFill>
                  <a:schemeClr val="tx1">
                    <a:lumMod val="50000"/>
                  </a:schemeClr>
                </a:solidFill>
                <a:effectLst/>
                <a:latin typeface="Aptos Light" panose="020B0004020202020204" pitchFamily="34" charset="0"/>
              </a:rPr>
              <a:t> Operational expense model vs. large capital investment in uncertain outcomes.</a:t>
            </a:r>
          </a:p>
          <a:p>
            <a:pPr marL="228600" indent="-228600" algn="l">
              <a:buFont typeface="+mj-lt"/>
              <a:buAutoNum type="arabicPeriod"/>
            </a:pPr>
            <a:r>
              <a:rPr lang="en-US" sz="1100" b="1" i="0" dirty="0">
                <a:solidFill>
                  <a:schemeClr val="tx1">
                    <a:lumMod val="50000"/>
                  </a:schemeClr>
                </a:solidFill>
                <a:effectLst/>
                <a:latin typeface="Aptos Light" panose="020B0004020202020204" pitchFamily="34" charset="0"/>
              </a:rPr>
              <a:t>Focus on Core Banking:</a:t>
            </a:r>
            <a:r>
              <a:rPr lang="en-US" sz="1100" b="0" i="0" dirty="0">
                <a:solidFill>
                  <a:schemeClr val="tx1">
                    <a:lumMod val="50000"/>
                  </a:schemeClr>
                </a:solidFill>
                <a:effectLst/>
                <a:latin typeface="Aptos Light" panose="020B0004020202020204" pitchFamily="34" charset="0"/>
              </a:rPr>
              <a:t> Maintain resources for customer-facing innovation, </a:t>
            </a:r>
            <a:r>
              <a:rPr lang="en-US" sz="1100" b="0" i="0" dirty="0" err="1">
                <a:solidFill>
                  <a:schemeClr val="tx1">
                    <a:lumMod val="50000"/>
                  </a:schemeClr>
                </a:solidFill>
                <a:effectLst/>
                <a:latin typeface="Aptos Light" panose="020B0004020202020204" pitchFamily="34" charset="0"/>
              </a:rPr>
              <a:t>modernisation</a:t>
            </a:r>
            <a:r>
              <a:rPr lang="en-US" sz="1100" b="0" i="0" dirty="0">
                <a:solidFill>
                  <a:schemeClr val="tx1">
                    <a:lumMod val="50000"/>
                  </a:schemeClr>
                </a:solidFill>
                <a:effectLst/>
                <a:latin typeface="Aptos Light" panose="020B0004020202020204" pitchFamily="34" charset="0"/>
              </a:rPr>
              <a:t> and regulatory compliance.</a:t>
            </a:r>
          </a:p>
        </p:txBody>
      </p:sp>
      <p:sp>
        <p:nvSpPr>
          <p:cNvPr id="2" name="TextBox 1">
            <a:extLst>
              <a:ext uri="{FF2B5EF4-FFF2-40B4-BE49-F238E27FC236}">
                <a16:creationId xmlns:a16="http://schemas.microsoft.com/office/drawing/2014/main" id="{62D4FF48-6396-0AFA-2CBB-064D026B11F5}"/>
              </a:ext>
            </a:extLst>
          </p:cNvPr>
          <p:cNvSpPr txBox="1"/>
          <p:nvPr/>
        </p:nvSpPr>
        <p:spPr>
          <a:xfrm>
            <a:off x="6519072" y="902061"/>
            <a:ext cx="5406229" cy="3924151"/>
          </a:xfrm>
          <a:prstGeom prst="rect">
            <a:avLst/>
          </a:prstGeom>
          <a:noFill/>
        </p:spPr>
        <p:txBody>
          <a:bodyPr wrap="square">
            <a:spAutoFit/>
          </a:bodyPr>
          <a:lstStyle/>
          <a:p>
            <a:pPr algn="l">
              <a:spcBef>
                <a:spcPts val="1800"/>
              </a:spcBef>
              <a:spcAft>
                <a:spcPts val="1200"/>
              </a:spcAft>
              <a:buNone/>
            </a:pPr>
            <a:r>
              <a:rPr lang="en-US" sz="1100" b="1" i="0" dirty="0">
                <a:solidFill>
                  <a:schemeClr val="tx1">
                    <a:lumMod val="50000"/>
                  </a:schemeClr>
                </a:solidFill>
                <a:effectLst/>
                <a:latin typeface="Aptos Light" panose="020B0004020202020204" pitchFamily="34" charset="0"/>
              </a:rPr>
              <a:t>Recommended Strategic Approach for BNZ</a:t>
            </a:r>
          </a:p>
          <a:p>
            <a:pPr algn="l">
              <a:spcAft>
                <a:spcPts val="1200"/>
              </a:spcAft>
              <a:buNone/>
            </a:pPr>
            <a:r>
              <a:rPr lang="en-US" sz="1100" b="1" i="0" dirty="0">
                <a:solidFill>
                  <a:schemeClr val="tx1">
                    <a:lumMod val="50000"/>
                  </a:schemeClr>
                </a:solidFill>
                <a:effectLst/>
                <a:latin typeface="Aptos Light" panose="020B0004020202020204" pitchFamily="34" charset="0"/>
              </a:rPr>
              <a:t>Phase 1: Partnership-Led Foundation (0-18 months)</a:t>
            </a:r>
            <a:endParaRPr lang="en-US" sz="1100" b="0" i="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US" sz="1100" b="0" i="0" dirty="0">
                <a:solidFill>
                  <a:schemeClr val="tx1">
                    <a:lumMod val="50000"/>
                  </a:schemeClr>
                </a:solidFill>
                <a:effectLst/>
                <a:latin typeface="Aptos Light" panose="020B0004020202020204" pitchFamily="34" charset="0"/>
              </a:rPr>
              <a:t>Engage a consultancy (e.g. Accenture) with a proven platform  (e.g.  AI Refinery) to provide foundational platform capabilities.</a:t>
            </a:r>
          </a:p>
          <a:p>
            <a:pPr marL="171450" indent="-171450" algn="l">
              <a:buFont typeface="Arial" panose="020B0604020202020204" pitchFamily="34" charset="0"/>
              <a:buChar char="•"/>
            </a:pPr>
            <a:r>
              <a:rPr lang="en-US" sz="1100" b="0" i="0" dirty="0">
                <a:solidFill>
                  <a:schemeClr val="tx1">
                    <a:lumMod val="50000"/>
                  </a:schemeClr>
                </a:solidFill>
                <a:effectLst/>
                <a:latin typeface="Aptos Light" panose="020B0004020202020204" pitchFamily="34" charset="0"/>
              </a:rPr>
              <a:t>Focus on high-impact, low-risk use cases.</a:t>
            </a:r>
          </a:p>
          <a:p>
            <a:pPr marL="171450" indent="-171450" algn="l">
              <a:buFont typeface="Arial" panose="020B0604020202020204" pitchFamily="34" charset="0"/>
              <a:buChar char="•"/>
            </a:pPr>
            <a:r>
              <a:rPr lang="en-US" sz="1100" b="0" i="0" dirty="0">
                <a:solidFill>
                  <a:schemeClr val="tx1">
                    <a:lumMod val="50000"/>
                  </a:schemeClr>
                </a:solidFill>
                <a:effectLst/>
                <a:latin typeface="Aptos Light" panose="020B0004020202020204" pitchFamily="34" charset="0"/>
              </a:rPr>
              <a:t>Build internal AI governance and risk management capabilities.</a:t>
            </a:r>
          </a:p>
          <a:p>
            <a:pPr marL="171450" indent="-171450" algn="l">
              <a:buFont typeface="Arial" panose="020B0604020202020204" pitchFamily="34" charset="0"/>
              <a:buChar char="•"/>
            </a:pPr>
            <a:r>
              <a:rPr lang="en-US" sz="1100" b="0" i="0" dirty="0">
                <a:solidFill>
                  <a:schemeClr val="tx1">
                    <a:lumMod val="50000"/>
                  </a:schemeClr>
                </a:solidFill>
                <a:effectLst/>
                <a:latin typeface="Aptos Light" panose="020B0004020202020204" pitchFamily="34" charset="0"/>
              </a:rPr>
              <a:t>Develop strategic partnership management expertise.</a:t>
            </a:r>
          </a:p>
          <a:p>
            <a:pPr algn="l">
              <a:buFont typeface="Arial" panose="020B0604020202020204" pitchFamily="34" charset="0"/>
              <a:buChar char="•"/>
            </a:pPr>
            <a:endParaRPr lang="en-US" sz="1100" b="0" i="0" dirty="0">
              <a:solidFill>
                <a:schemeClr val="tx1">
                  <a:lumMod val="50000"/>
                </a:schemeClr>
              </a:solidFill>
              <a:effectLst/>
              <a:latin typeface="Aptos Light" panose="020B0004020202020204" pitchFamily="34" charset="0"/>
            </a:endParaRPr>
          </a:p>
          <a:p>
            <a:pPr algn="l">
              <a:spcAft>
                <a:spcPts val="1200"/>
              </a:spcAft>
              <a:buNone/>
            </a:pPr>
            <a:r>
              <a:rPr lang="en-US" sz="1100" b="1" i="0" dirty="0">
                <a:solidFill>
                  <a:schemeClr val="tx1">
                    <a:lumMod val="50000"/>
                  </a:schemeClr>
                </a:solidFill>
                <a:effectLst/>
                <a:latin typeface="Aptos Light" panose="020B0004020202020204" pitchFamily="34" charset="0"/>
              </a:rPr>
              <a:t>Phase 2: Selective Internalization (18-36 months)</a:t>
            </a:r>
            <a:endParaRPr lang="en-US" sz="1100" b="0" i="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US" sz="1100" b="0" i="0" dirty="0">
                <a:solidFill>
                  <a:schemeClr val="tx1">
                    <a:lumMod val="50000"/>
                  </a:schemeClr>
                </a:solidFill>
                <a:effectLst/>
                <a:latin typeface="Aptos Light" panose="020B0004020202020204" pitchFamily="34" charset="0"/>
              </a:rPr>
              <a:t>Evaluate specific capabilities for potential internalization based on business criticality.</a:t>
            </a:r>
          </a:p>
          <a:p>
            <a:pPr marL="171450" indent="-171450" algn="l">
              <a:buFont typeface="Arial" panose="020B0604020202020204" pitchFamily="34" charset="0"/>
              <a:buChar char="•"/>
            </a:pPr>
            <a:r>
              <a:rPr lang="en-US" sz="1100" b="0" i="0" dirty="0">
                <a:solidFill>
                  <a:schemeClr val="tx1">
                    <a:lumMod val="50000"/>
                  </a:schemeClr>
                </a:solidFill>
                <a:effectLst/>
                <a:latin typeface="Aptos Light" panose="020B0004020202020204" pitchFamily="34" charset="0"/>
              </a:rPr>
              <a:t>Maintain partnership for complex, rapidly-evolving AI technologies.</a:t>
            </a:r>
          </a:p>
          <a:p>
            <a:pPr marL="171450" indent="-171450" algn="l">
              <a:buFont typeface="Arial" panose="020B0604020202020204" pitchFamily="34" charset="0"/>
              <a:buChar char="•"/>
            </a:pPr>
            <a:r>
              <a:rPr lang="en-US" sz="1100" b="0" i="0" dirty="0">
                <a:solidFill>
                  <a:schemeClr val="tx1">
                    <a:lumMod val="50000"/>
                  </a:schemeClr>
                </a:solidFill>
                <a:effectLst/>
                <a:latin typeface="Aptos Light" panose="020B0004020202020204" pitchFamily="34" charset="0"/>
              </a:rPr>
              <a:t>Build internal product management and integration capabilities.</a:t>
            </a:r>
          </a:p>
          <a:p>
            <a:pPr marL="171450" indent="-171450" algn="l">
              <a:buFont typeface="Arial" panose="020B0604020202020204" pitchFamily="34" charset="0"/>
              <a:buChar char="•"/>
            </a:pPr>
            <a:r>
              <a:rPr lang="en-US" sz="1100" b="0" i="0" dirty="0">
                <a:solidFill>
                  <a:schemeClr val="tx1">
                    <a:lumMod val="50000"/>
                  </a:schemeClr>
                </a:solidFill>
                <a:effectLst/>
                <a:latin typeface="Aptos Light" panose="020B0004020202020204" pitchFamily="34" charset="0"/>
              </a:rPr>
              <a:t>Develop vendor management strategies for AI ecosystem.</a:t>
            </a:r>
          </a:p>
          <a:p>
            <a:pPr algn="l">
              <a:buFont typeface="Arial" panose="020B0604020202020204" pitchFamily="34" charset="0"/>
              <a:buChar char="•"/>
            </a:pPr>
            <a:endParaRPr lang="en-US" sz="1100" b="0" i="0" dirty="0">
              <a:solidFill>
                <a:schemeClr val="tx1">
                  <a:lumMod val="50000"/>
                </a:schemeClr>
              </a:solidFill>
              <a:effectLst/>
              <a:latin typeface="Aptos Light" panose="020B0004020202020204" pitchFamily="34" charset="0"/>
            </a:endParaRPr>
          </a:p>
          <a:p>
            <a:pPr algn="l">
              <a:spcAft>
                <a:spcPts val="1200"/>
              </a:spcAft>
              <a:buNone/>
            </a:pPr>
            <a:r>
              <a:rPr lang="en-US" sz="1100" b="1" i="0" dirty="0">
                <a:solidFill>
                  <a:schemeClr val="tx1">
                    <a:lumMod val="50000"/>
                  </a:schemeClr>
                </a:solidFill>
                <a:effectLst/>
                <a:latin typeface="Aptos Light" panose="020B0004020202020204" pitchFamily="34" charset="0"/>
              </a:rPr>
              <a:t>Phase 3: Hybrid Optimization (36+ months)</a:t>
            </a:r>
            <a:endParaRPr lang="en-US" sz="1100" b="0" i="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US" sz="1100" b="0" i="0" dirty="0">
                <a:solidFill>
                  <a:schemeClr val="tx1">
                    <a:lumMod val="50000"/>
                  </a:schemeClr>
                </a:solidFill>
                <a:effectLst/>
                <a:latin typeface="Aptos Light" panose="020B0004020202020204" pitchFamily="34" charset="0"/>
              </a:rPr>
              <a:t>Balance internal capabilities with strategic partnerships.</a:t>
            </a:r>
          </a:p>
          <a:p>
            <a:pPr marL="171450" indent="-171450" algn="l">
              <a:buFont typeface="Arial" panose="020B0604020202020204" pitchFamily="34" charset="0"/>
              <a:buChar char="•"/>
            </a:pPr>
            <a:r>
              <a:rPr lang="en-US" sz="1100" b="0" i="0" dirty="0">
                <a:solidFill>
                  <a:schemeClr val="tx1">
                    <a:lumMod val="50000"/>
                  </a:schemeClr>
                </a:solidFill>
                <a:effectLst/>
                <a:latin typeface="Aptos Light" panose="020B0004020202020204" pitchFamily="34" charset="0"/>
              </a:rPr>
              <a:t>Selective build decisions for banking-specific, competitive-advantage use cases.</a:t>
            </a:r>
          </a:p>
          <a:p>
            <a:pPr marL="171450" indent="-171450" algn="l">
              <a:buFont typeface="Arial" panose="020B0604020202020204" pitchFamily="34" charset="0"/>
              <a:buChar char="•"/>
            </a:pPr>
            <a:r>
              <a:rPr lang="en-US" sz="1100" b="0" i="0" dirty="0">
                <a:solidFill>
                  <a:schemeClr val="tx1">
                    <a:lumMod val="50000"/>
                  </a:schemeClr>
                </a:solidFill>
                <a:effectLst/>
                <a:latin typeface="Aptos Light" panose="020B0004020202020204" pitchFamily="34" charset="0"/>
              </a:rPr>
              <a:t>Maintain partnerships for infrastructure, platforms, and emerging technologies.</a:t>
            </a:r>
          </a:p>
          <a:p>
            <a:pPr marL="171450" indent="-171450" algn="l">
              <a:buFont typeface="Arial" panose="020B0604020202020204" pitchFamily="34" charset="0"/>
              <a:buChar char="•"/>
            </a:pPr>
            <a:r>
              <a:rPr lang="en-US" sz="1100" b="0" i="0" dirty="0">
                <a:solidFill>
                  <a:schemeClr val="tx1">
                    <a:lumMod val="50000"/>
                  </a:schemeClr>
                </a:solidFill>
                <a:effectLst/>
                <a:latin typeface="Aptos Light" panose="020B0004020202020204" pitchFamily="34" charset="0"/>
              </a:rPr>
              <a:t>Focus internal efforts on customer experience and banking domain expertise.</a:t>
            </a:r>
          </a:p>
        </p:txBody>
      </p:sp>
    </p:spTree>
    <p:extLst>
      <p:ext uri="{BB962C8B-B14F-4D97-AF65-F5344CB8AC3E}">
        <p14:creationId xmlns:p14="http://schemas.microsoft.com/office/powerpoint/2010/main" val="3220361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FEC8F7-5F3A-CEE1-AB0E-EEA2356DA709}"/>
              </a:ext>
            </a:extLst>
          </p:cNvPr>
          <p:cNvSpPr>
            <a:spLocks noGrp="1"/>
          </p:cNvSpPr>
          <p:nvPr>
            <p:ph type="title"/>
          </p:nvPr>
        </p:nvSpPr>
        <p:spPr>
          <a:xfrm>
            <a:off x="249240" y="191313"/>
            <a:ext cx="10512424" cy="502605"/>
          </a:xfrm>
        </p:spPr>
        <p:txBody>
          <a:bodyPr/>
          <a:lstStyle/>
          <a:p>
            <a:r>
              <a:rPr lang="en-NZ" dirty="0"/>
              <a:t>Accenture AI Capabilities and Strategic Investment</a:t>
            </a:r>
          </a:p>
        </p:txBody>
      </p:sp>
      <p:sp>
        <p:nvSpPr>
          <p:cNvPr id="6" name="TextBox 5">
            <a:extLst>
              <a:ext uri="{FF2B5EF4-FFF2-40B4-BE49-F238E27FC236}">
                <a16:creationId xmlns:a16="http://schemas.microsoft.com/office/drawing/2014/main" id="{9FF60551-B87D-6100-BE65-ECE73C888442}"/>
              </a:ext>
            </a:extLst>
          </p:cNvPr>
          <p:cNvSpPr txBox="1"/>
          <p:nvPr/>
        </p:nvSpPr>
        <p:spPr>
          <a:xfrm>
            <a:off x="177803" y="693918"/>
            <a:ext cx="6015830" cy="5632311"/>
          </a:xfrm>
          <a:prstGeom prst="rect">
            <a:avLst/>
          </a:prstGeom>
          <a:noFill/>
        </p:spPr>
        <p:txBody>
          <a:bodyPr wrap="square">
            <a:spAutoFit/>
          </a:bodyPr>
          <a:lstStyle/>
          <a:p>
            <a:pPr algn="l">
              <a:spcAft>
                <a:spcPts val="1200"/>
              </a:spcAft>
              <a:buNone/>
            </a:pPr>
            <a:r>
              <a:rPr lang="en-US" sz="1000" b="1" i="0" dirty="0">
                <a:solidFill>
                  <a:schemeClr val="tx1">
                    <a:lumMod val="50000"/>
                  </a:schemeClr>
                </a:solidFill>
                <a:effectLst/>
                <a:latin typeface="Aptos Light" panose="020B0004020202020204" pitchFamily="34" charset="0"/>
              </a:rPr>
              <a:t>Accenture's AI Platform Approach:</a:t>
            </a:r>
            <a:r>
              <a:rPr lang="en-US" sz="1000" b="0" i="0" dirty="0">
                <a:solidFill>
                  <a:schemeClr val="tx1">
                    <a:lumMod val="50000"/>
                  </a:schemeClr>
                </a:solidFill>
                <a:effectLst/>
                <a:latin typeface="Aptos Light" panose="020B0004020202020204" pitchFamily="34" charset="0"/>
              </a:rPr>
              <a:t> Accenture has positioned itself as a leader in enterprise AI transformation through substantial investments in talent, technology, and industry-specific solutions, making it particularly well-suited for banking partnerships.</a:t>
            </a:r>
          </a:p>
          <a:p>
            <a:pPr algn="l">
              <a:spcAft>
                <a:spcPts val="1200"/>
              </a:spcAft>
              <a:buNone/>
            </a:pPr>
            <a:r>
              <a:rPr lang="en-US" sz="1000" b="1" i="0" dirty="0">
                <a:solidFill>
                  <a:schemeClr val="tx1">
                    <a:lumMod val="50000"/>
                  </a:schemeClr>
                </a:solidFill>
                <a:effectLst/>
                <a:latin typeface="Aptos Light" panose="020B0004020202020204" pitchFamily="34" charset="0"/>
              </a:rPr>
              <a:t>Scale of AI Investment and Capabilities</a:t>
            </a:r>
          </a:p>
          <a:p>
            <a:pPr algn="l">
              <a:spcAft>
                <a:spcPts val="1200"/>
              </a:spcAft>
              <a:buNone/>
            </a:pPr>
            <a:r>
              <a:rPr lang="en-US" sz="1000" b="1" i="0" dirty="0">
                <a:solidFill>
                  <a:schemeClr val="tx1">
                    <a:lumMod val="50000"/>
                  </a:schemeClr>
                </a:solidFill>
                <a:effectLst/>
                <a:latin typeface="Aptos Light" panose="020B0004020202020204" pitchFamily="34" charset="0"/>
              </a:rPr>
              <a:t>Workforce and Investment Scale:</a:t>
            </a:r>
            <a:endParaRPr lang="en-US" sz="1000" b="0" i="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40,000+ Data / AI Professionals</a:t>
            </a:r>
            <a:r>
              <a:rPr lang="en-US" sz="1000" b="0" i="0" dirty="0">
                <a:solidFill>
                  <a:schemeClr val="tx1">
                    <a:lumMod val="50000"/>
                  </a:schemeClr>
                </a:solidFill>
                <a:effectLst/>
                <a:latin typeface="Aptos Light" panose="020B0004020202020204" pitchFamily="34" charset="0"/>
              </a:rPr>
              <a:t> (as of June 2023) across Data &amp; AI practice, with plans to double AI talent to 80,000 by 2026 through hiring, acquisitions and training</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$3 billion investment</a:t>
            </a:r>
            <a:r>
              <a:rPr lang="en-US" sz="1000" b="0" i="0" dirty="0">
                <a:solidFill>
                  <a:schemeClr val="tx1">
                    <a:lumMod val="50000"/>
                  </a:schemeClr>
                </a:solidFill>
                <a:effectLst/>
                <a:latin typeface="Aptos Light" panose="020B0004020202020204" pitchFamily="34" charset="0"/>
              </a:rPr>
              <a:t> over three years (2023-2026) in AI capabilities and talent acquisition</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20,000+ GenAI-proficient staff</a:t>
            </a:r>
            <a:r>
              <a:rPr lang="en-US" sz="1000" b="0" i="0" dirty="0">
                <a:solidFill>
                  <a:schemeClr val="tx1">
                    <a:lumMod val="50000"/>
                  </a:schemeClr>
                </a:solidFill>
                <a:effectLst/>
                <a:latin typeface="Aptos Light" panose="020B0004020202020204" pitchFamily="34" charset="0"/>
              </a:rPr>
              <a:t> in India operations alone as of February 2024</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Significant AI consultancy</a:t>
            </a:r>
            <a:r>
              <a:rPr lang="en-US" sz="1000" b="0" i="0" dirty="0">
                <a:solidFill>
                  <a:schemeClr val="tx1">
                    <a:lumMod val="50000"/>
                  </a:schemeClr>
                </a:solidFill>
                <a:effectLst/>
                <a:latin typeface="Aptos Light" panose="020B0004020202020204" pitchFamily="34" charset="0"/>
              </a:rPr>
              <a:t> booking $2bn of AI-related projects in 2024 by July.</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Banking Domain Expertise</a:t>
            </a:r>
            <a:r>
              <a:rPr lang="en-US" sz="1000" b="0" i="0" dirty="0">
                <a:solidFill>
                  <a:schemeClr val="tx1">
                    <a:lumMod val="50000"/>
                  </a:schemeClr>
                </a:solidFill>
                <a:effectLst/>
                <a:latin typeface="Aptos Light" panose="020B0004020202020204" pitchFamily="34" charset="0"/>
              </a:rPr>
              <a:t>: Extensive financial services practice with regulatory compliance specialization</a:t>
            </a:r>
          </a:p>
          <a:p>
            <a:pPr marL="171450" indent="-171450" algn="l">
              <a:spcAft>
                <a:spcPts val="1200"/>
              </a:spcAft>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Technology Stack and Platforms:</a:t>
            </a:r>
            <a:endParaRPr lang="en-US" sz="1000" b="0" i="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AI Refinery</a:t>
            </a:r>
            <a:r>
              <a:rPr lang="en-US" sz="1000" b="0" i="0" dirty="0">
                <a:solidFill>
                  <a:schemeClr val="tx1">
                    <a:lumMod val="50000"/>
                  </a:schemeClr>
                </a:solidFill>
                <a:effectLst/>
                <a:latin typeface="Aptos Light" panose="020B0004020202020204" pitchFamily="34" charset="0"/>
              </a:rPr>
              <a:t>: Comprehensive platform for enterprise AI transformation with banking-specific modules</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Distiller Framework</a:t>
            </a:r>
            <a:r>
              <a:rPr lang="en-US" sz="1000" b="0" i="0" dirty="0">
                <a:solidFill>
                  <a:schemeClr val="tx1">
                    <a:lumMod val="50000"/>
                  </a:schemeClr>
                </a:solidFill>
                <a:effectLst/>
                <a:latin typeface="Aptos Light" panose="020B0004020202020204" pitchFamily="34" charset="0"/>
              </a:rPr>
              <a:t>: Newly launched agentic AI framework designed for scalable industry solutions (2025)</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Multi-vendor Integration</a:t>
            </a:r>
            <a:r>
              <a:rPr lang="en-US" sz="1000" b="0" i="0" dirty="0">
                <a:solidFill>
                  <a:schemeClr val="tx1">
                    <a:lumMod val="50000"/>
                  </a:schemeClr>
                </a:solidFill>
                <a:effectLst/>
                <a:latin typeface="Aptos Light" panose="020B0004020202020204" pitchFamily="34" charset="0"/>
              </a:rPr>
              <a:t>: Framework-agnostic approach supporting multiple AI platforms and deployment models</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NVIDIA Partnership</a:t>
            </a:r>
            <a:r>
              <a:rPr lang="en-US" sz="1000" b="0" i="0" dirty="0">
                <a:solidFill>
                  <a:schemeClr val="tx1">
                    <a:lumMod val="50000"/>
                  </a:schemeClr>
                </a:solidFill>
                <a:effectLst/>
                <a:latin typeface="Aptos Light" panose="020B0004020202020204" pitchFamily="34" charset="0"/>
              </a:rPr>
              <a:t>: Leveraging NVIDIA AI Enterprise software for advanced capabilities including physical AI</a:t>
            </a:r>
          </a:p>
          <a:p>
            <a:pPr algn="l">
              <a:spcBef>
                <a:spcPts val="600"/>
              </a:spcBef>
              <a:spcAft>
                <a:spcPts val="1200"/>
              </a:spcAft>
              <a:buNone/>
            </a:pPr>
            <a:r>
              <a:rPr lang="en-US" sz="1000" b="1" i="0" dirty="0">
                <a:solidFill>
                  <a:schemeClr val="tx1">
                    <a:lumMod val="50000"/>
                  </a:schemeClr>
                </a:solidFill>
                <a:effectLst/>
                <a:latin typeface="Aptos Light" panose="020B0004020202020204" pitchFamily="34" charset="0"/>
              </a:rPr>
              <a:t>Financial Services Specialization:</a:t>
            </a:r>
            <a:endParaRPr lang="en-US" sz="1000" b="0" i="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Regulatory Compliance Integration</a:t>
            </a:r>
            <a:r>
              <a:rPr lang="en-US" sz="1000" b="0" i="0" dirty="0">
                <a:solidFill>
                  <a:schemeClr val="tx1">
                    <a:lumMod val="50000"/>
                  </a:schemeClr>
                </a:solidFill>
                <a:effectLst/>
                <a:latin typeface="Aptos Light" panose="020B0004020202020204" pitchFamily="34" charset="0"/>
              </a:rPr>
              <a:t>: Built-in frameworks for banking regulations (Basel III, DORA, EU AI Act)</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Risk Management</a:t>
            </a:r>
            <a:r>
              <a:rPr lang="en-US" sz="1000" b="0" i="0" dirty="0">
                <a:solidFill>
                  <a:schemeClr val="tx1">
                    <a:lumMod val="50000"/>
                  </a:schemeClr>
                </a:solidFill>
                <a:effectLst/>
                <a:latin typeface="Aptos Light" panose="020B0004020202020204" pitchFamily="34" charset="0"/>
              </a:rPr>
              <a:t>: Specialized models for credit risk, operational risk, and model validation</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Customer Experience</a:t>
            </a:r>
            <a:r>
              <a:rPr lang="en-US" sz="1000" b="0" i="0" dirty="0">
                <a:solidFill>
                  <a:schemeClr val="tx1">
                    <a:lumMod val="50000"/>
                  </a:schemeClr>
                </a:solidFill>
                <a:effectLst/>
                <a:latin typeface="Aptos Light" panose="020B0004020202020204" pitchFamily="34" charset="0"/>
              </a:rPr>
              <a:t>: Proven implementations in conversational AI, personalization, and fraud detection</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Data Sovereignty</a:t>
            </a:r>
            <a:r>
              <a:rPr lang="en-US" sz="1000" b="0" i="0" dirty="0">
                <a:solidFill>
                  <a:schemeClr val="tx1">
                    <a:lumMod val="50000"/>
                  </a:schemeClr>
                </a:solidFill>
                <a:effectLst/>
                <a:latin typeface="Aptos Light" panose="020B0004020202020204" pitchFamily="34" charset="0"/>
              </a:rPr>
              <a:t>: Flexible deployment across public cloud, private cloud, on-premises, and sovereign infrastructure</a:t>
            </a:r>
          </a:p>
          <a:p>
            <a:pPr algn="l">
              <a:spcBef>
                <a:spcPts val="600"/>
              </a:spcBef>
              <a:spcAft>
                <a:spcPts val="1200"/>
              </a:spcAft>
              <a:buNone/>
            </a:pPr>
            <a:r>
              <a:rPr lang="en-US" sz="1000" b="1" i="0" dirty="0">
                <a:solidFill>
                  <a:schemeClr val="tx1">
                    <a:lumMod val="50000"/>
                  </a:schemeClr>
                </a:solidFill>
                <a:effectLst/>
                <a:latin typeface="Aptos Light" panose="020B0004020202020204" pitchFamily="34" charset="0"/>
              </a:rPr>
              <a:t>Deployment Flexibility:</a:t>
            </a:r>
            <a:endParaRPr lang="en-US" sz="1000" b="0" i="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Multi-Cloud Support</a:t>
            </a:r>
            <a:r>
              <a:rPr lang="en-US" sz="1000" b="0" i="0" dirty="0">
                <a:solidFill>
                  <a:schemeClr val="tx1">
                    <a:lumMod val="50000"/>
                  </a:schemeClr>
                </a:solidFill>
                <a:effectLst/>
                <a:latin typeface="Aptos Light" panose="020B0004020202020204" pitchFamily="34" charset="0"/>
              </a:rPr>
              <a:t>: AWS, Azure, Google Cloud platform integrations</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On-Premises Options</a:t>
            </a:r>
            <a:r>
              <a:rPr lang="en-US" sz="1000" b="0" i="0" dirty="0">
                <a:solidFill>
                  <a:schemeClr val="tx1">
                    <a:lumMod val="50000"/>
                  </a:schemeClr>
                </a:solidFill>
                <a:effectLst/>
                <a:latin typeface="Aptos Light" panose="020B0004020202020204" pitchFamily="34" charset="0"/>
              </a:rPr>
              <a:t>: Self-managed deployments for highly regulated environments</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Hybrid Models</a:t>
            </a:r>
            <a:r>
              <a:rPr lang="en-US" sz="1000" b="0" i="0" dirty="0">
                <a:solidFill>
                  <a:schemeClr val="tx1">
                    <a:lumMod val="50000"/>
                  </a:schemeClr>
                </a:solidFill>
                <a:effectLst/>
                <a:latin typeface="Aptos Light" panose="020B0004020202020204" pitchFamily="34" charset="0"/>
              </a:rPr>
              <a:t>: Seamless integration between cloud and on-premises components</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Regional Data Residency</a:t>
            </a:r>
            <a:r>
              <a:rPr lang="en-US" sz="1000" b="0" i="0" dirty="0">
                <a:solidFill>
                  <a:schemeClr val="tx1">
                    <a:lumMod val="50000"/>
                  </a:schemeClr>
                </a:solidFill>
                <a:effectLst/>
                <a:latin typeface="Aptos Light" panose="020B0004020202020204" pitchFamily="34" charset="0"/>
              </a:rPr>
              <a:t>: Compliance with local data protection requirements</a:t>
            </a:r>
          </a:p>
        </p:txBody>
      </p:sp>
      <p:sp>
        <p:nvSpPr>
          <p:cNvPr id="7" name="TextBox 6">
            <a:extLst>
              <a:ext uri="{FF2B5EF4-FFF2-40B4-BE49-F238E27FC236}">
                <a16:creationId xmlns:a16="http://schemas.microsoft.com/office/drawing/2014/main" id="{4C0A82D5-71AD-CD9C-3B81-F1F6ECB79389}"/>
              </a:ext>
            </a:extLst>
          </p:cNvPr>
          <p:cNvSpPr txBox="1"/>
          <p:nvPr/>
        </p:nvSpPr>
        <p:spPr>
          <a:xfrm>
            <a:off x="6416677" y="693918"/>
            <a:ext cx="5406229" cy="13172837"/>
          </a:xfrm>
          <a:prstGeom prst="rect">
            <a:avLst/>
          </a:prstGeom>
          <a:noFill/>
        </p:spPr>
        <p:txBody>
          <a:bodyPr wrap="square">
            <a:spAutoFit/>
          </a:bodyPr>
          <a:lstStyle/>
          <a:p>
            <a:pPr algn="l">
              <a:spcAft>
                <a:spcPts val="1200"/>
              </a:spcAft>
              <a:buNone/>
            </a:pPr>
            <a:r>
              <a:rPr lang="en-US" sz="1000" b="1" i="0" dirty="0">
                <a:solidFill>
                  <a:schemeClr val="tx1">
                    <a:lumMod val="50000"/>
                  </a:schemeClr>
                </a:solidFill>
                <a:effectLst/>
                <a:latin typeface="Aptos Light" panose="020B0004020202020204" pitchFamily="34" charset="0"/>
              </a:rPr>
              <a:t>Scale of Banking Engagements:</a:t>
            </a:r>
            <a:endParaRPr lang="en-US" sz="1000" b="0" i="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Global Banking Portfolio</a:t>
            </a:r>
            <a:r>
              <a:rPr lang="en-US" sz="1000" b="0" i="0" dirty="0">
                <a:solidFill>
                  <a:schemeClr val="tx1">
                    <a:lumMod val="50000"/>
                  </a:schemeClr>
                </a:solidFill>
                <a:effectLst/>
                <a:latin typeface="Aptos Light" panose="020B0004020202020204" pitchFamily="34" charset="0"/>
              </a:rPr>
              <a:t>: Extensive client base across retail, commercial, and investment banking</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AI Transformation Programs</a:t>
            </a:r>
            <a:r>
              <a:rPr lang="en-US" sz="1000" b="0" i="0" dirty="0">
                <a:solidFill>
                  <a:schemeClr val="tx1">
                    <a:lumMod val="50000"/>
                  </a:schemeClr>
                </a:solidFill>
                <a:effectLst/>
                <a:latin typeface="Aptos Light" panose="020B0004020202020204" pitchFamily="34" charset="0"/>
              </a:rPr>
              <a:t>: End-to-end implementations from strategy through operations</a:t>
            </a:r>
          </a:p>
          <a:p>
            <a:pPr marL="171450" indent="-171450" algn="l">
              <a:buFont typeface="Arial" panose="020B0604020202020204" pitchFamily="34" charset="0"/>
              <a:buChar char="•"/>
            </a:pPr>
            <a:r>
              <a:rPr lang="en-US" sz="1000" b="1" i="0" dirty="0" err="1">
                <a:solidFill>
                  <a:schemeClr val="tx1">
                    <a:lumMod val="50000"/>
                  </a:schemeClr>
                </a:solidFill>
                <a:effectLst/>
                <a:latin typeface="Aptos Light" panose="020B0004020202020204" pitchFamily="34" charset="0"/>
              </a:rPr>
              <a:t>RegTech</a:t>
            </a:r>
            <a:r>
              <a:rPr lang="en-US" sz="1000" b="1" i="0" dirty="0">
                <a:solidFill>
                  <a:schemeClr val="tx1">
                    <a:lumMod val="50000"/>
                  </a:schemeClr>
                </a:solidFill>
                <a:effectLst/>
                <a:latin typeface="Aptos Light" panose="020B0004020202020204" pitchFamily="34" charset="0"/>
              </a:rPr>
              <a:t> Solutions</a:t>
            </a:r>
            <a:r>
              <a:rPr lang="en-US" sz="1000" b="0" i="0" dirty="0">
                <a:solidFill>
                  <a:schemeClr val="tx1">
                    <a:lumMod val="50000"/>
                  </a:schemeClr>
                </a:solidFill>
                <a:effectLst/>
                <a:latin typeface="Aptos Light" panose="020B0004020202020204" pitchFamily="34" charset="0"/>
              </a:rPr>
              <a:t>: Specialized offerings for regulatory reporting and compliance automation</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Innovation Labs</a:t>
            </a:r>
            <a:r>
              <a:rPr lang="en-US" sz="1000" b="0" i="0" dirty="0">
                <a:solidFill>
                  <a:schemeClr val="tx1">
                    <a:lumMod val="50000"/>
                  </a:schemeClr>
                </a:solidFill>
                <a:effectLst/>
                <a:latin typeface="Aptos Light" panose="020B0004020202020204" pitchFamily="34" charset="0"/>
              </a:rPr>
              <a:t>: Collaborative development environments for proof-of-concept and pilot programs</a:t>
            </a:r>
          </a:p>
          <a:p>
            <a:pPr algn="l">
              <a:buFont typeface="Arial" panose="020B0604020202020204" pitchFamily="34" charset="0"/>
              <a:buChar char="•"/>
            </a:pPr>
            <a:endParaRPr lang="en-US" sz="1000" b="0" i="0" dirty="0">
              <a:solidFill>
                <a:schemeClr val="tx1">
                  <a:lumMod val="50000"/>
                </a:schemeClr>
              </a:solidFill>
              <a:effectLst/>
              <a:latin typeface="Aptos Light" panose="020B0004020202020204" pitchFamily="34" charset="0"/>
            </a:endParaRPr>
          </a:p>
          <a:p>
            <a:pPr algn="l">
              <a:spcAft>
                <a:spcPts val="1200"/>
              </a:spcAft>
              <a:buNone/>
            </a:pPr>
            <a:r>
              <a:rPr lang="en-US" sz="1000" b="1" i="0" dirty="0">
                <a:solidFill>
                  <a:schemeClr val="tx1">
                    <a:lumMod val="50000"/>
                  </a:schemeClr>
                </a:solidFill>
                <a:effectLst/>
                <a:latin typeface="Aptos Light" panose="020B0004020202020204" pitchFamily="34" charset="0"/>
              </a:rPr>
              <a:t>Partnership Model Advantages:</a:t>
            </a:r>
            <a:endParaRPr lang="en-US" sz="1000" b="0" i="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Risk Sharing</a:t>
            </a:r>
            <a:r>
              <a:rPr lang="en-US" sz="1000" b="0" i="0" dirty="0">
                <a:solidFill>
                  <a:schemeClr val="tx1">
                    <a:lumMod val="50000"/>
                  </a:schemeClr>
                </a:solidFill>
                <a:effectLst/>
                <a:latin typeface="Aptos Light" panose="020B0004020202020204" pitchFamily="34" charset="0"/>
              </a:rPr>
              <a:t>: Shared accountability for AI implementation success</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Accelerated Delivery</a:t>
            </a:r>
            <a:r>
              <a:rPr lang="en-US" sz="1000" b="0" i="0" dirty="0">
                <a:solidFill>
                  <a:schemeClr val="tx1">
                    <a:lumMod val="50000"/>
                  </a:schemeClr>
                </a:solidFill>
                <a:effectLst/>
                <a:latin typeface="Aptos Light" panose="020B0004020202020204" pitchFamily="34" charset="0"/>
              </a:rPr>
              <a:t>: Pre-built frameworks reduce implementation timelines from years to months</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Global Best Practices</a:t>
            </a:r>
            <a:r>
              <a:rPr lang="en-US" sz="1000" b="0" i="0" dirty="0">
                <a:solidFill>
                  <a:schemeClr val="tx1">
                    <a:lumMod val="50000"/>
                  </a:schemeClr>
                </a:solidFill>
                <a:effectLst/>
                <a:latin typeface="Aptos Light" panose="020B0004020202020204" pitchFamily="34" charset="0"/>
              </a:rPr>
              <a:t>: Access to cross-industry AI implementations and lessons learned</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Continuous Innovation</a:t>
            </a:r>
            <a:r>
              <a:rPr lang="en-US" sz="1000" b="0" i="0" dirty="0">
                <a:solidFill>
                  <a:schemeClr val="tx1">
                    <a:lumMod val="50000"/>
                  </a:schemeClr>
                </a:solidFill>
                <a:effectLst/>
                <a:latin typeface="Aptos Light" panose="020B0004020202020204" pitchFamily="34" charset="0"/>
              </a:rPr>
              <a:t>: Ongoing platform evolution through R&amp;D investment and client feedback</a:t>
            </a:r>
          </a:p>
          <a:p>
            <a:pPr algn="l">
              <a:spcBef>
                <a:spcPts val="600"/>
              </a:spcBef>
              <a:spcAft>
                <a:spcPts val="1200"/>
              </a:spcAft>
              <a:buNone/>
            </a:pPr>
            <a:r>
              <a:rPr lang="en-US" sz="1000" b="1" i="0" dirty="0">
                <a:solidFill>
                  <a:schemeClr val="tx1">
                    <a:lumMod val="50000"/>
                  </a:schemeClr>
                </a:solidFill>
                <a:effectLst/>
                <a:latin typeface="Aptos Light" panose="020B0004020202020204" pitchFamily="34" charset="0"/>
              </a:rPr>
              <a:t>Alignment with BNZ Requirements:</a:t>
            </a:r>
            <a:endParaRPr lang="en-US" sz="1000" b="0" i="0" dirty="0">
              <a:solidFill>
                <a:schemeClr val="tx1">
                  <a:lumMod val="50000"/>
                </a:schemeClr>
              </a:solidFill>
              <a:effectLst/>
              <a:latin typeface="Aptos Light" panose="020B0004020202020204" pitchFamily="34" charset="0"/>
            </a:endParaRP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Scale Match</a:t>
            </a:r>
            <a:r>
              <a:rPr lang="en-US" sz="1000" b="0" i="0" dirty="0">
                <a:solidFill>
                  <a:schemeClr val="tx1">
                    <a:lumMod val="50000"/>
                  </a:schemeClr>
                </a:solidFill>
                <a:effectLst/>
                <a:latin typeface="Aptos Light" panose="020B0004020202020204" pitchFamily="34" charset="0"/>
              </a:rPr>
              <a:t>: Mid-tier banks (like BNZ) represent optimal partnership targets - sufficient complexity to justify enterprise AI but manageable scope for focused implementation</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Regional Expertise</a:t>
            </a:r>
            <a:r>
              <a:rPr lang="en-US" sz="1000" b="0" i="0" dirty="0">
                <a:solidFill>
                  <a:schemeClr val="tx1">
                    <a:lumMod val="50000"/>
                  </a:schemeClr>
                </a:solidFill>
                <a:effectLst/>
                <a:latin typeface="Aptos Light" panose="020B0004020202020204" pitchFamily="34" charset="0"/>
              </a:rPr>
              <a:t>: Strong presence in Asia-Pacific with understanding of local regulatory environments</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Partnership Philosophy</a:t>
            </a:r>
            <a:r>
              <a:rPr lang="en-US" sz="1000" b="0" i="0" dirty="0">
                <a:solidFill>
                  <a:schemeClr val="tx1">
                    <a:lumMod val="50000"/>
                  </a:schemeClr>
                </a:solidFill>
                <a:effectLst/>
                <a:latin typeface="Aptos Light" panose="020B0004020202020204" pitchFamily="34" charset="0"/>
              </a:rPr>
              <a:t>: Emphasis on building client capabilities rather than creating dependency</a:t>
            </a:r>
          </a:p>
          <a:p>
            <a:pPr marL="171450" indent="-171450"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Technology Transfer</a:t>
            </a:r>
            <a:r>
              <a:rPr lang="en-US" sz="1000" b="0" i="0" dirty="0">
                <a:solidFill>
                  <a:schemeClr val="tx1">
                    <a:lumMod val="50000"/>
                  </a:schemeClr>
                </a:solidFill>
                <a:effectLst/>
                <a:latin typeface="Aptos Light" panose="020B0004020202020204" pitchFamily="34" charset="0"/>
              </a:rPr>
              <a:t>: Commitment to developing internal client AI literacy alongside platform implementation</a:t>
            </a:r>
          </a:p>
          <a:p>
            <a:pPr algn="l">
              <a:buFont typeface="Arial" panose="020B0604020202020204" pitchFamily="34" charset="0"/>
              <a:buChar char="•"/>
            </a:pPr>
            <a:endParaRPr lang="en-US" sz="1000" b="0" i="0" dirty="0">
              <a:solidFill>
                <a:schemeClr val="tx1">
                  <a:lumMod val="50000"/>
                </a:schemeClr>
              </a:solidFill>
              <a:effectLst/>
              <a:latin typeface="Aptos Light" panose="020B0004020202020204" pitchFamily="34" charset="0"/>
            </a:endParaRPr>
          </a:p>
          <a:p>
            <a:pPr algn="l">
              <a:spcAft>
                <a:spcPts val="1200"/>
              </a:spcAft>
              <a:buNone/>
            </a:pPr>
            <a:r>
              <a:rPr lang="en-US" sz="1000" b="1" i="0" dirty="0">
                <a:solidFill>
                  <a:schemeClr val="tx1">
                    <a:lumMod val="50000"/>
                  </a:schemeClr>
                </a:solidFill>
                <a:effectLst/>
                <a:latin typeface="Aptos Light" panose="020B0004020202020204" pitchFamily="34" charset="0"/>
              </a:rPr>
              <a:t>Competitive Differentiation:</a:t>
            </a:r>
            <a:endParaRPr lang="en-US" sz="1000" b="0" i="0" dirty="0">
              <a:solidFill>
                <a:schemeClr val="tx1">
                  <a:lumMod val="50000"/>
                </a:schemeClr>
              </a:solidFill>
              <a:effectLst/>
              <a:latin typeface="Aptos Light" panose="020B0004020202020204" pitchFamily="34" charset="0"/>
            </a:endParaRPr>
          </a:p>
          <a:p>
            <a:pPr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Banking Focus</a:t>
            </a:r>
            <a:r>
              <a:rPr lang="en-US" sz="1000" b="0" i="0" dirty="0">
                <a:solidFill>
                  <a:schemeClr val="tx1">
                    <a:lumMod val="50000"/>
                  </a:schemeClr>
                </a:solidFill>
                <a:effectLst/>
                <a:latin typeface="Aptos Light" panose="020B0004020202020204" pitchFamily="34" charset="0"/>
              </a:rPr>
              <a:t>: Industry-specific solutions vs. generic enterprise AI platforms</a:t>
            </a:r>
          </a:p>
          <a:p>
            <a:pPr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Full-Service Model</a:t>
            </a:r>
            <a:r>
              <a:rPr lang="en-US" sz="1000" b="0" i="0" dirty="0">
                <a:solidFill>
                  <a:schemeClr val="tx1">
                    <a:lumMod val="50000"/>
                  </a:schemeClr>
                </a:solidFill>
                <a:effectLst/>
                <a:latin typeface="Aptos Light" panose="020B0004020202020204" pitchFamily="34" charset="0"/>
              </a:rPr>
              <a:t>: Strategy, implementation, and operations support vs. technology-only vendors</a:t>
            </a:r>
          </a:p>
          <a:p>
            <a:pPr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Global Scale with Local Delivery</a:t>
            </a:r>
            <a:r>
              <a:rPr lang="en-US" sz="1000" b="0" i="0" dirty="0">
                <a:solidFill>
                  <a:schemeClr val="tx1">
                    <a:lumMod val="50000"/>
                  </a:schemeClr>
                </a:solidFill>
                <a:effectLst/>
                <a:latin typeface="Aptos Light" panose="020B0004020202020204" pitchFamily="34" charset="0"/>
              </a:rPr>
              <a:t>: 40,000+ AI professionals with regional implementation teams</a:t>
            </a:r>
          </a:p>
          <a:p>
            <a:pPr algn="l">
              <a:buFont typeface="Arial" panose="020B0604020202020204" pitchFamily="34" charset="0"/>
              <a:buChar char="•"/>
            </a:pPr>
            <a:r>
              <a:rPr lang="en-US" sz="1000" b="1" i="0" dirty="0">
                <a:solidFill>
                  <a:schemeClr val="tx1">
                    <a:lumMod val="50000"/>
                  </a:schemeClr>
                </a:solidFill>
                <a:effectLst/>
                <a:latin typeface="Aptos Light" panose="020B0004020202020204" pitchFamily="34" charset="0"/>
              </a:rPr>
              <a:t>Proven ROI</a:t>
            </a:r>
            <a:r>
              <a:rPr lang="en-US" sz="1000" b="0" i="0" dirty="0">
                <a:solidFill>
                  <a:schemeClr val="tx1">
                    <a:lumMod val="50000"/>
                  </a:schemeClr>
                </a:solidFill>
                <a:effectLst/>
                <a:latin typeface="Aptos Light" panose="020B0004020202020204" pitchFamily="34" charset="0"/>
              </a:rPr>
              <a:t>: Track record of successful AI transformations in comparable banking institutions</a:t>
            </a:r>
          </a:p>
          <a:p>
            <a:pPr algn="l">
              <a:spcAft>
                <a:spcPts val="1200"/>
              </a:spcAft>
              <a:buNone/>
            </a:pPr>
            <a:r>
              <a:rPr lang="en-US" sz="1000" b="0" i="0" dirty="0">
                <a:solidFill>
                  <a:schemeClr val="tx1">
                    <a:lumMod val="50000"/>
                  </a:schemeClr>
                </a:solidFill>
                <a:effectLst/>
                <a:latin typeface="Aptos Light" panose="020B0004020202020204" pitchFamily="34" charset="0"/>
              </a:rPr>
              <a:t>This comprehensive AI capability portfolio positions Accenture as uniquely qualified to support BNZ's agentic AI platform implementation, combining the scale necessary for enterprise transformation with the banking domain expertise required for regulatory compliance and risk management.</a:t>
            </a:r>
          </a:p>
          <a:p>
            <a:pPr algn="l">
              <a:spcBef>
                <a:spcPts val="1800"/>
              </a:spcBef>
              <a:spcAft>
                <a:spcPts val="1200"/>
              </a:spcAft>
              <a:buNone/>
            </a:pPr>
            <a:r>
              <a:rPr lang="en-US" sz="1000" b="1" i="0" dirty="0">
                <a:solidFill>
                  <a:schemeClr val="tx1">
                    <a:lumMod val="50000"/>
                  </a:schemeClr>
                </a:solidFill>
                <a:effectLst/>
                <a:latin typeface="Aptos Light" panose="020B0004020202020204" pitchFamily="34" charset="0"/>
              </a:rPr>
              <a:t>Partnership vs DIY Decision Framework</a:t>
            </a:r>
          </a:p>
          <a:p>
            <a:pPr algn="l">
              <a:spcAft>
                <a:spcPts val="1200"/>
              </a:spcAft>
              <a:buNone/>
            </a:pPr>
            <a:r>
              <a:rPr lang="en-US" sz="1000" b="1" i="0" dirty="0">
                <a:solidFill>
                  <a:schemeClr val="tx1">
                    <a:lumMod val="50000"/>
                  </a:schemeClr>
                </a:solidFill>
                <a:effectLst/>
                <a:latin typeface="Aptos Light" panose="020B0004020202020204" pitchFamily="34" charset="0"/>
              </a:rPr>
              <a:t>DIY Approach Challenges for BNZ:</a:t>
            </a:r>
            <a:endParaRPr lang="en-US" sz="1000" b="0" i="0" dirty="0">
              <a:solidFill>
                <a:schemeClr val="tx1">
                  <a:lumMod val="50000"/>
                </a:schemeClr>
              </a:solidFill>
              <a:effectLst/>
              <a:latin typeface="Aptos Light" panose="020B0004020202020204" pitchFamily="34" charset="0"/>
            </a:endParaRPr>
          </a:p>
          <a:p>
            <a:pPr algn="l">
              <a:buFont typeface="+mj-lt"/>
              <a:buAutoNum type="arabicPeriod"/>
            </a:pPr>
            <a:r>
              <a:rPr lang="en-US" sz="1000" b="1" i="0" dirty="0">
                <a:solidFill>
                  <a:schemeClr val="tx1">
                    <a:lumMod val="50000"/>
                  </a:schemeClr>
                </a:solidFill>
                <a:effectLst/>
                <a:latin typeface="Aptos Light" panose="020B0004020202020204" pitchFamily="34" charset="0"/>
              </a:rPr>
              <a:t>Talent Acquisition:</a:t>
            </a:r>
            <a:r>
              <a:rPr lang="en-US" sz="1000" b="0" i="0" dirty="0">
                <a:solidFill>
                  <a:schemeClr val="tx1">
                    <a:lumMod val="50000"/>
                  </a:schemeClr>
                </a:solidFill>
                <a:effectLst/>
                <a:latin typeface="Aptos Light" panose="020B0004020202020204" pitchFamily="34" charset="0"/>
              </a:rPr>
              <a:t> Limited pool of AI experts in New Zealand; competing with global tech companies for scarce talent [²²]</a:t>
            </a:r>
          </a:p>
          <a:p>
            <a:pPr algn="l">
              <a:buFont typeface="+mj-lt"/>
              <a:buAutoNum type="arabicPeriod"/>
            </a:pPr>
            <a:r>
              <a:rPr lang="en-US" sz="1000" b="1" i="0" dirty="0">
                <a:solidFill>
                  <a:schemeClr val="tx1">
                    <a:lumMod val="50000"/>
                  </a:schemeClr>
                </a:solidFill>
                <a:effectLst/>
                <a:latin typeface="Aptos Light" panose="020B0004020202020204" pitchFamily="34" charset="0"/>
              </a:rPr>
              <a:t>Investment Scale:</a:t>
            </a:r>
            <a:r>
              <a:rPr lang="en-US" sz="1000" b="0" i="0" dirty="0">
                <a:solidFill>
                  <a:schemeClr val="tx1">
                    <a:lumMod val="50000"/>
                  </a:schemeClr>
                </a:solidFill>
                <a:effectLst/>
                <a:latin typeface="Aptos Light" panose="020B0004020202020204" pitchFamily="34" charset="0"/>
              </a:rPr>
              <a:t> Would require disproportionate capital allocation (estimated 10-20% of annual technology budget vs. 1-2% for larger banks) [²⁴]</a:t>
            </a:r>
          </a:p>
          <a:p>
            <a:pPr algn="l">
              <a:buFont typeface="+mj-lt"/>
              <a:buAutoNum type="arabicPeriod"/>
            </a:pPr>
            <a:r>
              <a:rPr lang="en-US" sz="1000" b="1" i="0" dirty="0">
                <a:solidFill>
                  <a:schemeClr val="tx1">
                    <a:lumMod val="50000"/>
                  </a:schemeClr>
                </a:solidFill>
                <a:effectLst/>
                <a:latin typeface="Aptos Light" panose="020B0004020202020204" pitchFamily="34" charset="0"/>
              </a:rPr>
              <a:t>Development Timeframe:</a:t>
            </a:r>
            <a:r>
              <a:rPr lang="en-US" sz="1000" b="0" i="0" dirty="0">
                <a:solidFill>
                  <a:schemeClr val="tx1">
                    <a:lumMod val="50000"/>
                  </a:schemeClr>
                </a:solidFill>
                <a:effectLst/>
                <a:latin typeface="Aptos Light" panose="020B0004020202020204" pitchFamily="34" charset="0"/>
              </a:rPr>
              <a:t> 3-5 years to build internal capability vs. 6-18 months with partnership.</a:t>
            </a:r>
          </a:p>
          <a:p>
            <a:pPr algn="l">
              <a:buFont typeface="+mj-lt"/>
              <a:buAutoNum type="arabicPeriod"/>
            </a:pPr>
            <a:r>
              <a:rPr lang="en-US" sz="1000" b="1" i="0" dirty="0">
                <a:solidFill>
                  <a:schemeClr val="tx1">
                    <a:lumMod val="50000"/>
                  </a:schemeClr>
                </a:solidFill>
                <a:effectLst/>
                <a:latin typeface="Aptos Light" panose="020B0004020202020204" pitchFamily="34" charset="0"/>
              </a:rPr>
              <a:t>Opportunity Cost:</a:t>
            </a:r>
            <a:r>
              <a:rPr lang="en-US" sz="1000" b="0" i="0" dirty="0">
                <a:solidFill>
                  <a:schemeClr val="tx1">
                    <a:lumMod val="50000"/>
                  </a:schemeClr>
                </a:solidFill>
                <a:effectLst/>
                <a:latin typeface="Aptos Light" panose="020B0004020202020204" pitchFamily="34" charset="0"/>
              </a:rPr>
              <a:t> Diverts resources from core banking transformation initiatives.</a:t>
            </a:r>
          </a:p>
          <a:p>
            <a:pPr algn="l">
              <a:buFont typeface="+mj-lt"/>
              <a:buAutoNum type="arabicPeriod"/>
            </a:pPr>
            <a:r>
              <a:rPr lang="en-US" sz="1000" b="1" i="0" dirty="0">
                <a:solidFill>
                  <a:schemeClr val="tx1">
                    <a:lumMod val="50000"/>
                  </a:schemeClr>
                </a:solidFill>
                <a:effectLst/>
                <a:latin typeface="Aptos Light" panose="020B0004020202020204" pitchFamily="34" charset="0"/>
              </a:rPr>
              <a:t>Risk Profile:</a:t>
            </a:r>
            <a:r>
              <a:rPr lang="en-US" sz="1000" b="0" i="0" dirty="0">
                <a:solidFill>
                  <a:schemeClr val="tx1">
                    <a:lumMod val="50000"/>
                  </a:schemeClr>
                </a:solidFill>
                <a:effectLst/>
                <a:latin typeface="Aptos Light" panose="020B0004020202020204" pitchFamily="34" charset="0"/>
              </a:rPr>
              <a:t> Higher failure probability without proven AI platform development experience (85% failure rate for internal AI projects without external expertise).</a:t>
            </a:r>
          </a:p>
          <a:p>
            <a:pPr algn="l">
              <a:spcAft>
                <a:spcPts val="1200"/>
              </a:spcAft>
              <a:buNone/>
            </a:pPr>
            <a:r>
              <a:rPr lang="en-US" sz="1000" b="1" i="0" dirty="0">
                <a:solidFill>
                  <a:schemeClr val="tx1">
                    <a:lumMod val="50000"/>
                  </a:schemeClr>
                </a:solidFill>
                <a:effectLst/>
                <a:latin typeface="Aptos Light" panose="020B0004020202020204" pitchFamily="34" charset="0"/>
              </a:rPr>
              <a:t>Consultancy Partnership Advantages for BNZ:</a:t>
            </a:r>
            <a:endParaRPr lang="en-US" sz="1000" b="0" i="0" dirty="0">
              <a:solidFill>
                <a:schemeClr val="tx1">
                  <a:lumMod val="50000"/>
                </a:schemeClr>
              </a:solidFill>
              <a:effectLst/>
              <a:latin typeface="Aptos Light" panose="020B0004020202020204" pitchFamily="34" charset="0"/>
            </a:endParaRPr>
          </a:p>
          <a:p>
            <a:pPr algn="l">
              <a:buFont typeface="+mj-lt"/>
              <a:buAutoNum type="arabicPeriod"/>
            </a:pPr>
            <a:r>
              <a:rPr lang="en-US" sz="1000" b="1" i="0" dirty="0">
                <a:solidFill>
                  <a:schemeClr val="tx1">
                    <a:lumMod val="50000"/>
                  </a:schemeClr>
                </a:solidFill>
                <a:effectLst/>
                <a:latin typeface="Aptos Light" panose="020B0004020202020204" pitchFamily="34" charset="0"/>
              </a:rPr>
              <a:t>Accelerated Time-to-Value:</a:t>
            </a:r>
            <a:r>
              <a:rPr lang="en-US" sz="1000" b="0" i="0" dirty="0">
                <a:solidFill>
                  <a:schemeClr val="tx1">
                    <a:lumMod val="50000"/>
                  </a:schemeClr>
                </a:solidFill>
                <a:effectLst/>
                <a:latin typeface="Aptos Light" panose="020B0004020202020204" pitchFamily="34" charset="0"/>
              </a:rPr>
              <a:t> Leverage pre-built platforms and frameworks (Accenture AI Refinery / Distiller).</a:t>
            </a:r>
          </a:p>
          <a:p>
            <a:pPr algn="l">
              <a:buFont typeface="+mj-lt"/>
              <a:buAutoNum type="arabicPeriod"/>
            </a:pPr>
            <a:r>
              <a:rPr lang="en-US" sz="1000" b="1" i="0" dirty="0">
                <a:solidFill>
                  <a:schemeClr val="tx1">
                    <a:lumMod val="50000"/>
                  </a:schemeClr>
                </a:solidFill>
                <a:effectLst/>
                <a:latin typeface="Aptos Light" panose="020B0004020202020204" pitchFamily="34" charset="0"/>
              </a:rPr>
              <a:t>Access to Global Expertise:</a:t>
            </a:r>
            <a:r>
              <a:rPr lang="en-US" sz="1000" b="0" i="0" dirty="0">
                <a:solidFill>
                  <a:schemeClr val="tx1">
                    <a:lumMod val="50000"/>
                  </a:schemeClr>
                </a:solidFill>
                <a:effectLst/>
                <a:latin typeface="Aptos Light" panose="020B0004020202020204" pitchFamily="34" charset="0"/>
              </a:rPr>
              <a:t> Tap into Accenture's 40,000+ AI professionals[³⁵] and banking domain knowledge.</a:t>
            </a:r>
          </a:p>
          <a:p>
            <a:pPr algn="l">
              <a:buFont typeface="+mj-lt"/>
              <a:buAutoNum type="arabicPeriod"/>
            </a:pPr>
            <a:r>
              <a:rPr lang="en-US" sz="1000" b="1" i="0" dirty="0">
                <a:solidFill>
                  <a:schemeClr val="tx1">
                    <a:lumMod val="50000"/>
                  </a:schemeClr>
                </a:solidFill>
                <a:effectLst/>
                <a:latin typeface="Aptos Light" panose="020B0004020202020204" pitchFamily="34" charset="0"/>
              </a:rPr>
              <a:t>Risk Mitigation:</a:t>
            </a:r>
            <a:r>
              <a:rPr lang="en-US" sz="1000" b="0" i="0" dirty="0">
                <a:solidFill>
                  <a:schemeClr val="tx1">
                    <a:lumMod val="50000"/>
                  </a:schemeClr>
                </a:solidFill>
                <a:effectLst/>
                <a:latin typeface="Aptos Light" panose="020B0004020202020204" pitchFamily="34" charset="0"/>
              </a:rPr>
              <a:t> Shared accountability and proven implementation methodologies.</a:t>
            </a:r>
          </a:p>
          <a:p>
            <a:pPr algn="l">
              <a:buFont typeface="+mj-lt"/>
              <a:buAutoNum type="arabicPeriod"/>
            </a:pPr>
            <a:r>
              <a:rPr lang="en-US" sz="1000" b="1" i="0" dirty="0">
                <a:solidFill>
                  <a:schemeClr val="tx1">
                    <a:lumMod val="50000"/>
                  </a:schemeClr>
                </a:solidFill>
                <a:effectLst/>
                <a:latin typeface="Aptos Light" panose="020B0004020202020204" pitchFamily="34" charset="0"/>
              </a:rPr>
              <a:t>Cost Efficiency:</a:t>
            </a:r>
            <a:r>
              <a:rPr lang="en-US" sz="1000" b="0" i="0" dirty="0">
                <a:solidFill>
                  <a:schemeClr val="tx1">
                    <a:lumMod val="50000"/>
                  </a:schemeClr>
                </a:solidFill>
                <a:effectLst/>
                <a:latin typeface="Aptos Light" panose="020B0004020202020204" pitchFamily="34" charset="0"/>
              </a:rPr>
              <a:t> Operational expense model vs. large capital investment in uncertain outcomes.</a:t>
            </a:r>
          </a:p>
          <a:p>
            <a:pPr algn="l">
              <a:buFont typeface="+mj-lt"/>
              <a:buAutoNum type="arabicPeriod"/>
            </a:pPr>
            <a:r>
              <a:rPr lang="en-US" sz="1000" b="1" i="0" dirty="0">
                <a:solidFill>
                  <a:schemeClr val="tx1">
                    <a:lumMod val="50000"/>
                  </a:schemeClr>
                </a:solidFill>
                <a:effectLst/>
                <a:latin typeface="Aptos Light" panose="020B0004020202020204" pitchFamily="34" charset="0"/>
              </a:rPr>
              <a:t>Focus on Core Banking:</a:t>
            </a:r>
            <a:r>
              <a:rPr lang="en-US" sz="1000" b="0" i="0" dirty="0">
                <a:solidFill>
                  <a:schemeClr val="tx1">
                    <a:lumMod val="50000"/>
                  </a:schemeClr>
                </a:solidFill>
                <a:effectLst/>
                <a:latin typeface="Aptos Light" panose="020B0004020202020204" pitchFamily="34" charset="0"/>
              </a:rPr>
              <a:t> Maintain resources for customer-facing innovation and regulatory compliance.</a:t>
            </a:r>
          </a:p>
          <a:p>
            <a:pPr algn="l">
              <a:spcBef>
                <a:spcPts val="1800"/>
              </a:spcBef>
              <a:spcAft>
                <a:spcPts val="1200"/>
              </a:spcAft>
              <a:buNone/>
            </a:pPr>
            <a:r>
              <a:rPr lang="en-US" sz="1000" b="1" i="0" dirty="0">
                <a:solidFill>
                  <a:schemeClr val="tx1">
                    <a:lumMod val="50000"/>
                  </a:schemeClr>
                </a:solidFill>
                <a:effectLst/>
                <a:latin typeface="Aptos Light" panose="020B0004020202020204" pitchFamily="34" charset="0"/>
              </a:rPr>
              <a:t>Recommended Strategic Approach for BNZ</a:t>
            </a:r>
          </a:p>
          <a:p>
            <a:pPr algn="l">
              <a:spcAft>
                <a:spcPts val="1200"/>
              </a:spcAft>
              <a:buNone/>
            </a:pPr>
            <a:r>
              <a:rPr lang="en-US" sz="1000" b="1" i="0" dirty="0">
                <a:solidFill>
                  <a:schemeClr val="tx1">
                    <a:lumMod val="50000"/>
                  </a:schemeClr>
                </a:solidFill>
                <a:effectLst/>
                <a:latin typeface="Aptos Light" panose="020B0004020202020204" pitchFamily="34" charset="0"/>
              </a:rPr>
              <a:t>Phase 1: Partnership-Led Foundation (0-18 months)</a:t>
            </a:r>
            <a:endParaRPr lang="en-US" sz="1000" b="0" i="0" dirty="0">
              <a:solidFill>
                <a:schemeClr val="tx1">
                  <a:lumMod val="50000"/>
                </a:schemeClr>
              </a:solidFill>
              <a:effectLst/>
              <a:latin typeface="Aptos Light" panose="020B0004020202020204" pitchFamily="34" charset="0"/>
            </a:endParaRPr>
          </a:p>
          <a:p>
            <a:pPr algn="l">
              <a:buFont typeface="Arial" panose="020B0604020202020204" pitchFamily="34" charset="0"/>
              <a:buChar char="•"/>
            </a:pPr>
            <a:r>
              <a:rPr lang="en-US" sz="1000" b="0" i="0" dirty="0">
                <a:solidFill>
                  <a:schemeClr val="tx1">
                    <a:lumMod val="50000"/>
                  </a:schemeClr>
                </a:solidFill>
                <a:effectLst/>
                <a:latin typeface="Aptos Light" panose="020B0004020202020204" pitchFamily="34" charset="0"/>
              </a:rPr>
              <a:t>Engage Accenture AI Refinery for foundational platform capabilities</a:t>
            </a:r>
          </a:p>
          <a:p>
            <a:pPr algn="l">
              <a:buFont typeface="Arial" panose="020B0604020202020204" pitchFamily="34" charset="0"/>
              <a:buChar char="•"/>
            </a:pPr>
            <a:r>
              <a:rPr lang="en-US" sz="1000" b="0" i="0" dirty="0">
                <a:solidFill>
                  <a:schemeClr val="tx1">
                    <a:lumMod val="50000"/>
                  </a:schemeClr>
                </a:solidFill>
                <a:effectLst/>
                <a:latin typeface="Aptos Light" panose="020B0004020202020204" pitchFamily="34" charset="0"/>
              </a:rPr>
              <a:t>Focus on high-impact, low-risk use cases (document processing, customer service)</a:t>
            </a:r>
          </a:p>
          <a:p>
            <a:pPr algn="l">
              <a:buFont typeface="Arial" panose="020B0604020202020204" pitchFamily="34" charset="0"/>
              <a:buChar char="•"/>
            </a:pPr>
            <a:r>
              <a:rPr lang="en-US" sz="1000" b="0" i="0" dirty="0">
                <a:solidFill>
                  <a:schemeClr val="tx1">
                    <a:lumMod val="50000"/>
                  </a:schemeClr>
                </a:solidFill>
                <a:effectLst/>
                <a:latin typeface="Aptos Light" panose="020B0004020202020204" pitchFamily="34" charset="0"/>
              </a:rPr>
              <a:t>Build internal AI governance and risk management capabilities</a:t>
            </a:r>
          </a:p>
          <a:p>
            <a:pPr algn="l">
              <a:buFont typeface="Arial" panose="020B0604020202020204" pitchFamily="34" charset="0"/>
              <a:buChar char="•"/>
            </a:pPr>
            <a:r>
              <a:rPr lang="en-US" sz="1000" b="0" i="0" dirty="0">
                <a:solidFill>
                  <a:schemeClr val="tx1">
                    <a:lumMod val="50000"/>
                  </a:schemeClr>
                </a:solidFill>
                <a:effectLst/>
                <a:latin typeface="Aptos Light" panose="020B0004020202020204" pitchFamily="34" charset="0"/>
              </a:rPr>
              <a:t>Develop strategic partnership management expertise</a:t>
            </a:r>
          </a:p>
          <a:p>
            <a:pPr algn="l">
              <a:spcAft>
                <a:spcPts val="1200"/>
              </a:spcAft>
              <a:buNone/>
            </a:pPr>
            <a:r>
              <a:rPr lang="en-US" sz="1000" b="1" i="0" dirty="0">
                <a:solidFill>
                  <a:schemeClr val="tx1">
                    <a:lumMod val="50000"/>
                  </a:schemeClr>
                </a:solidFill>
                <a:effectLst/>
                <a:latin typeface="Aptos Light" panose="020B0004020202020204" pitchFamily="34" charset="0"/>
              </a:rPr>
              <a:t>Phase 2: Selective Internalization (18-36 months)</a:t>
            </a:r>
            <a:endParaRPr lang="en-US" sz="1000" b="0" i="0" dirty="0">
              <a:solidFill>
                <a:schemeClr val="tx1">
                  <a:lumMod val="50000"/>
                </a:schemeClr>
              </a:solidFill>
              <a:effectLst/>
              <a:latin typeface="Aptos Light" panose="020B0004020202020204" pitchFamily="34" charset="0"/>
            </a:endParaRPr>
          </a:p>
          <a:p>
            <a:pPr algn="l">
              <a:buFont typeface="Arial" panose="020B0604020202020204" pitchFamily="34" charset="0"/>
              <a:buChar char="•"/>
            </a:pPr>
            <a:r>
              <a:rPr lang="en-US" sz="1000" b="0" i="0" dirty="0">
                <a:solidFill>
                  <a:schemeClr val="tx1">
                    <a:lumMod val="50000"/>
                  </a:schemeClr>
                </a:solidFill>
                <a:effectLst/>
                <a:latin typeface="Aptos Light" panose="020B0004020202020204" pitchFamily="34" charset="0"/>
              </a:rPr>
              <a:t>Evaluate specific capabilities for potential internalization based on business criticality</a:t>
            </a:r>
          </a:p>
          <a:p>
            <a:pPr algn="l">
              <a:buFont typeface="Arial" panose="020B0604020202020204" pitchFamily="34" charset="0"/>
              <a:buChar char="•"/>
            </a:pPr>
            <a:r>
              <a:rPr lang="en-US" sz="1000" b="0" i="0" dirty="0">
                <a:solidFill>
                  <a:schemeClr val="tx1">
                    <a:lumMod val="50000"/>
                  </a:schemeClr>
                </a:solidFill>
                <a:effectLst/>
                <a:latin typeface="Aptos Light" panose="020B0004020202020204" pitchFamily="34" charset="0"/>
              </a:rPr>
              <a:t>Maintain partnership for complex, rapidly-evolving AI technologies</a:t>
            </a:r>
          </a:p>
          <a:p>
            <a:pPr algn="l">
              <a:buFont typeface="Arial" panose="020B0604020202020204" pitchFamily="34" charset="0"/>
              <a:buChar char="•"/>
            </a:pPr>
            <a:r>
              <a:rPr lang="en-US" sz="1000" b="0" i="0" dirty="0">
                <a:solidFill>
                  <a:schemeClr val="tx1">
                    <a:lumMod val="50000"/>
                  </a:schemeClr>
                </a:solidFill>
                <a:effectLst/>
                <a:latin typeface="Aptos Light" panose="020B0004020202020204" pitchFamily="34" charset="0"/>
              </a:rPr>
              <a:t>Build internal product management and integration capabilities</a:t>
            </a:r>
          </a:p>
          <a:p>
            <a:pPr algn="l">
              <a:buFont typeface="Arial" panose="020B0604020202020204" pitchFamily="34" charset="0"/>
              <a:buChar char="•"/>
            </a:pPr>
            <a:r>
              <a:rPr lang="en-US" sz="1000" b="0" i="0" dirty="0">
                <a:solidFill>
                  <a:schemeClr val="tx1">
                    <a:lumMod val="50000"/>
                  </a:schemeClr>
                </a:solidFill>
                <a:effectLst/>
                <a:latin typeface="Aptos Light" panose="020B0004020202020204" pitchFamily="34" charset="0"/>
              </a:rPr>
              <a:t>Develop vendor management strategies for AI ecosystem</a:t>
            </a:r>
          </a:p>
          <a:p>
            <a:pPr algn="l">
              <a:spcAft>
                <a:spcPts val="1200"/>
              </a:spcAft>
              <a:buNone/>
            </a:pPr>
            <a:r>
              <a:rPr lang="en-US" sz="1000" b="1" i="0" dirty="0">
                <a:solidFill>
                  <a:schemeClr val="tx1">
                    <a:lumMod val="50000"/>
                  </a:schemeClr>
                </a:solidFill>
                <a:effectLst/>
                <a:latin typeface="Aptos Light" panose="020B0004020202020204" pitchFamily="34" charset="0"/>
              </a:rPr>
              <a:t>Phase 3: Hybrid Optimization (36+ months)</a:t>
            </a:r>
            <a:endParaRPr lang="en-US" sz="1000" b="0" i="0" dirty="0">
              <a:solidFill>
                <a:schemeClr val="tx1">
                  <a:lumMod val="50000"/>
                </a:schemeClr>
              </a:solidFill>
              <a:effectLst/>
              <a:latin typeface="Aptos Light" panose="020B0004020202020204" pitchFamily="34" charset="0"/>
            </a:endParaRPr>
          </a:p>
          <a:p>
            <a:pPr algn="l">
              <a:buFont typeface="Arial" panose="020B0604020202020204" pitchFamily="34" charset="0"/>
              <a:buChar char="•"/>
            </a:pPr>
            <a:r>
              <a:rPr lang="en-US" sz="1000" b="0" i="0" dirty="0">
                <a:solidFill>
                  <a:schemeClr val="tx1">
                    <a:lumMod val="50000"/>
                  </a:schemeClr>
                </a:solidFill>
                <a:effectLst/>
                <a:latin typeface="Aptos Light" panose="020B0004020202020204" pitchFamily="34" charset="0"/>
              </a:rPr>
              <a:t>Balance internal capabilities with strategic partnerships</a:t>
            </a:r>
          </a:p>
          <a:p>
            <a:pPr algn="l">
              <a:buFont typeface="Arial" panose="020B0604020202020204" pitchFamily="34" charset="0"/>
              <a:buChar char="•"/>
            </a:pPr>
            <a:r>
              <a:rPr lang="en-US" sz="1000" b="0" i="0" dirty="0">
                <a:solidFill>
                  <a:schemeClr val="tx1">
                    <a:lumMod val="50000"/>
                  </a:schemeClr>
                </a:solidFill>
                <a:effectLst/>
                <a:latin typeface="Aptos Light" panose="020B0004020202020204" pitchFamily="34" charset="0"/>
              </a:rPr>
              <a:t>Selective build decisions for banking-specific, competitive-advantage use cases</a:t>
            </a:r>
          </a:p>
          <a:p>
            <a:pPr algn="l">
              <a:buFont typeface="Arial" panose="020B0604020202020204" pitchFamily="34" charset="0"/>
              <a:buChar char="•"/>
            </a:pPr>
            <a:r>
              <a:rPr lang="en-US" sz="1000" b="0" i="0" dirty="0">
                <a:solidFill>
                  <a:schemeClr val="tx1">
                    <a:lumMod val="50000"/>
                  </a:schemeClr>
                </a:solidFill>
                <a:effectLst/>
                <a:latin typeface="Aptos Light" panose="020B0004020202020204" pitchFamily="34" charset="0"/>
              </a:rPr>
              <a:t>Maintain partnerships for infrastructure, platforms, and emerging technologies</a:t>
            </a:r>
          </a:p>
          <a:p>
            <a:pPr algn="l">
              <a:buFont typeface="Arial" panose="020B0604020202020204" pitchFamily="34" charset="0"/>
              <a:buChar char="•"/>
            </a:pPr>
            <a:r>
              <a:rPr lang="en-US" sz="1000" b="0" i="0" dirty="0">
                <a:solidFill>
                  <a:schemeClr val="tx1">
                    <a:lumMod val="50000"/>
                  </a:schemeClr>
                </a:solidFill>
                <a:effectLst/>
                <a:latin typeface="Aptos Light" panose="020B0004020202020204" pitchFamily="34" charset="0"/>
              </a:rPr>
              <a:t>Focus internal efforts on customer experience and banking domain expertise</a:t>
            </a:r>
          </a:p>
        </p:txBody>
      </p:sp>
    </p:spTree>
    <p:extLst>
      <p:ext uri="{BB962C8B-B14F-4D97-AF65-F5344CB8AC3E}">
        <p14:creationId xmlns:p14="http://schemas.microsoft.com/office/powerpoint/2010/main" val="2107179771"/>
      </p:ext>
    </p:extLst>
  </p:cSld>
  <p:clrMapOvr>
    <a:masterClrMapping/>
  </p:clrMapOvr>
</p:sld>
</file>

<file path=ppt/theme/theme1.xml><?xml version="1.0" encoding="utf-8"?>
<a:theme xmlns:a="http://schemas.openxmlformats.org/drawingml/2006/main" name="BNZ POWERPOINT TEMPLATE TITLE SLIDES">
  <a:themeElements>
    <a:clrScheme name="Custom 3">
      <a:dk1>
        <a:srgbClr val="002F6B"/>
      </a:dk1>
      <a:lt1>
        <a:srgbClr val="FAA61A"/>
      </a:lt1>
      <a:dk2>
        <a:srgbClr val="FFE500"/>
      </a:dk2>
      <a:lt2>
        <a:srgbClr val="E95160"/>
      </a:lt2>
      <a:accent1>
        <a:srgbClr val="007DC3"/>
      </a:accent1>
      <a:accent2>
        <a:srgbClr val="B5CD71"/>
      </a:accent2>
      <a:accent3>
        <a:srgbClr val="99CAD2"/>
      </a:accent3>
      <a:accent4>
        <a:srgbClr val="ED6B06"/>
      </a:accent4>
      <a:accent5>
        <a:srgbClr val="0B909F"/>
      </a:accent5>
      <a:accent6>
        <a:srgbClr val="5A1E58"/>
      </a:accent6>
      <a:hlink>
        <a:srgbClr val="007DC3"/>
      </a:hlink>
      <a:folHlink>
        <a:srgbClr val="59595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NZ Partners Powerpoint Template PRESENTATION" id="{AC7BB68A-2EFB-4A95-99B5-289DA6F147F6}" vid="{EE926F40-3CF5-48E3-9E6D-EEE78155B9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6C705445D8BB4F8B95CEABD4D3B776" ma:contentTypeVersion="22" ma:contentTypeDescription="Create a new document." ma:contentTypeScope="" ma:versionID="5ee42203fabafafb1d9f6a8664b60be6">
  <xsd:schema xmlns:xsd="http://www.w3.org/2001/XMLSchema" xmlns:xs="http://www.w3.org/2001/XMLSchema" xmlns:p="http://schemas.microsoft.com/office/2006/metadata/properties" xmlns:ns1="http://schemas.microsoft.com/sharepoint/v3" xmlns:ns2="ac12aba4-ac4f-49e7-b449-a8a58dcefcea" xmlns:ns3="4c9fbb4b-1c1e-4c73-bf96-26dac659926c" targetNamespace="http://schemas.microsoft.com/office/2006/metadata/properties" ma:root="true" ma:fieldsID="4f69b25ccd5923eacfdba6fc3e27c9bd" ns1:_="" ns2:_="" ns3:_="">
    <xsd:import namespace="http://schemas.microsoft.com/sharepoint/v3"/>
    <xsd:import namespace="ac12aba4-ac4f-49e7-b449-a8a58dcefcea"/>
    <xsd:import namespace="4c9fbb4b-1c1e-4c73-bf96-26dac659926c"/>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1:_ip_UnifiedCompliancePolicyProperties" minOccurs="0"/>
                <xsd:element ref="ns1:_ip_UnifiedCompliancePolicyUIActio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c12aba4-ac4f-49e7-b449-a8a58dcefc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0e30fd2-a112-4581-92a9-68851288a518"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Status" ma:index="27" nillable="true" ma:displayName="Status" ma:default="DRAFT" ma:format="Dropdown" ma:internalName="Status">
      <xsd:simpleType>
        <xsd:restriction base="dms:Choice">
          <xsd:enumeration value="ENDORSED"/>
          <xsd:enumeration value="DRAFT"/>
        </xsd:restriction>
      </xsd:simpleType>
    </xsd:element>
  </xsd:schema>
  <xsd:schema xmlns:xsd="http://www.w3.org/2001/XMLSchema" xmlns:xs="http://www.w3.org/2001/XMLSchema" xmlns:dms="http://schemas.microsoft.com/office/2006/documentManagement/types" xmlns:pc="http://schemas.microsoft.com/office/infopath/2007/PartnerControls" targetNamespace="4c9fbb4b-1c1e-4c73-bf96-26dac659926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066327f-67b0-47e4-8b07-a567c467af42}" ma:internalName="TaxCatchAll" ma:showField="CatchAllData" ma:web="4c9fbb4b-1c1e-4c73-bf96-26dac659926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c9fbb4b-1c1e-4c73-bf96-26dac659926c" xsi:nil="true"/>
    <lcf76f155ced4ddcb4097134ff3c332f xmlns="ac12aba4-ac4f-49e7-b449-a8a58dcefcea">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Status xmlns="ac12aba4-ac4f-49e7-b449-a8a58dcefcea">ENDORSED</Status>
  </documentManagement>
</p:properties>
</file>

<file path=customXml/itemProps1.xml><?xml version="1.0" encoding="utf-8"?>
<ds:datastoreItem xmlns:ds="http://schemas.openxmlformats.org/officeDocument/2006/customXml" ds:itemID="{E693222D-1F26-4BFB-99D3-9C53D2493CC4}">
  <ds:schemaRefs>
    <ds:schemaRef ds:uri="4c9fbb4b-1c1e-4c73-bf96-26dac659926c"/>
    <ds:schemaRef ds:uri="ac12aba4-ac4f-49e7-b449-a8a58dcefc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9FBB26B-B0A7-4F13-80CE-02523DE07724}">
  <ds:schemaRefs>
    <ds:schemaRef ds:uri="http://schemas.microsoft.com/sharepoint/v3/contenttype/forms"/>
  </ds:schemaRefs>
</ds:datastoreItem>
</file>

<file path=customXml/itemProps3.xml><?xml version="1.0" encoding="utf-8"?>
<ds:datastoreItem xmlns:ds="http://schemas.openxmlformats.org/officeDocument/2006/customXml" ds:itemID="{A5AA2A45-F78F-4084-B341-B95958AE5DCE}">
  <ds:schemaRefs>
    <ds:schemaRef ds:uri="4c9fbb4b-1c1e-4c73-bf96-26dac659926c"/>
    <ds:schemaRef ds:uri="ac12aba4-ac4f-49e7-b449-a8a58dcefc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774</TotalTime>
  <Words>3886</Words>
  <Application>Microsoft Office PowerPoint</Application>
  <PresentationFormat>Widescreen</PresentationFormat>
  <Paragraphs>488</Paragraphs>
  <Slides>17</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Aptos</vt:lpstr>
      <vt:lpstr>Aptos Light</vt:lpstr>
      <vt:lpstr>Arial</vt:lpstr>
      <vt:lpstr>Calibri</vt:lpstr>
      <vt:lpstr>Calibri Light</vt:lpstr>
      <vt:lpstr>Rockwell</vt:lpstr>
      <vt:lpstr>Serrano Bold Italic</vt:lpstr>
      <vt:lpstr>System Font Regular</vt:lpstr>
      <vt:lpstr>Wingdings</vt:lpstr>
      <vt:lpstr>BNZ POWERPOINT TEMPLATE TITLE SLIDES</vt:lpstr>
      <vt:lpstr>Our Agentic AI Strategy  Considering alignment with NAB strategy  August  2025 Dermot O’Brien</vt:lpstr>
      <vt:lpstr>Considering alignment with NAB Agentic AI strategy </vt:lpstr>
      <vt:lpstr>AI Refinery is misaligned with NAB Agentic AI strategy </vt:lpstr>
      <vt:lpstr>Our BNZ design for AI Refinery can accommodate both AI Refinery applications and applications</vt:lpstr>
      <vt:lpstr>PowerPoint Presentation</vt:lpstr>
      <vt:lpstr>PowerPoint Presentation</vt:lpstr>
      <vt:lpstr>Considerations</vt:lpstr>
      <vt:lpstr>References</vt:lpstr>
      <vt:lpstr>AI Refinery Design against NAB  Agentic Framework</vt:lpstr>
      <vt:lpstr>Summary of Findings</vt:lpstr>
      <vt:lpstr>PowerPoint Presentation</vt:lpstr>
      <vt:lpstr>AI Refinery Design Review</vt:lpstr>
      <vt:lpstr>AI Refinery Design Review   1 of 2</vt:lpstr>
      <vt:lpstr>AI Refinery Design Review   2 of 2</vt:lpstr>
      <vt:lpstr>Partnering Considerations</vt:lpstr>
      <vt:lpstr>Partnership vs DIY Decisions</vt:lpstr>
      <vt:lpstr>Accenture AI Capabilities and Strategic Investment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Platform Name – Target State</dc:title>
  <dc:creator>Corina Elama</dc:creator>
  <cp:lastModifiedBy>Dermot O'Brien</cp:lastModifiedBy>
  <cp:revision>17</cp:revision>
  <dcterms:created xsi:type="dcterms:W3CDTF">2024-08-26T23:36:39Z</dcterms:created>
  <dcterms:modified xsi:type="dcterms:W3CDTF">2025-09-08T22:55:41Z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7d1e36-6fc3-4f53-9115-a90510e29109_Enabled">
    <vt:lpwstr>true</vt:lpwstr>
  </property>
  <property fmtid="{D5CDD505-2E9C-101B-9397-08002B2CF9AE}" pid="3" name="MSIP_Label_387d1e36-6fc3-4f53-9115-a90510e29109_SetDate">
    <vt:lpwstr>2024-08-26T23:36:46Z</vt:lpwstr>
  </property>
  <property fmtid="{D5CDD505-2E9C-101B-9397-08002B2CF9AE}" pid="4" name="MSIP_Label_387d1e36-6fc3-4f53-9115-a90510e29109_Method">
    <vt:lpwstr>Privileged</vt:lpwstr>
  </property>
  <property fmtid="{D5CDD505-2E9C-101B-9397-08002B2CF9AE}" pid="5" name="MSIP_Label_387d1e36-6fc3-4f53-9115-a90510e29109_Name">
    <vt:lpwstr>387d1e36-6fc3-4f53-9115-a90510e29109</vt:lpwstr>
  </property>
  <property fmtid="{D5CDD505-2E9C-101B-9397-08002B2CF9AE}" pid="6" name="MSIP_Label_387d1e36-6fc3-4f53-9115-a90510e29109_SiteId">
    <vt:lpwstr>2dc32a81-25ce-4e14-b7bd-f7a45d1170c0</vt:lpwstr>
  </property>
  <property fmtid="{D5CDD505-2E9C-101B-9397-08002B2CF9AE}" pid="7" name="MSIP_Label_387d1e36-6fc3-4f53-9115-a90510e29109_ActionId">
    <vt:lpwstr>248941ed-95c0-42d8-86ca-41ad2835623e</vt:lpwstr>
  </property>
  <property fmtid="{D5CDD505-2E9C-101B-9397-08002B2CF9AE}" pid="8" name="MSIP_Label_387d1e36-6fc3-4f53-9115-a90510e29109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PRIVATE</vt:lpwstr>
  </property>
  <property fmtid="{D5CDD505-2E9C-101B-9397-08002B2CF9AE}" pid="11" name="ClassificationContentMarkingHeaderLocations">
    <vt:lpwstr>Office Theme:9</vt:lpwstr>
  </property>
  <property fmtid="{D5CDD505-2E9C-101B-9397-08002B2CF9AE}" pid="12" name="ClassificationContentMarkingHeaderText">
    <vt:lpwstr>PRIVATE</vt:lpwstr>
  </property>
  <property fmtid="{D5CDD505-2E9C-101B-9397-08002B2CF9AE}" pid="13" name="ContentTypeId">
    <vt:lpwstr>0x010100406C705445D8BB4F8B95CEABD4D3B776</vt:lpwstr>
  </property>
  <property fmtid="{D5CDD505-2E9C-101B-9397-08002B2CF9AE}" pid="14" name="MediaServiceImageTags">
    <vt:lpwstr/>
  </property>
  <property fmtid="{D5CDD505-2E9C-101B-9397-08002B2CF9AE}" pid="15" name="Tranche">
    <vt:lpwstr>March 2025</vt:lpwstr>
  </property>
</Properties>
</file>