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4"/>
  </p:sldMasterIdLst>
  <p:notesMasterIdLst>
    <p:notesMasterId r:id="rId15"/>
  </p:notesMasterIdLst>
  <p:sldIdLst>
    <p:sldId id="2147483571" r:id="rId5"/>
    <p:sldId id="2147483630" r:id="rId6"/>
    <p:sldId id="2147483631" r:id="rId7"/>
    <p:sldId id="2147483600" r:id="rId8"/>
    <p:sldId id="2147483628" r:id="rId9"/>
    <p:sldId id="2147483629" r:id="rId10"/>
    <p:sldId id="2147483639" r:id="rId11"/>
    <p:sldId id="2147483641" r:id="rId12"/>
    <p:sldId id="2147483640" r:id="rId13"/>
    <p:sldId id="214748362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DCB9AD-8C2B-472D-B210-7CADBA8EC3A3}">
          <p14:sldIdLst>
            <p14:sldId id="2147483571"/>
            <p14:sldId id="2147483630"/>
            <p14:sldId id="2147483631"/>
            <p14:sldId id="2147483600"/>
            <p14:sldId id="2147483628"/>
            <p14:sldId id="2147483629"/>
            <p14:sldId id="2147483639"/>
            <p14:sldId id="2147483641"/>
            <p14:sldId id="2147483640"/>
            <p14:sldId id="214748362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00607-9069-CB8A-56A7-849E66ED3667}" name="Michael Lomas" initials="ML" userId="S::Michael_Lomas@bnz.co.nz::703e9ef1-1f43-431d-b2ef-6489ca380ede" providerId="AD"/>
  <p188:author id="{70F64607-35DD-3C0A-3849-70DFD03C5FC9}" name="Ann Tiatia" initials="AT" userId="S::Ann_Tiatia@bnz.co.nz::c391a497-40e9-4836-88c5-dcf68a32a839" providerId="AD"/>
  <p188:author id="{F760C55B-68BF-BC88-8317-E9AB36C8AA96}" name="Paul Furkert" initials="PF" userId="S::paul_furkert@bnz.co.nz::ce038a1e-fe5a-40a5-8c99-6e49a7627050" providerId="AD"/>
  <p188:author id="{2798CE65-7FD1-624A-3966-9D244355BF6F}" name="Dan Barratt" initials="DB" userId="S::dan_barratt@bnz.co.nz::0ea6753e-1bb2-4ea8-8442-b56710cfa15c" providerId="AD"/>
  <p188:author id="{FACBB073-1C98-9A89-89E4-E3D46BE68D43}" name="Corina Elama" initials="CE" userId="S::Corina_Elama@bnz.co.nz::64a534a0-38f5-4422-a9ab-43bf049317a6" providerId="AD"/>
  <p188:author id="{E8772B74-C38B-ECF9-E126-F65E7995068A}" name="Cj Coughlan" initials="CC" userId="S::cj_coughlan@bnz.co.nz::eaadf76d-7757-421b-af98-7548abea0fa5" providerId="AD"/>
  <p188:author id="{90E5F17B-5D59-EB81-AC3E-6C26480A71D5}" name="Nick Fantham" initials="NF" userId="S::nick_fantham@bnz.co.nz::259ab003-d3e8-4aac-bbf9-e068098a5c15" providerId="AD"/>
  <p188:author id="{B1744885-09D2-5DF8-7373-9DDB20FB3593}" name="Paul Furkert" initials="PF" userId="S::Paul_Furkert@bnz.co.nz::ce038a1e-fe5a-40a5-8c99-6e49a7627050" providerId="AD"/>
  <p188:author id="{EC0B779E-5B73-8CB3-DA32-F248C7854F13}" name="Mark Steadman" initials="MS" userId="S::mark_steadman@bnz.co.nz::7805a62f-e6b5-4f10-aaee-9f78e4b88ccb" providerId="AD"/>
  <p188:author id="{3C240BC6-2B75-E067-D76D-82FB3A6498A3}" name="Stewart Robertson" initials="SR" userId="S::Stewart_Robertson@bnz.co.nz::05db1456-c0df-480d-b536-0f30795d3078" providerId="AD"/>
  <p188:author id="{E854EFC7-01F0-10DB-EEB7-DE718F6635AC}" name="Glenn Bellam" initials="GB" userId="S::glenn_bellam@bnz.co.nz::704b493c-489a-49e6-b06f-7177f7d83952" providerId="AD"/>
  <p188:author id="{53FCF2D2-364A-0FD4-81F4-0A85B3EF5DDB}" name="Cipri Parfene" initials="CP" userId="S::cipri_parfene@bnz.co.nz::bb572f2d-cde3-49fb-83e3-7d7851638b66" providerId="AD"/>
  <p188:author id="{67A37DF2-3774-D031-F45A-093033C3E22C}" name="Angus Cotton" initials="AC" userId="S::angus_cotton@bnz.co.nz::7f753041-8a23-4775-9fb0-22eaeb32341d" providerId="AD"/>
  <p188:author id="{853A79F7-9558-69F1-B5F2-982C65934A8F}" name="John Brondum" initials="JB" userId="S::John_Brondum@bnz.co.nz::229bdc9d-5f50-4b5d-8063-2c21f0a612e0" providerId="AD"/>
  <p188:author id="{05AB13FB-3EBA-7226-1604-F4CD9DE84C8F}" name="John Marshall" initials="JM" userId="S::John_Marshall@bnz.co.nz::8fc96316-54e6-4ca9-8a98-dde806b41d08" providerId="AD"/>
  <p188:author id="{C3148FFC-2BD9-8B59-9961-DE02D8B47E85}" name="Dan Barratt" initials="DB" userId="S::Dan_Barratt@bnz.co.nz::0ea6753e-1bb2-4ea8-8442-b56710cfa1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93364"/>
    <a:srgbClr val="000000"/>
    <a:srgbClr val="808080"/>
    <a:srgbClr val="CCCCCC"/>
    <a:srgbClr val="B2B2B2"/>
    <a:srgbClr val="A1D078"/>
    <a:srgbClr val="CCE5F3"/>
    <a:srgbClr val="002F6B"/>
    <a:srgbClr val="FAA6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A4E418-400F-45A8-8D80-020B13FC8D5F}" v="15" dt="2025-09-08T23:07:44.951"/>
    <p1510:client id="{2F108299-A342-4806-1BFE-C39658D63344}" v="172" dt="2025-09-08T23:06:04.1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86331" autoAdjust="0"/>
  </p:normalViewPr>
  <p:slideViewPr>
    <p:cSldViewPr snapToGrid="0">
      <p:cViewPr varScale="1">
        <p:scale>
          <a:sx n="134" d="100"/>
          <a:sy n="134" d="100"/>
        </p:scale>
        <p:origin x="3792"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mot O'Brien" userId="f8677889-c77b-43ef-a0e0-85c145921bf9" providerId="ADAL" clId="{07A4E418-400F-45A8-8D80-020B13FC8D5F}"/>
    <pc:docChg chg="undo custSel addSld delSld modSld modMainMaster modSection">
      <pc:chgData name="Dermot O'Brien" userId="f8677889-c77b-43ef-a0e0-85c145921bf9" providerId="ADAL" clId="{07A4E418-400F-45A8-8D80-020B13FC8D5F}" dt="2025-09-08T23:09:47.587" v="1418" actId="1076"/>
      <pc:docMkLst>
        <pc:docMk/>
      </pc:docMkLst>
      <pc:sldChg chg="modSp mod">
        <pc:chgData name="Dermot O'Brien" userId="f8677889-c77b-43ef-a0e0-85c145921bf9" providerId="ADAL" clId="{07A4E418-400F-45A8-8D80-020B13FC8D5F}" dt="2025-09-08T22:58:00.662" v="1328" actId="790"/>
        <pc:sldMkLst>
          <pc:docMk/>
          <pc:sldMk cId="418916165" sldId="2147483571"/>
        </pc:sldMkLst>
        <pc:spChg chg="mod">
          <ac:chgData name="Dermot O'Brien" userId="f8677889-c77b-43ef-a0e0-85c145921bf9" providerId="ADAL" clId="{07A4E418-400F-45A8-8D80-020B13FC8D5F}" dt="2025-09-08T22:58:00.662" v="1328" actId="790"/>
          <ac:spMkLst>
            <pc:docMk/>
            <pc:sldMk cId="418916165" sldId="2147483571"/>
            <ac:spMk id="2" creationId="{D92E2DD8-EE73-06F4-B4F8-598D41CC3F7C}"/>
          </ac:spMkLst>
        </pc:spChg>
        <pc:spChg chg="mod">
          <ac:chgData name="Dermot O'Brien" userId="f8677889-c77b-43ef-a0e0-85c145921bf9" providerId="ADAL" clId="{07A4E418-400F-45A8-8D80-020B13FC8D5F}" dt="2025-09-08T22:58:00.662" v="1328" actId="790"/>
          <ac:spMkLst>
            <pc:docMk/>
            <pc:sldMk cId="418916165" sldId="2147483571"/>
            <ac:spMk id="3" creationId="{D43DF591-0AF7-9465-4D82-5D75E9CA5E5E}"/>
          </ac:spMkLst>
        </pc:spChg>
        <pc:spChg chg="mod">
          <ac:chgData name="Dermot O'Brien" userId="f8677889-c77b-43ef-a0e0-85c145921bf9" providerId="ADAL" clId="{07A4E418-400F-45A8-8D80-020B13FC8D5F}" dt="2025-09-08T22:58:00.662" v="1328" actId="790"/>
          <ac:spMkLst>
            <pc:docMk/>
            <pc:sldMk cId="418916165" sldId="2147483571"/>
            <ac:spMk id="4" creationId="{0C183215-E3AD-4256-15FA-54D687EF578C}"/>
          </ac:spMkLst>
        </pc:spChg>
        <pc:spChg chg="mod">
          <ac:chgData name="Dermot O'Brien" userId="f8677889-c77b-43ef-a0e0-85c145921bf9" providerId="ADAL" clId="{07A4E418-400F-45A8-8D80-020B13FC8D5F}" dt="2025-09-08T22:58:00.662" v="1328" actId="790"/>
          <ac:spMkLst>
            <pc:docMk/>
            <pc:sldMk cId="418916165" sldId="2147483571"/>
            <ac:spMk id="5" creationId="{C2881B06-321B-C930-F8AA-9039B316ABAC}"/>
          </ac:spMkLst>
        </pc:spChg>
      </pc:sldChg>
      <pc:sldChg chg="delSp modSp mod">
        <pc:chgData name="Dermot O'Brien" userId="f8677889-c77b-43ef-a0e0-85c145921bf9" providerId="ADAL" clId="{07A4E418-400F-45A8-8D80-020B13FC8D5F}" dt="2025-09-08T22:58:00.662" v="1328" actId="790"/>
        <pc:sldMkLst>
          <pc:docMk/>
          <pc:sldMk cId="3734177914" sldId="2147483600"/>
        </pc:sldMkLst>
        <pc:spChg chg="mod">
          <ac:chgData name="Dermot O'Brien" userId="f8677889-c77b-43ef-a0e0-85c145921bf9" providerId="ADAL" clId="{07A4E418-400F-45A8-8D80-020B13FC8D5F}" dt="2025-09-08T22:58:00.662" v="1328" actId="790"/>
          <ac:spMkLst>
            <pc:docMk/>
            <pc:sldMk cId="3734177914" sldId="2147483600"/>
            <ac:spMk id="2" creationId="{8CA13D00-9FEC-1483-D97D-E0C3E0A8BD32}"/>
          </ac:spMkLst>
        </pc:spChg>
        <pc:spChg chg="mod">
          <ac:chgData name="Dermot O'Brien" userId="f8677889-c77b-43ef-a0e0-85c145921bf9" providerId="ADAL" clId="{07A4E418-400F-45A8-8D80-020B13FC8D5F}" dt="2025-09-08T22:58:00.662" v="1328" actId="790"/>
          <ac:spMkLst>
            <pc:docMk/>
            <pc:sldMk cId="3734177914" sldId="2147483600"/>
            <ac:spMk id="3" creationId="{496DC984-56D6-70D2-70FC-E7EBE53895C8}"/>
          </ac:spMkLst>
        </pc:spChg>
        <pc:spChg chg="mod">
          <ac:chgData name="Dermot O'Brien" userId="f8677889-c77b-43ef-a0e0-85c145921bf9" providerId="ADAL" clId="{07A4E418-400F-45A8-8D80-020B13FC8D5F}" dt="2025-09-08T22:58:00.662" v="1328" actId="790"/>
          <ac:spMkLst>
            <pc:docMk/>
            <pc:sldMk cId="3734177914" sldId="2147483600"/>
            <ac:spMk id="8" creationId="{FAD9213A-5E29-272E-678B-5BDB34DA26C0}"/>
          </ac:spMkLst>
        </pc:spChg>
        <pc:spChg chg="mod">
          <ac:chgData name="Dermot O'Brien" userId="f8677889-c77b-43ef-a0e0-85c145921bf9" providerId="ADAL" clId="{07A4E418-400F-45A8-8D80-020B13FC8D5F}" dt="2025-09-08T22:58:00.662" v="1328" actId="790"/>
          <ac:spMkLst>
            <pc:docMk/>
            <pc:sldMk cId="3734177914" sldId="2147483600"/>
            <ac:spMk id="14" creationId="{BA7C5354-A4EA-75CA-F4A4-9731293FEF8F}"/>
          </ac:spMkLst>
        </pc:spChg>
        <pc:spChg chg="mod">
          <ac:chgData name="Dermot O'Brien" userId="f8677889-c77b-43ef-a0e0-85c145921bf9" providerId="ADAL" clId="{07A4E418-400F-45A8-8D80-020B13FC8D5F}" dt="2025-09-08T22:58:00.662" v="1328" actId="790"/>
          <ac:spMkLst>
            <pc:docMk/>
            <pc:sldMk cId="3734177914" sldId="2147483600"/>
            <ac:spMk id="15" creationId="{327F821D-2F43-AA7A-A27E-D7861495E065}"/>
          </ac:spMkLst>
        </pc:spChg>
        <pc:spChg chg="mod">
          <ac:chgData name="Dermot O'Brien" userId="f8677889-c77b-43ef-a0e0-85c145921bf9" providerId="ADAL" clId="{07A4E418-400F-45A8-8D80-020B13FC8D5F}" dt="2025-09-08T22:58:00.662" v="1328" actId="790"/>
          <ac:spMkLst>
            <pc:docMk/>
            <pc:sldMk cId="3734177914" sldId="2147483600"/>
            <ac:spMk id="26" creationId="{555AF770-E85B-AF3C-CEFA-C7E956E8241E}"/>
          </ac:spMkLst>
        </pc:spChg>
        <pc:spChg chg="mod">
          <ac:chgData name="Dermot O'Brien" userId="f8677889-c77b-43ef-a0e0-85c145921bf9" providerId="ADAL" clId="{07A4E418-400F-45A8-8D80-020B13FC8D5F}" dt="2025-09-08T22:58:00.662" v="1328" actId="790"/>
          <ac:spMkLst>
            <pc:docMk/>
            <pc:sldMk cId="3734177914" sldId="2147483600"/>
            <ac:spMk id="28" creationId="{0E1B6B2F-ABAA-83CC-1813-393257CF02C9}"/>
          </ac:spMkLst>
        </pc:spChg>
        <pc:spChg chg="mod">
          <ac:chgData name="Dermot O'Brien" userId="f8677889-c77b-43ef-a0e0-85c145921bf9" providerId="ADAL" clId="{07A4E418-400F-45A8-8D80-020B13FC8D5F}" dt="2025-09-08T22:58:00.662" v="1328" actId="790"/>
          <ac:spMkLst>
            <pc:docMk/>
            <pc:sldMk cId="3734177914" sldId="2147483600"/>
            <ac:spMk id="29" creationId="{569F4E9F-A708-B097-BAFF-D66D7CEE8725}"/>
          </ac:spMkLst>
        </pc:spChg>
        <pc:spChg chg="mod">
          <ac:chgData name="Dermot O'Brien" userId="f8677889-c77b-43ef-a0e0-85c145921bf9" providerId="ADAL" clId="{07A4E418-400F-45A8-8D80-020B13FC8D5F}" dt="2025-09-08T22:58:00.662" v="1328" actId="790"/>
          <ac:spMkLst>
            <pc:docMk/>
            <pc:sldMk cId="3734177914" sldId="2147483600"/>
            <ac:spMk id="31" creationId="{40720E04-9A9D-A89B-9C2B-EAE08DBF4F6E}"/>
          </ac:spMkLst>
        </pc:spChg>
        <pc:spChg chg="mod">
          <ac:chgData name="Dermot O'Brien" userId="f8677889-c77b-43ef-a0e0-85c145921bf9" providerId="ADAL" clId="{07A4E418-400F-45A8-8D80-020B13FC8D5F}" dt="2025-09-08T22:58:00.662" v="1328" actId="790"/>
          <ac:spMkLst>
            <pc:docMk/>
            <pc:sldMk cId="3734177914" sldId="2147483600"/>
            <ac:spMk id="1024" creationId="{525D5F8C-E005-F55B-6CCB-72B05A0840B8}"/>
          </ac:spMkLst>
        </pc:spChg>
      </pc:sldChg>
      <pc:sldChg chg="modSp mod">
        <pc:chgData name="Dermot O'Brien" userId="f8677889-c77b-43ef-a0e0-85c145921bf9" providerId="ADAL" clId="{07A4E418-400F-45A8-8D80-020B13FC8D5F}" dt="2025-09-08T22:58:00.662" v="1328" actId="790"/>
        <pc:sldMkLst>
          <pc:docMk/>
          <pc:sldMk cId="3822684874" sldId="2147483625"/>
        </pc:sldMkLst>
        <pc:spChg chg="mod">
          <ac:chgData name="Dermot O'Brien" userId="f8677889-c77b-43ef-a0e0-85c145921bf9" providerId="ADAL" clId="{07A4E418-400F-45A8-8D80-020B13FC8D5F}" dt="2025-09-08T22:58:00.662" v="1328" actId="790"/>
          <ac:spMkLst>
            <pc:docMk/>
            <pc:sldMk cId="3822684874" sldId="2147483625"/>
            <ac:spMk id="2" creationId="{DEFA81D0-B1FD-CF97-ABE4-E8D8805C1F76}"/>
          </ac:spMkLst>
        </pc:spChg>
        <pc:spChg chg="mod">
          <ac:chgData name="Dermot O'Brien" userId="f8677889-c77b-43ef-a0e0-85c145921bf9" providerId="ADAL" clId="{07A4E418-400F-45A8-8D80-020B13FC8D5F}" dt="2025-09-08T22:58:00.662" v="1328" actId="790"/>
          <ac:spMkLst>
            <pc:docMk/>
            <pc:sldMk cId="3822684874" sldId="2147483625"/>
            <ac:spMk id="3" creationId="{B00B7C3D-4B3A-57FF-C73C-0F2592DEF631}"/>
          </ac:spMkLst>
        </pc:spChg>
      </pc:sldChg>
      <pc:sldChg chg="del">
        <pc:chgData name="Dermot O'Brien" userId="f8677889-c77b-43ef-a0e0-85c145921bf9" providerId="ADAL" clId="{07A4E418-400F-45A8-8D80-020B13FC8D5F}" dt="2025-08-29T04:59:06.537" v="1" actId="47"/>
        <pc:sldMkLst>
          <pc:docMk/>
          <pc:sldMk cId="2424068890" sldId="2147483626"/>
        </pc:sldMkLst>
      </pc:sldChg>
      <pc:sldChg chg="del">
        <pc:chgData name="Dermot O'Brien" userId="f8677889-c77b-43ef-a0e0-85c145921bf9" providerId="ADAL" clId="{07A4E418-400F-45A8-8D80-020B13FC8D5F}" dt="2025-08-29T04:58:59.653" v="0" actId="47"/>
        <pc:sldMkLst>
          <pc:docMk/>
          <pc:sldMk cId="1669158035" sldId="2147483627"/>
        </pc:sldMkLst>
      </pc:sldChg>
      <pc:sldChg chg="modSp mod">
        <pc:chgData name="Dermot O'Brien" userId="f8677889-c77b-43ef-a0e0-85c145921bf9" providerId="ADAL" clId="{07A4E418-400F-45A8-8D80-020B13FC8D5F}" dt="2025-09-08T22:58:00.662" v="1328" actId="790"/>
        <pc:sldMkLst>
          <pc:docMk/>
          <pc:sldMk cId="3437446858" sldId="2147483628"/>
        </pc:sldMkLst>
        <pc:spChg chg="mod">
          <ac:chgData name="Dermot O'Brien" userId="f8677889-c77b-43ef-a0e0-85c145921bf9" providerId="ADAL" clId="{07A4E418-400F-45A8-8D80-020B13FC8D5F}" dt="2025-09-08T22:58:00.662" v="1328" actId="790"/>
          <ac:spMkLst>
            <pc:docMk/>
            <pc:sldMk cId="3437446858" sldId="2147483628"/>
            <ac:spMk id="2" creationId="{AC334CAD-74FD-4A76-F329-5B11DCC2EA46}"/>
          </ac:spMkLst>
        </pc:spChg>
      </pc:sldChg>
      <pc:sldChg chg="addSp modSp mod">
        <pc:chgData name="Dermot O'Brien" userId="f8677889-c77b-43ef-a0e0-85c145921bf9" providerId="ADAL" clId="{07A4E418-400F-45A8-8D80-020B13FC8D5F}" dt="2025-09-08T22:58:00.662" v="1328" actId="790"/>
        <pc:sldMkLst>
          <pc:docMk/>
          <pc:sldMk cId="1175460625" sldId="2147483629"/>
        </pc:sldMkLst>
        <pc:spChg chg="add mod">
          <ac:chgData name="Dermot O'Brien" userId="f8677889-c77b-43ef-a0e0-85c145921bf9" providerId="ADAL" clId="{07A4E418-400F-45A8-8D80-020B13FC8D5F}" dt="2025-09-08T22:58:00.662" v="1328" actId="790"/>
          <ac:spMkLst>
            <pc:docMk/>
            <pc:sldMk cId="1175460625" sldId="2147483629"/>
            <ac:spMk id="2" creationId="{8072EA53-3EB3-AE4A-B047-B9DAFBC06063}"/>
          </ac:spMkLst>
        </pc:spChg>
        <pc:spChg chg="mod">
          <ac:chgData name="Dermot O'Brien" userId="f8677889-c77b-43ef-a0e0-85c145921bf9" providerId="ADAL" clId="{07A4E418-400F-45A8-8D80-020B13FC8D5F}" dt="2025-09-08T22:58:00.662" v="1328" actId="790"/>
          <ac:spMkLst>
            <pc:docMk/>
            <pc:sldMk cId="1175460625" sldId="2147483629"/>
            <ac:spMk id="4" creationId="{E9FF6163-4274-D59A-5A89-CAEF90D5B9FC}"/>
          </ac:spMkLst>
        </pc:spChg>
        <pc:spChg chg="add mod">
          <ac:chgData name="Dermot O'Brien" userId="f8677889-c77b-43ef-a0e0-85c145921bf9" providerId="ADAL" clId="{07A4E418-400F-45A8-8D80-020B13FC8D5F}" dt="2025-09-08T22:58:00.662" v="1328" actId="790"/>
          <ac:spMkLst>
            <pc:docMk/>
            <pc:sldMk cId="1175460625" sldId="2147483629"/>
            <ac:spMk id="5" creationId="{8221618A-FD73-748E-37E4-97323201AC17}"/>
          </ac:spMkLst>
        </pc:spChg>
      </pc:sldChg>
      <pc:sldChg chg="addSp delSp modSp new mod modClrScheme chgLayout">
        <pc:chgData name="Dermot O'Brien" userId="f8677889-c77b-43ef-a0e0-85c145921bf9" providerId="ADAL" clId="{07A4E418-400F-45A8-8D80-020B13FC8D5F}" dt="2025-09-08T22:58:00.662" v="1328" actId="790"/>
        <pc:sldMkLst>
          <pc:docMk/>
          <pc:sldMk cId="1381669384" sldId="2147483630"/>
        </pc:sldMkLst>
        <pc:spChg chg="del mod ord">
          <ac:chgData name="Dermot O'Brien" userId="f8677889-c77b-43ef-a0e0-85c145921bf9" providerId="ADAL" clId="{07A4E418-400F-45A8-8D80-020B13FC8D5F}" dt="2025-09-08T20:52:06.369" v="147" actId="700"/>
          <ac:spMkLst>
            <pc:docMk/>
            <pc:sldMk cId="1381669384" sldId="2147483630"/>
            <ac:spMk id="2" creationId="{94ECD984-D146-9BB0-B6E5-A36C270081F0}"/>
          </ac:spMkLst>
        </pc:spChg>
        <pc:spChg chg="del">
          <ac:chgData name="Dermot O'Brien" userId="f8677889-c77b-43ef-a0e0-85c145921bf9" providerId="ADAL" clId="{07A4E418-400F-45A8-8D80-020B13FC8D5F}" dt="2025-09-08T20:52:06.369" v="147" actId="700"/>
          <ac:spMkLst>
            <pc:docMk/>
            <pc:sldMk cId="1381669384" sldId="2147483630"/>
            <ac:spMk id="3" creationId="{053F5A99-3702-F314-8F06-6660944FC064}"/>
          </ac:spMkLst>
        </pc:spChg>
        <pc:spChg chg="del">
          <ac:chgData name="Dermot O'Brien" userId="f8677889-c77b-43ef-a0e0-85c145921bf9" providerId="ADAL" clId="{07A4E418-400F-45A8-8D80-020B13FC8D5F}" dt="2025-09-08T20:52:06.369" v="147" actId="700"/>
          <ac:spMkLst>
            <pc:docMk/>
            <pc:sldMk cId="1381669384" sldId="2147483630"/>
            <ac:spMk id="4" creationId="{CFA8DBE1-4706-930D-1DD0-B6BF626FFBC1}"/>
          </ac:spMkLst>
        </pc:spChg>
        <pc:spChg chg="add mod ord">
          <ac:chgData name="Dermot O'Brien" userId="f8677889-c77b-43ef-a0e0-85c145921bf9" providerId="ADAL" clId="{07A4E418-400F-45A8-8D80-020B13FC8D5F}" dt="2025-09-08T22:58:00.662" v="1328" actId="790"/>
          <ac:spMkLst>
            <pc:docMk/>
            <pc:sldMk cId="1381669384" sldId="2147483630"/>
            <ac:spMk id="5" creationId="{9363B3A4-1F70-A142-870E-7056FBC9F014}"/>
          </ac:spMkLst>
        </pc:spChg>
        <pc:spChg chg="add del mod">
          <ac:chgData name="Dermot O'Brien" userId="f8677889-c77b-43ef-a0e0-85c145921bf9" providerId="ADAL" clId="{07A4E418-400F-45A8-8D80-020B13FC8D5F}" dt="2025-09-08T21:51:13.776" v="1051" actId="478"/>
          <ac:spMkLst>
            <pc:docMk/>
            <pc:sldMk cId="1381669384" sldId="2147483630"/>
            <ac:spMk id="7" creationId="{667D69DA-6A97-0A39-B19D-2B3F6ACF8984}"/>
          </ac:spMkLst>
        </pc:spChg>
        <pc:spChg chg="add mod">
          <ac:chgData name="Dermot O'Brien" userId="f8677889-c77b-43ef-a0e0-85c145921bf9" providerId="ADAL" clId="{07A4E418-400F-45A8-8D80-020B13FC8D5F}" dt="2025-09-08T22:58:00.662" v="1328" actId="790"/>
          <ac:spMkLst>
            <pc:docMk/>
            <pc:sldMk cId="1381669384" sldId="2147483630"/>
            <ac:spMk id="8" creationId="{3B772759-2E5F-29A3-7C07-2777B3B8B1E2}"/>
          </ac:spMkLst>
        </pc:spChg>
        <pc:graphicFrameChg chg="add mod modGraphic">
          <ac:chgData name="Dermot O'Brien" userId="f8677889-c77b-43ef-a0e0-85c145921bf9" providerId="ADAL" clId="{07A4E418-400F-45A8-8D80-020B13FC8D5F}" dt="2025-09-08T22:58:00.662" v="1328" actId="790"/>
          <ac:graphicFrameMkLst>
            <pc:docMk/>
            <pc:sldMk cId="1381669384" sldId="2147483630"/>
            <ac:graphicFrameMk id="6" creationId="{A6784E9E-3AD3-EF15-1AE6-F59A6D1DE504}"/>
          </ac:graphicFrameMkLst>
        </pc:graphicFrameChg>
      </pc:sldChg>
      <pc:sldChg chg="del">
        <pc:chgData name="Dermot O'Brien" userId="f8677889-c77b-43ef-a0e0-85c145921bf9" providerId="ADAL" clId="{07A4E418-400F-45A8-8D80-020B13FC8D5F}" dt="2025-08-29T04:59:29.404" v="5" actId="47"/>
        <pc:sldMkLst>
          <pc:docMk/>
          <pc:sldMk cId="2395291775" sldId="2147483630"/>
        </pc:sldMkLst>
      </pc:sldChg>
      <pc:sldChg chg="del">
        <pc:chgData name="Dermot O'Brien" userId="f8677889-c77b-43ef-a0e0-85c145921bf9" providerId="ADAL" clId="{07A4E418-400F-45A8-8D80-020B13FC8D5F}" dt="2025-08-29T04:59:27.315" v="4" actId="47"/>
        <pc:sldMkLst>
          <pc:docMk/>
          <pc:sldMk cId="1788754541" sldId="2147483631"/>
        </pc:sldMkLst>
      </pc:sldChg>
      <pc:sldChg chg="addSp delSp modSp new mod modClrScheme chgLayout">
        <pc:chgData name="Dermot O'Brien" userId="f8677889-c77b-43ef-a0e0-85c145921bf9" providerId="ADAL" clId="{07A4E418-400F-45A8-8D80-020B13FC8D5F}" dt="2025-09-08T22:58:00.662" v="1328" actId="790"/>
        <pc:sldMkLst>
          <pc:docMk/>
          <pc:sldMk cId="1965475112" sldId="2147483631"/>
        </pc:sldMkLst>
        <pc:spChg chg="del mod ord">
          <ac:chgData name="Dermot O'Brien" userId="f8677889-c77b-43ef-a0e0-85c145921bf9" providerId="ADAL" clId="{07A4E418-400F-45A8-8D80-020B13FC8D5F}" dt="2025-09-08T21:31:59.202" v="911" actId="700"/>
          <ac:spMkLst>
            <pc:docMk/>
            <pc:sldMk cId="1965475112" sldId="2147483631"/>
            <ac:spMk id="2" creationId="{80B71E8F-A29D-3FA6-E4D3-534529A154C2}"/>
          </ac:spMkLst>
        </pc:spChg>
        <pc:spChg chg="add mod ord">
          <ac:chgData name="Dermot O'Brien" userId="f8677889-c77b-43ef-a0e0-85c145921bf9" providerId="ADAL" clId="{07A4E418-400F-45A8-8D80-020B13FC8D5F}" dt="2025-09-08T22:58:00.662" v="1328" actId="790"/>
          <ac:spMkLst>
            <pc:docMk/>
            <pc:sldMk cId="1965475112" sldId="2147483631"/>
            <ac:spMk id="3" creationId="{EE82A292-11B0-82EA-11C2-9533D4A3F1C2}"/>
          </ac:spMkLst>
        </pc:spChg>
        <pc:spChg chg="add mod ord">
          <ac:chgData name="Dermot O'Brien" userId="f8677889-c77b-43ef-a0e0-85c145921bf9" providerId="ADAL" clId="{07A4E418-400F-45A8-8D80-020B13FC8D5F}" dt="2025-09-08T22:58:00.662" v="1328" actId="790"/>
          <ac:spMkLst>
            <pc:docMk/>
            <pc:sldMk cId="1965475112" sldId="2147483631"/>
            <ac:spMk id="4" creationId="{F1C502BD-8B40-307D-1952-A6922089BAC5}"/>
          </ac:spMkLst>
        </pc:spChg>
      </pc:sldChg>
      <pc:sldChg chg="del">
        <pc:chgData name="Dermot O'Brien" userId="f8677889-c77b-43ef-a0e0-85c145921bf9" providerId="ADAL" clId="{07A4E418-400F-45A8-8D80-020B13FC8D5F}" dt="2025-08-29T04:59:24.973" v="2" actId="47"/>
        <pc:sldMkLst>
          <pc:docMk/>
          <pc:sldMk cId="2876707250" sldId="2147483633"/>
        </pc:sldMkLst>
      </pc:sldChg>
      <pc:sldChg chg="del">
        <pc:chgData name="Dermot O'Brien" userId="f8677889-c77b-43ef-a0e0-85c145921bf9" providerId="ADAL" clId="{07A4E418-400F-45A8-8D80-020B13FC8D5F}" dt="2025-08-29T04:59:26.156" v="3" actId="47"/>
        <pc:sldMkLst>
          <pc:docMk/>
          <pc:sldMk cId="3521176227" sldId="2147483634"/>
        </pc:sldMkLst>
      </pc:sldChg>
      <pc:sldChg chg="del">
        <pc:chgData name="Dermot O'Brien" userId="f8677889-c77b-43ef-a0e0-85c145921bf9" providerId="ADAL" clId="{07A4E418-400F-45A8-8D80-020B13FC8D5F}" dt="2025-08-29T04:59:30.173" v="6" actId="47"/>
        <pc:sldMkLst>
          <pc:docMk/>
          <pc:sldMk cId="3265232974" sldId="2147483635"/>
        </pc:sldMkLst>
      </pc:sldChg>
      <pc:sldChg chg="del">
        <pc:chgData name="Dermot O'Brien" userId="f8677889-c77b-43ef-a0e0-85c145921bf9" providerId="ADAL" clId="{07A4E418-400F-45A8-8D80-020B13FC8D5F}" dt="2025-08-29T04:59:31.156" v="7" actId="47"/>
        <pc:sldMkLst>
          <pc:docMk/>
          <pc:sldMk cId="481830923" sldId="2147483637"/>
        </pc:sldMkLst>
      </pc:sldChg>
      <pc:sldChg chg="modSp add mod">
        <pc:chgData name="Dermot O'Brien" userId="f8677889-c77b-43ef-a0e0-85c145921bf9" providerId="ADAL" clId="{07A4E418-400F-45A8-8D80-020B13FC8D5F}" dt="2025-09-08T22:58:00.662" v="1328" actId="790"/>
        <pc:sldMkLst>
          <pc:docMk/>
          <pc:sldMk cId="1628971808" sldId="2147483639"/>
        </pc:sldMkLst>
        <pc:spChg chg="mod">
          <ac:chgData name="Dermot O'Brien" userId="f8677889-c77b-43ef-a0e0-85c145921bf9" providerId="ADAL" clId="{07A4E418-400F-45A8-8D80-020B13FC8D5F}" dt="2025-09-08T22:58:00.662" v="1328" actId="790"/>
          <ac:spMkLst>
            <pc:docMk/>
            <pc:sldMk cId="1628971808" sldId="2147483639"/>
            <ac:spMk id="3" creationId="{119CC226-9781-75C2-C236-1AD6F654E6B7}"/>
          </ac:spMkLst>
        </pc:spChg>
        <pc:spChg chg="mod">
          <ac:chgData name="Dermot O'Brien" userId="f8677889-c77b-43ef-a0e0-85c145921bf9" providerId="ADAL" clId="{07A4E418-400F-45A8-8D80-020B13FC8D5F}" dt="2025-09-08T22:58:00.662" v="1328" actId="790"/>
          <ac:spMkLst>
            <pc:docMk/>
            <pc:sldMk cId="1628971808" sldId="2147483639"/>
            <ac:spMk id="4" creationId="{05D0AF1D-A34A-944E-2EE9-11F6E4A15B76}"/>
          </ac:spMkLst>
        </pc:spChg>
      </pc:sldChg>
      <pc:sldChg chg="modSp add mod">
        <pc:chgData name="Dermot O'Brien" userId="f8677889-c77b-43ef-a0e0-85c145921bf9" providerId="ADAL" clId="{07A4E418-400F-45A8-8D80-020B13FC8D5F}" dt="2025-09-08T23:09:47.587" v="1418" actId="1076"/>
        <pc:sldMkLst>
          <pc:docMk/>
          <pc:sldMk cId="2107179771" sldId="2147483640"/>
        </pc:sldMkLst>
        <pc:spChg chg="mod">
          <ac:chgData name="Dermot O'Brien" userId="f8677889-c77b-43ef-a0e0-85c145921bf9" providerId="ADAL" clId="{07A4E418-400F-45A8-8D80-020B13FC8D5F}" dt="2025-09-08T22:58:00.662" v="1328" actId="790"/>
          <ac:spMkLst>
            <pc:docMk/>
            <pc:sldMk cId="2107179771" sldId="2147483640"/>
            <ac:spMk id="4" creationId="{66FEC8F7-5F3A-CEE1-AB0E-EEA2356DA709}"/>
          </ac:spMkLst>
        </pc:spChg>
        <pc:spChg chg="mod">
          <ac:chgData name="Dermot O'Brien" userId="f8677889-c77b-43ef-a0e0-85c145921bf9" providerId="ADAL" clId="{07A4E418-400F-45A8-8D80-020B13FC8D5F}" dt="2025-09-08T23:08:37.372" v="1397" actId="20577"/>
          <ac:spMkLst>
            <pc:docMk/>
            <pc:sldMk cId="2107179771" sldId="2147483640"/>
            <ac:spMk id="6" creationId="{9FF60551-B87D-6100-BE65-ECE73C888442}"/>
          </ac:spMkLst>
        </pc:spChg>
        <pc:spChg chg="mod">
          <ac:chgData name="Dermot O'Brien" userId="f8677889-c77b-43ef-a0e0-85c145921bf9" providerId="ADAL" clId="{07A4E418-400F-45A8-8D80-020B13FC8D5F}" dt="2025-09-08T23:09:47.587" v="1418" actId="1076"/>
          <ac:spMkLst>
            <pc:docMk/>
            <pc:sldMk cId="2107179771" sldId="2147483640"/>
            <ac:spMk id="7" creationId="{4C0A82D5-71AD-CD9C-3B81-F1F6ECB79389}"/>
          </ac:spMkLst>
        </pc:spChg>
      </pc:sldChg>
      <pc:sldChg chg="modSp add mod">
        <pc:chgData name="Dermot O'Brien" userId="f8677889-c77b-43ef-a0e0-85c145921bf9" providerId="ADAL" clId="{07A4E418-400F-45A8-8D80-020B13FC8D5F}" dt="2025-09-08T22:58:00.662" v="1328" actId="790"/>
        <pc:sldMkLst>
          <pc:docMk/>
          <pc:sldMk cId="3220361401" sldId="2147483641"/>
        </pc:sldMkLst>
        <pc:spChg chg="mod">
          <ac:chgData name="Dermot O'Brien" userId="f8677889-c77b-43ef-a0e0-85c145921bf9" providerId="ADAL" clId="{07A4E418-400F-45A8-8D80-020B13FC8D5F}" dt="2025-09-08T22:58:00.662" v="1328" actId="790"/>
          <ac:spMkLst>
            <pc:docMk/>
            <pc:sldMk cId="3220361401" sldId="2147483641"/>
            <ac:spMk id="2" creationId="{62D4FF48-6396-0AFA-2CBB-064D026B11F5}"/>
          </ac:spMkLst>
        </pc:spChg>
        <pc:spChg chg="mod">
          <ac:chgData name="Dermot O'Brien" userId="f8677889-c77b-43ef-a0e0-85c145921bf9" providerId="ADAL" clId="{07A4E418-400F-45A8-8D80-020B13FC8D5F}" dt="2025-09-08T22:58:00.662" v="1328" actId="790"/>
          <ac:spMkLst>
            <pc:docMk/>
            <pc:sldMk cId="3220361401" sldId="2147483641"/>
            <ac:spMk id="4" creationId="{D5102835-5138-AF9B-815B-46D732AE0024}"/>
          </ac:spMkLst>
        </pc:spChg>
        <pc:spChg chg="mod">
          <ac:chgData name="Dermot O'Brien" userId="f8677889-c77b-43ef-a0e0-85c145921bf9" providerId="ADAL" clId="{07A4E418-400F-45A8-8D80-020B13FC8D5F}" dt="2025-09-08T22:58:00.662" v="1328" actId="790"/>
          <ac:spMkLst>
            <pc:docMk/>
            <pc:sldMk cId="3220361401" sldId="2147483641"/>
            <ac:spMk id="7" creationId="{865DE4FD-3CEA-A8E6-82CF-8BE0DE3ED841}"/>
          </ac:spMkLst>
        </pc:spChg>
      </pc:sldChg>
      <pc:sldMasterChg chg="modSldLayout">
        <pc:chgData name="Dermot O'Brien" userId="f8677889-c77b-43ef-a0e0-85c145921bf9" providerId="ADAL" clId="{07A4E418-400F-45A8-8D80-020B13FC8D5F}" dt="2025-09-08T22:00:11.872" v="1281" actId="1035"/>
        <pc:sldMasterMkLst>
          <pc:docMk/>
          <pc:sldMasterMk cId="3730563725" sldId="2147483660"/>
        </pc:sldMasterMkLst>
        <pc:sldLayoutChg chg="addSp modSp mod">
          <pc:chgData name="Dermot O'Brien" userId="f8677889-c77b-43ef-a0e0-85c145921bf9" providerId="ADAL" clId="{07A4E418-400F-45A8-8D80-020B13FC8D5F}" dt="2025-09-08T22:00:11.872" v="1281" actId="1035"/>
          <pc:sldLayoutMkLst>
            <pc:docMk/>
            <pc:sldMasterMk cId="3730563725" sldId="2147483660"/>
            <pc:sldLayoutMk cId="748230897" sldId="2147483695"/>
          </pc:sldLayoutMkLst>
          <pc:spChg chg="add mod">
            <ac:chgData name="Dermot O'Brien" userId="f8677889-c77b-43ef-a0e0-85c145921bf9" providerId="ADAL" clId="{07A4E418-400F-45A8-8D80-020B13FC8D5F}" dt="2025-09-08T22:00:11.872" v="1281" actId="1035"/>
            <ac:spMkLst>
              <pc:docMk/>
              <pc:sldMasterMk cId="3730563725" sldId="2147483660"/>
              <pc:sldLayoutMk cId="748230897" sldId="2147483695"/>
              <ac:spMk id="4" creationId="{BB5E0CB3-5060-4F06-8D09-9495D9BEAF98}"/>
            </ac:spMkLst>
          </pc:spChg>
        </pc:sldLayoutChg>
      </pc:sldMasterChg>
    </pc:docChg>
  </pc:docChgLst>
  <pc:docChgLst>
    <pc:chgData name="Dermot O'Brien" userId="S::dermot_o'brien@bnz.co.nz::f8677889-c77b-43ef-a0e0-85c145921bf9" providerId="AD" clId="Web-{2F108299-A342-4806-1BFE-C39658D63344}"/>
    <pc:docChg chg="modSld sldOrd">
      <pc:chgData name="Dermot O'Brien" userId="S::dermot_o'brien@bnz.co.nz::f8677889-c77b-43ef-a0e0-85c145921bf9" providerId="AD" clId="Web-{2F108299-A342-4806-1BFE-C39658D63344}" dt="2025-09-08T23:06:04.151" v="90" actId="20577"/>
      <pc:docMkLst>
        <pc:docMk/>
      </pc:docMkLst>
      <pc:sldChg chg="modSp">
        <pc:chgData name="Dermot O'Brien" userId="S::dermot_o'brien@bnz.co.nz::f8677889-c77b-43ef-a0e0-85c145921bf9" providerId="AD" clId="Web-{2F108299-A342-4806-1BFE-C39658D63344}" dt="2025-09-08T23:06:04.151" v="90" actId="20577"/>
        <pc:sldMkLst>
          <pc:docMk/>
          <pc:sldMk cId="2107179771" sldId="2147483640"/>
        </pc:sldMkLst>
        <pc:spChg chg="mod">
          <ac:chgData name="Dermot O'Brien" userId="S::dermot_o'brien@bnz.co.nz::f8677889-c77b-43ef-a0e0-85c145921bf9" providerId="AD" clId="Web-{2F108299-A342-4806-1BFE-C39658D63344}" dt="2025-09-08T23:06:04.151" v="90" actId="20577"/>
          <ac:spMkLst>
            <pc:docMk/>
            <pc:sldMk cId="2107179771" sldId="2147483640"/>
            <ac:spMk id="6" creationId="{9FF60551-B87D-6100-BE65-ECE73C888442}"/>
          </ac:spMkLst>
        </pc:spChg>
      </pc:sldChg>
      <pc:sldChg chg="modSp ord">
        <pc:chgData name="Dermot O'Brien" userId="S::dermot_o'brien@bnz.co.nz::f8677889-c77b-43ef-a0e0-85c145921bf9" providerId="AD" clId="Web-{2F108299-A342-4806-1BFE-C39658D63344}" dt="2025-09-08T23:05:16.135" v="77" actId="20577"/>
        <pc:sldMkLst>
          <pc:docMk/>
          <pc:sldMk cId="3220361401" sldId="2147483641"/>
        </pc:sldMkLst>
        <pc:spChg chg="mod">
          <ac:chgData name="Dermot O'Brien" userId="S::dermot_o'brien@bnz.co.nz::f8677889-c77b-43ef-a0e0-85c145921bf9" providerId="AD" clId="Web-{2F108299-A342-4806-1BFE-C39658D63344}" dt="2025-09-08T23:05:16.135" v="77" actId="20577"/>
          <ac:spMkLst>
            <pc:docMk/>
            <pc:sldMk cId="3220361401" sldId="2147483641"/>
            <ac:spMk id="2" creationId="{62D4FF48-6396-0AFA-2CBB-064D026B11F5}"/>
          </ac:spMkLst>
        </pc:spChg>
        <pc:spChg chg="mod">
          <ac:chgData name="Dermot O'Brien" userId="S::dermot_o'brien@bnz.co.nz::f8677889-c77b-43ef-a0e0-85c145921bf9" providerId="AD" clId="Web-{2F108299-A342-4806-1BFE-C39658D63344}" dt="2025-09-08T23:03:15.557" v="16" actId="20577"/>
          <ac:spMkLst>
            <pc:docMk/>
            <pc:sldMk cId="3220361401" sldId="2147483641"/>
            <ac:spMk id="7" creationId="{865DE4FD-3CEA-A8E6-82CF-8BE0DE3ED841}"/>
          </ac:spMkLst>
        </pc:spChg>
      </pc:sldChg>
    </pc:docChg>
  </pc:docChgLst>
  <pc:docChgLst>
    <pc:chgData name="Tanya Boelema" userId="35e9b5ff-bb2f-436a-9896-6640054e676c" providerId="ADAL" clId="{AD4A2005-3DBB-4FF4-95B7-0AA4A71467B6}"/>
    <pc:docChg chg="modSld">
      <pc:chgData name="Tanya Boelema" userId="35e9b5ff-bb2f-436a-9896-6640054e676c" providerId="ADAL" clId="{AD4A2005-3DBB-4FF4-95B7-0AA4A71467B6}" dt="2025-08-29T05:40:30.309" v="11" actId="20577"/>
      <pc:docMkLst>
        <pc:docMk/>
      </pc:docMkLst>
      <pc:sldChg chg="modSp mod">
        <pc:chgData name="Tanya Boelema" userId="35e9b5ff-bb2f-436a-9896-6640054e676c" providerId="ADAL" clId="{AD4A2005-3DBB-4FF4-95B7-0AA4A71467B6}" dt="2025-08-29T05:40:30.309" v="11" actId="20577"/>
        <pc:sldMkLst>
          <pc:docMk/>
          <pc:sldMk cId="1175460625" sldId="2147483629"/>
        </pc:sldMkLst>
        <pc:spChg chg="mod">
          <ac:chgData name="Tanya Boelema" userId="35e9b5ff-bb2f-436a-9896-6640054e676c" providerId="ADAL" clId="{AD4A2005-3DBB-4FF4-95B7-0AA4A71467B6}" dt="2025-08-29T05:40:30.309" v="11" actId="20577"/>
          <ac:spMkLst>
            <pc:docMk/>
            <pc:sldMk cId="1175460625" sldId="2147483629"/>
            <ac:spMk id="4" creationId="{E9FF6163-4274-D59A-5A89-CAEF90D5B9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B748DC-C84D-4F50-BBD5-1452B306E633}" type="datetimeFigureOut">
              <a:rPr lang="en-NZ" smtClean="0"/>
              <a:t>9/09/2025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3DE64-C6B8-45AD-967F-D325870B1219}" type="slidenum">
              <a:rPr lang="en-NZ" smtClean="0"/>
              <a:t>‹#›</a:t>
            </a:fld>
            <a:endParaRPr lang="en-NZ"/>
          </a:p>
        </p:txBody>
      </p:sp>
    </p:spTree>
    <p:extLst>
      <p:ext uri="{BB962C8B-B14F-4D97-AF65-F5344CB8AC3E}">
        <p14:creationId xmlns:p14="http://schemas.microsoft.com/office/powerpoint/2010/main" val="4098416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CF3DE64-C6B8-45AD-967F-D325870B1219}" type="slidenum">
              <a:rPr lang="en-NZ" smtClean="0"/>
              <a:t>2</a:t>
            </a:fld>
            <a:endParaRPr lang="en-NZ"/>
          </a:p>
        </p:txBody>
      </p:sp>
    </p:spTree>
    <p:extLst>
      <p:ext uri="{BB962C8B-B14F-4D97-AF65-F5344CB8AC3E}">
        <p14:creationId xmlns:p14="http://schemas.microsoft.com/office/powerpoint/2010/main" val="2043220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CF3DE64-C6B8-45AD-967F-D325870B1219}" type="slidenum">
              <a:rPr lang="en-NZ" smtClean="0"/>
              <a:t>4</a:t>
            </a:fld>
            <a:endParaRPr lang="en-NZ"/>
          </a:p>
        </p:txBody>
      </p:sp>
    </p:spTree>
    <p:extLst>
      <p:ext uri="{BB962C8B-B14F-4D97-AF65-F5344CB8AC3E}">
        <p14:creationId xmlns:p14="http://schemas.microsoft.com/office/powerpoint/2010/main" val="40106120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Logo&#10;&#10;Description automatically generated">
            <a:extLst>
              <a:ext uri="{FF2B5EF4-FFF2-40B4-BE49-F238E27FC236}">
                <a16:creationId xmlns:a16="http://schemas.microsoft.com/office/drawing/2014/main" id="{89F85B2A-F12A-9A9E-0973-F01F7AC3433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9" name="Title 11">
            <a:extLst>
              <a:ext uri="{FF2B5EF4-FFF2-40B4-BE49-F238E27FC236}">
                <a16:creationId xmlns:a16="http://schemas.microsoft.com/office/drawing/2014/main" id="{FCF05B5C-52C2-5F93-DE8D-1D1D57B3338E}"/>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2 heading&gt;</a:t>
            </a:r>
            <a:endParaRPr lang="en-US"/>
          </a:p>
        </p:txBody>
      </p:sp>
      <p:sp>
        <p:nvSpPr>
          <p:cNvPr id="13" name="Text Placeholder 15">
            <a:extLst>
              <a:ext uri="{FF2B5EF4-FFF2-40B4-BE49-F238E27FC236}">
                <a16:creationId xmlns:a16="http://schemas.microsoft.com/office/drawing/2014/main" id="{374A457F-4ECA-B070-67EF-0BA39B7F2244}"/>
              </a:ext>
            </a:extLst>
          </p:cNvPr>
          <p:cNvSpPr>
            <a:spLocks noGrp="1"/>
          </p:cNvSpPr>
          <p:nvPr>
            <p:ph type="body" sz="quarter" idx="10" hasCustomPrompt="1"/>
          </p:nvPr>
        </p:nvSpPr>
        <p:spPr>
          <a:xfrm>
            <a:off x="839788" y="3764897"/>
            <a:ext cx="10512425"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14" name="Text Placeholder 15">
            <a:extLst>
              <a:ext uri="{FF2B5EF4-FFF2-40B4-BE49-F238E27FC236}">
                <a16:creationId xmlns:a16="http://schemas.microsoft.com/office/drawing/2014/main" id="{F07B06B7-0C2A-8C93-6633-1D0A3F158306}"/>
              </a:ext>
            </a:extLst>
          </p:cNvPr>
          <p:cNvSpPr>
            <a:spLocks noGrp="1"/>
          </p:cNvSpPr>
          <p:nvPr>
            <p:ph type="body" sz="quarter" idx="12" hasCustomPrompt="1"/>
          </p:nvPr>
        </p:nvSpPr>
        <p:spPr>
          <a:xfrm>
            <a:off x="839788" y="4384940"/>
            <a:ext cx="10512425"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Tree>
    <p:extLst>
      <p:ext uri="{BB962C8B-B14F-4D97-AF65-F5344CB8AC3E}">
        <p14:creationId xmlns:p14="http://schemas.microsoft.com/office/powerpoint/2010/main" val="394364165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OPTION 2">
    <p:bg>
      <p:bgPr>
        <a:solidFill>
          <a:srgbClr val="002F6B"/>
        </a:solidFill>
        <a:effectLst/>
      </p:bgPr>
    </p:bg>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F8C4EA3-5924-08F2-B064-762B6DE94B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Title 11">
            <a:extLst>
              <a:ext uri="{FF2B5EF4-FFF2-40B4-BE49-F238E27FC236}">
                <a16:creationId xmlns:a16="http://schemas.microsoft.com/office/drawing/2014/main" id="{7EB6CD17-076A-000B-ABF0-450D46E03BD9}"/>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2 heading&gt;</a:t>
            </a:r>
            <a:endParaRPr lang="en-US"/>
          </a:p>
        </p:txBody>
      </p:sp>
      <p:sp>
        <p:nvSpPr>
          <p:cNvPr id="7" name="Text Placeholder 15">
            <a:extLst>
              <a:ext uri="{FF2B5EF4-FFF2-40B4-BE49-F238E27FC236}">
                <a16:creationId xmlns:a16="http://schemas.microsoft.com/office/drawing/2014/main" id="{F1265FD9-9632-F1FB-66B4-4EEEAF1A3141}"/>
              </a:ext>
            </a:extLst>
          </p:cNvPr>
          <p:cNvSpPr>
            <a:spLocks noGrp="1"/>
          </p:cNvSpPr>
          <p:nvPr>
            <p:ph type="body" sz="quarter" idx="10" hasCustomPrompt="1"/>
          </p:nvPr>
        </p:nvSpPr>
        <p:spPr>
          <a:xfrm>
            <a:off x="839788" y="3764897"/>
            <a:ext cx="10512425"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8" name="Text Placeholder 15">
            <a:extLst>
              <a:ext uri="{FF2B5EF4-FFF2-40B4-BE49-F238E27FC236}">
                <a16:creationId xmlns:a16="http://schemas.microsoft.com/office/drawing/2014/main" id="{AF0D6C85-503C-5EA9-D2E2-EB472BD35492}"/>
              </a:ext>
            </a:extLst>
          </p:cNvPr>
          <p:cNvSpPr>
            <a:spLocks noGrp="1"/>
          </p:cNvSpPr>
          <p:nvPr>
            <p:ph type="body" sz="quarter" idx="12" hasCustomPrompt="1"/>
          </p:nvPr>
        </p:nvSpPr>
        <p:spPr>
          <a:xfrm>
            <a:off x="839788" y="4384940"/>
            <a:ext cx="10512425"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Tree>
    <p:extLst>
      <p:ext uri="{BB962C8B-B14F-4D97-AF65-F5344CB8AC3E}">
        <p14:creationId xmlns:p14="http://schemas.microsoft.com/office/powerpoint/2010/main" val="94842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OPTION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470D9A-8691-E660-D78F-E57CE476E04B}"/>
              </a:ext>
            </a:extLst>
          </p:cNvPr>
          <p:cNvSpPr>
            <a:spLocks noGrp="1"/>
          </p:cNvSpPr>
          <p:nvPr>
            <p:ph type="pic" sz="quarter" idx="13"/>
          </p:nvPr>
        </p:nvSpPr>
        <p:spPr>
          <a:xfrm>
            <a:off x="-1" y="0"/>
            <a:ext cx="12192000" cy="6858000"/>
          </a:xfrm>
        </p:spPr>
        <p:txBody>
          <a:bodyPr/>
          <a:lstStyle>
            <a:lvl1pPr algn="ctr">
              <a:defRPr/>
            </a:lvl1pPr>
          </a:lstStyle>
          <a:p>
            <a:r>
              <a:rPr lang="en-US"/>
              <a:t>Click icon to add picture</a:t>
            </a:r>
            <a:endParaRPr lang="en-NZ"/>
          </a:p>
        </p:txBody>
      </p:sp>
      <p:sp>
        <p:nvSpPr>
          <p:cNvPr id="3" name="Title 11">
            <a:extLst>
              <a:ext uri="{FF2B5EF4-FFF2-40B4-BE49-F238E27FC236}">
                <a16:creationId xmlns:a16="http://schemas.microsoft.com/office/drawing/2014/main" id="{F9BBBE48-B6CE-2D58-BC06-9EB475014AF7}"/>
              </a:ext>
            </a:extLst>
          </p:cNvPr>
          <p:cNvSpPr>
            <a:spLocks noGrp="1"/>
          </p:cNvSpPr>
          <p:nvPr>
            <p:ph type="title" hasCustomPrompt="1"/>
          </p:nvPr>
        </p:nvSpPr>
        <p:spPr>
          <a:xfrm>
            <a:off x="839789" y="2343106"/>
            <a:ext cx="10512424" cy="1080000"/>
          </a:xfrm>
        </p:spPr>
        <p:txBody>
          <a:bodyPr lIns="0" tIns="0" rIns="0" bIns="0"/>
          <a:lstStyle>
            <a:lvl1pPr>
              <a:defRPr sz="5400" b="0">
                <a:solidFill>
                  <a:srgbClr val="002F6B"/>
                </a:solidFill>
                <a:latin typeface="Calibri Light" panose="020F0302020204030204" pitchFamily="34" charset="0"/>
                <a:cs typeface="Calibri Light" panose="020F0302020204030204" pitchFamily="34" charset="0"/>
              </a:defRPr>
            </a:lvl1pPr>
          </a:lstStyle>
          <a:p>
            <a:r>
              <a:rPr lang="en-GB"/>
              <a:t>&lt;Title slide Option 3 heading&gt;</a:t>
            </a:r>
            <a:endParaRPr lang="en-US"/>
          </a:p>
        </p:txBody>
      </p:sp>
      <p:sp>
        <p:nvSpPr>
          <p:cNvPr id="4" name="Text Placeholder 15">
            <a:extLst>
              <a:ext uri="{FF2B5EF4-FFF2-40B4-BE49-F238E27FC236}">
                <a16:creationId xmlns:a16="http://schemas.microsoft.com/office/drawing/2014/main" id="{88CA7AD8-B1F4-3944-3A8A-986804298B50}"/>
              </a:ext>
            </a:extLst>
          </p:cNvPr>
          <p:cNvSpPr>
            <a:spLocks noGrp="1"/>
          </p:cNvSpPr>
          <p:nvPr>
            <p:ph type="body" sz="quarter" idx="10" hasCustomPrompt="1"/>
          </p:nvPr>
        </p:nvSpPr>
        <p:spPr>
          <a:xfrm>
            <a:off x="839788" y="3701107"/>
            <a:ext cx="10512425" cy="339588"/>
          </a:xfrm>
        </p:spPr>
        <p:txBody>
          <a:bodyPr lIns="0" tIns="0" rIns="0" bIns="0"/>
          <a:lstStyle>
            <a:lvl1pPr>
              <a:defRPr b="0" i="0">
                <a:solidFill>
                  <a:srgbClr val="002F6B"/>
                </a:solidFill>
                <a:latin typeface="+mj-lt"/>
                <a:cs typeface="Calibri Light" panose="020F0302020204030204" pitchFamily="34" charset="0"/>
              </a:defRPr>
            </a:lvl1pPr>
          </a:lstStyle>
          <a:p>
            <a:pPr lvl="0"/>
            <a:r>
              <a:rPr lang="en-GB"/>
              <a:t>&lt;Title slide subheading&gt;</a:t>
            </a:r>
          </a:p>
        </p:txBody>
      </p:sp>
      <p:sp>
        <p:nvSpPr>
          <p:cNvPr id="5" name="Text Placeholder 15">
            <a:extLst>
              <a:ext uri="{FF2B5EF4-FFF2-40B4-BE49-F238E27FC236}">
                <a16:creationId xmlns:a16="http://schemas.microsoft.com/office/drawing/2014/main" id="{BCF0AE92-FA10-F3AA-A9D8-5EF7FE705DCF}"/>
              </a:ext>
            </a:extLst>
          </p:cNvPr>
          <p:cNvSpPr>
            <a:spLocks noGrp="1"/>
          </p:cNvSpPr>
          <p:nvPr>
            <p:ph type="body" sz="quarter" idx="12" hasCustomPrompt="1"/>
          </p:nvPr>
        </p:nvSpPr>
        <p:spPr>
          <a:xfrm>
            <a:off x="839788" y="4321150"/>
            <a:ext cx="10512425" cy="339588"/>
          </a:xfrm>
        </p:spPr>
        <p:txBody>
          <a:bodyPr lIns="0" tIns="0" rIns="0" bIns="0"/>
          <a:lstStyle>
            <a:lvl1pPr>
              <a:defRPr sz="1600" b="0" i="0">
                <a:solidFill>
                  <a:srgbClr val="002F6B"/>
                </a:solidFill>
                <a:latin typeface="+mj-lt"/>
                <a:cs typeface="Calibri Light" panose="020F0302020204030204" pitchFamily="34" charset="0"/>
              </a:defRPr>
            </a:lvl1pPr>
          </a:lstStyle>
          <a:p>
            <a:pPr lvl="0"/>
            <a:r>
              <a:rPr lang="en-GB"/>
              <a:t>Optional document information</a:t>
            </a:r>
          </a:p>
        </p:txBody>
      </p:sp>
      <p:pic>
        <p:nvPicPr>
          <p:cNvPr id="9" name="Picture 8" descr="Logo&#10;&#10;Description automatically generated">
            <a:extLst>
              <a:ext uri="{FF2B5EF4-FFF2-40B4-BE49-F238E27FC236}">
                <a16:creationId xmlns:a16="http://schemas.microsoft.com/office/drawing/2014/main" id="{2497B616-37DE-AAEF-338A-B8D9AC24B1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7" y="515396"/>
            <a:ext cx="1419722" cy="687600"/>
          </a:xfrm>
          <a:prstGeom prst="rect">
            <a:avLst/>
          </a:prstGeom>
        </p:spPr>
      </p:pic>
    </p:spTree>
    <p:extLst>
      <p:ext uri="{BB962C8B-B14F-4D97-AF65-F5344CB8AC3E}">
        <p14:creationId xmlns:p14="http://schemas.microsoft.com/office/powerpoint/2010/main" val="3734958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STARS + IMAGE OPTION 4">
    <p:bg>
      <p:bgPr>
        <a:solidFill>
          <a:srgbClr val="FFFFFF"/>
        </a:solidFill>
        <a:effectLst/>
      </p:bgPr>
    </p:bg>
    <p:spTree>
      <p:nvGrpSpPr>
        <p:cNvPr id="1" name=""/>
        <p:cNvGrpSpPr/>
        <p:nvPr/>
      </p:nvGrpSpPr>
      <p:grpSpPr>
        <a:xfrm>
          <a:off x="0" y="0"/>
          <a:ext cx="0" cy="0"/>
          <a:chOff x="0" y="0"/>
          <a:chExt cx="0" cy="0"/>
        </a:xfrm>
      </p:grpSpPr>
      <p:pic>
        <p:nvPicPr>
          <p:cNvPr id="3" name="Picture 2" descr="A picture containing outdoor, nature, night sky, outdoor object&#10;&#10;Description automatically generated">
            <a:extLst>
              <a:ext uri="{FF2B5EF4-FFF2-40B4-BE49-F238E27FC236}">
                <a16:creationId xmlns:a16="http://schemas.microsoft.com/office/drawing/2014/main" id="{E3659355-91E3-81D3-5CD1-5052B76AA4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6096000" cy="6858000"/>
          </a:xfrm>
          <a:prstGeom prst="rect">
            <a:avLst/>
          </a:prstGeom>
        </p:spPr>
      </p:pic>
      <p:sp>
        <p:nvSpPr>
          <p:cNvPr id="7" name="Title 11">
            <a:extLst>
              <a:ext uri="{FF2B5EF4-FFF2-40B4-BE49-F238E27FC236}">
                <a16:creationId xmlns:a16="http://schemas.microsoft.com/office/drawing/2014/main" id="{9B9D202A-58D6-D62C-0F00-71A41BC6D073}"/>
              </a:ext>
            </a:extLst>
          </p:cNvPr>
          <p:cNvSpPr>
            <a:spLocks noGrp="1"/>
          </p:cNvSpPr>
          <p:nvPr>
            <p:ph type="title" hasCustomPrompt="1"/>
          </p:nvPr>
        </p:nvSpPr>
        <p:spPr>
          <a:xfrm>
            <a:off x="839788" y="2349000"/>
            <a:ext cx="4783772"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4 heading&gt;</a:t>
            </a:r>
            <a:endParaRPr lang="en-US"/>
          </a:p>
        </p:txBody>
      </p:sp>
      <p:sp>
        <p:nvSpPr>
          <p:cNvPr id="8" name="Text Placeholder 15">
            <a:extLst>
              <a:ext uri="{FF2B5EF4-FFF2-40B4-BE49-F238E27FC236}">
                <a16:creationId xmlns:a16="http://schemas.microsoft.com/office/drawing/2014/main" id="{BA44C0A9-58E7-8B85-FF36-E6376DF26AAF}"/>
              </a:ext>
            </a:extLst>
          </p:cNvPr>
          <p:cNvSpPr>
            <a:spLocks noGrp="1"/>
          </p:cNvSpPr>
          <p:nvPr>
            <p:ph type="body" sz="quarter" idx="10" hasCustomPrompt="1"/>
          </p:nvPr>
        </p:nvSpPr>
        <p:spPr>
          <a:xfrm>
            <a:off x="839788" y="3764897"/>
            <a:ext cx="4783773"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9" name="Text Placeholder 15">
            <a:extLst>
              <a:ext uri="{FF2B5EF4-FFF2-40B4-BE49-F238E27FC236}">
                <a16:creationId xmlns:a16="http://schemas.microsoft.com/office/drawing/2014/main" id="{9990F3BE-1161-E910-D103-CA7C25B214AE}"/>
              </a:ext>
            </a:extLst>
          </p:cNvPr>
          <p:cNvSpPr>
            <a:spLocks noGrp="1"/>
          </p:cNvSpPr>
          <p:nvPr>
            <p:ph type="body" sz="quarter" idx="12" hasCustomPrompt="1"/>
          </p:nvPr>
        </p:nvSpPr>
        <p:spPr>
          <a:xfrm>
            <a:off x="839788" y="4384940"/>
            <a:ext cx="4783773"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
        <p:nvSpPr>
          <p:cNvPr id="4" name="Picture Placeholder 3">
            <a:extLst>
              <a:ext uri="{FF2B5EF4-FFF2-40B4-BE49-F238E27FC236}">
                <a16:creationId xmlns:a16="http://schemas.microsoft.com/office/drawing/2014/main" id="{B09EE806-4DA5-DED7-F788-898E6398100F}"/>
              </a:ext>
            </a:extLst>
          </p:cNvPr>
          <p:cNvSpPr>
            <a:spLocks noGrp="1"/>
          </p:cNvSpPr>
          <p:nvPr>
            <p:ph type="pic" sz="quarter" idx="13" hasCustomPrompt="1"/>
          </p:nvPr>
        </p:nvSpPr>
        <p:spPr>
          <a:xfrm>
            <a:off x="6096000" y="0"/>
            <a:ext cx="6096000" cy="6858000"/>
          </a:xfrm>
        </p:spPr>
        <p:txBody>
          <a:bodyPr anchor="ctr"/>
          <a:lstStyle>
            <a:lvl1pPr algn="ctr">
              <a:defRPr sz="1600"/>
            </a:lvl1pPr>
          </a:lstStyle>
          <a:p>
            <a:pPr marL="0" marR="0" lvl="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a:pPr>
            <a:r>
              <a:rPr lang="mi-NZ"/>
              <a:t>Click icon to insert your own picture</a:t>
            </a:r>
            <a:endParaRPr lang="en-NZ"/>
          </a:p>
          <a:p>
            <a:endParaRPr lang="en-NZ"/>
          </a:p>
        </p:txBody>
      </p:sp>
      <p:pic>
        <p:nvPicPr>
          <p:cNvPr id="11" name="Picture 10" descr="Logo&#10;&#10;Description automatically generated">
            <a:extLst>
              <a:ext uri="{FF2B5EF4-FFF2-40B4-BE49-F238E27FC236}">
                <a16:creationId xmlns:a16="http://schemas.microsoft.com/office/drawing/2014/main" id="{3951351A-664B-EB67-67F4-DB5F39BDE4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71293481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 IMAGE OPTION 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E1E694-77DB-4D4A-90B9-B9B74DD25D42}"/>
              </a:ext>
            </a:extLst>
          </p:cNvPr>
          <p:cNvSpPr/>
          <p:nvPr userDrawn="1"/>
        </p:nvSpPr>
        <p:spPr>
          <a:xfrm>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p>
        </p:txBody>
      </p:sp>
      <p:sp>
        <p:nvSpPr>
          <p:cNvPr id="7" name="Title 11">
            <a:extLst>
              <a:ext uri="{FF2B5EF4-FFF2-40B4-BE49-F238E27FC236}">
                <a16:creationId xmlns:a16="http://schemas.microsoft.com/office/drawing/2014/main" id="{9B9D202A-58D6-D62C-0F00-71A41BC6D073}"/>
              </a:ext>
            </a:extLst>
          </p:cNvPr>
          <p:cNvSpPr>
            <a:spLocks noGrp="1"/>
          </p:cNvSpPr>
          <p:nvPr>
            <p:ph type="title" hasCustomPrompt="1"/>
          </p:nvPr>
        </p:nvSpPr>
        <p:spPr>
          <a:xfrm>
            <a:off x="839788" y="2349000"/>
            <a:ext cx="4783772"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5 heading&gt;</a:t>
            </a:r>
            <a:endParaRPr lang="en-US"/>
          </a:p>
        </p:txBody>
      </p:sp>
      <p:sp>
        <p:nvSpPr>
          <p:cNvPr id="8" name="Text Placeholder 15">
            <a:extLst>
              <a:ext uri="{FF2B5EF4-FFF2-40B4-BE49-F238E27FC236}">
                <a16:creationId xmlns:a16="http://schemas.microsoft.com/office/drawing/2014/main" id="{BA44C0A9-58E7-8B85-FF36-E6376DF26AAF}"/>
              </a:ext>
            </a:extLst>
          </p:cNvPr>
          <p:cNvSpPr>
            <a:spLocks noGrp="1"/>
          </p:cNvSpPr>
          <p:nvPr>
            <p:ph type="body" sz="quarter" idx="10" hasCustomPrompt="1"/>
          </p:nvPr>
        </p:nvSpPr>
        <p:spPr>
          <a:xfrm>
            <a:off x="839788" y="3764897"/>
            <a:ext cx="4783773"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9" name="Text Placeholder 15">
            <a:extLst>
              <a:ext uri="{FF2B5EF4-FFF2-40B4-BE49-F238E27FC236}">
                <a16:creationId xmlns:a16="http://schemas.microsoft.com/office/drawing/2014/main" id="{9990F3BE-1161-E910-D103-CA7C25B214AE}"/>
              </a:ext>
            </a:extLst>
          </p:cNvPr>
          <p:cNvSpPr>
            <a:spLocks noGrp="1"/>
          </p:cNvSpPr>
          <p:nvPr>
            <p:ph type="body" sz="quarter" idx="12" hasCustomPrompt="1"/>
          </p:nvPr>
        </p:nvSpPr>
        <p:spPr>
          <a:xfrm>
            <a:off x="839788" y="4384940"/>
            <a:ext cx="4783773"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pic>
        <p:nvPicPr>
          <p:cNvPr id="11" name="Picture 10" descr="Logo&#10;&#10;Description automatically generated">
            <a:extLst>
              <a:ext uri="{FF2B5EF4-FFF2-40B4-BE49-F238E27FC236}">
                <a16:creationId xmlns:a16="http://schemas.microsoft.com/office/drawing/2014/main" id="{3951351A-664B-EB67-67F4-DB5F39BDE4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Picture Placeholder 3">
            <a:extLst>
              <a:ext uri="{FF2B5EF4-FFF2-40B4-BE49-F238E27FC236}">
                <a16:creationId xmlns:a16="http://schemas.microsoft.com/office/drawing/2014/main" id="{B09EE806-4DA5-DED7-F788-898E6398100F}"/>
              </a:ext>
            </a:extLst>
          </p:cNvPr>
          <p:cNvSpPr>
            <a:spLocks noGrp="1"/>
          </p:cNvSpPr>
          <p:nvPr>
            <p:ph type="pic" sz="quarter" idx="13" hasCustomPrompt="1"/>
          </p:nvPr>
        </p:nvSpPr>
        <p:spPr>
          <a:xfrm>
            <a:off x="6096000" y="0"/>
            <a:ext cx="6096000" cy="6858000"/>
          </a:xfrm>
        </p:spPr>
        <p:txBody>
          <a:bodyPr anchor="ctr"/>
          <a:lstStyle>
            <a:lvl1pPr algn="ctr">
              <a:defRPr sz="1600"/>
            </a:lvl1pPr>
          </a:lstStyle>
          <a:p>
            <a:pPr marL="0" marR="0" lvl="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a:pPr>
            <a:r>
              <a:rPr lang="mi-NZ"/>
              <a:t>Click icon to insert your own picture</a:t>
            </a:r>
            <a:endParaRPr lang="en-NZ"/>
          </a:p>
          <a:p>
            <a:endParaRPr lang="en-NZ"/>
          </a:p>
        </p:txBody>
      </p:sp>
    </p:spTree>
    <p:extLst>
      <p:ext uri="{BB962C8B-B14F-4D97-AF65-F5344CB8AC3E}">
        <p14:creationId xmlns:p14="http://schemas.microsoft.com/office/powerpoint/2010/main" val="240490569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Logo&#10;&#10;Description automatically generated">
            <a:extLst>
              <a:ext uri="{FF2B5EF4-FFF2-40B4-BE49-F238E27FC236}">
                <a16:creationId xmlns:a16="http://schemas.microsoft.com/office/drawing/2014/main" id="{89F85B2A-F12A-9A9E-0973-F01F7AC3433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9" name="Title 11">
            <a:extLst>
              <a:ext uri="{FF2B5EF4-FFF2-40B4-BE49-F238E27FC236}">
                <a16:creationId xmlns:a16="http://schemas.microsoft.com/office/drawing/2014/main" id="{FCF05B5C-52C2-5F93-DE8D-1D1D57B3338E}"/>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&lt;Section break Option 1&gt;</a:t>
            </a:r>
            <a:endParaRPr lang="en-US"/>
          </a:p>
        </p:txBody>
      </p:sp>
    </p:spTree>
    <p:extLst>
      <p:ext uri="{BB962C8B-B14F-4D97-AF65-F5344CB8AC3E}">
        <p14:creationId xmlns:p14="http://schemas.microsoft.com/office/powerpoint/2010/main" val="232849483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Option 2">
    <p:bg>
      <p:bgPr>
        <a:solidFill>
          <a:srgbClr val="002F6B"/>
        </a:solidFill>
        <a:effectLst/>
      </p:bgPr>
    </p:bg>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F8C4EA3-5924-08F2-B064-762B6DE94B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Title 11">
            <a:extLst>
              <a:ext uri="{FF2B5EF4-FFF2-40B4-BE49-F238E27FC236}">
                <a16:creationId xmlns:a16="http://schemas.microsoft.com/office/drawing/2014/main" id="{7EB6CD17-076A-000B-ABF0-450D46E03BD9}"/>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&lt;Section break Option 2&gt;</a:t>
            </a:r>
            <a:endParaRPr lang="en-US"/>
          </a:p>
        </p:txBody>
      </p:sp>
    </p:spTree>
    <p:extLst>
      <p:ext uri="{BB962C8B-B14F-4D97-AF65-F5344CB8AC3E}">
        <p14:creationId xmlns:p14="http://schemas.microsoft.com/office/powerpoint/2010/main" val="4159634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Option 3">
    <p:bg>
      <p:bgPr>
        <a:solidFill>
          <a:srgbClr val="FFFFFF"/>
        </a:solidFill>
        <a:effectLst/>
      </p:bgPr>
    </p:bg>
    <p:spTree>
      <p:nvGrpSpPr>
        <p:cNvPr id="1" name=""/>
        <p:cNvGrpSpPr/>
        <p:nvPr/>
      </p:nvGrpSpPr>
      <p:grpSpPr>
        <a:xfrm>
          <a:off x="0" y="0"/>
          <a:ext cx="0" cy="0"/>
          <a:chOff x="0" y="0"/>
          <a:chExt cx="0" cy="0"/>
        </a:xfrm>
      </p:grpSpPr>
      <p:pic>
        <p:nvPicPr>
          <p:cNvPr id="2" name="Picture 1" descr="A picture containing outdoor, nature, night sky, outdoor object&#10;&#10;Description automatically generated">
            <a:extLst>
              <a:ext uri="{FF2B5EF4-FFF2-40B4-BE49-F238E27FC236}">
                <a16:creationId xmlns:a16="http://schemas.microsoft.com/office/drawing/2014/main" id="{25BF2FDC-5AF3-AA6A-E027-C872C6BA40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588000" cy="6858000"/>
          </a:xfrm>
          <a:prstGeom prst="rect">
            <a:avLst/>
          </a:prstGeom>
        </p:spPr>
      </p:pic>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3</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10" name="Picture 9" descr="Logo&#10;&#10;Description automatically generated">
            <a:extLst>
              <a:ext uri="{FF2B5EF4-FFF2-40B4-BE49-F238E27FC236}">
                <a16:creationId xmlns:a16="http://schemas.microsoft.com/office/drawing/2014/main" id="{24D435D2-3410-EB75-6243-94D57AAB35A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159016131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Option 4">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F7A083-8F70-0729-68DB-10FA45D94AE5}"/>
              </a:ext>
            </a:extLst>
          </p:cNvPr>
          <p:cNvSpPr/>
          <p:nvPr userDrawn="1"/>
        </p:nvSpPr>
        <p:spPr>
          <a:xfrm>
            <a:off x="0" y="0"/>
            <a:ext cx="560647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p>
        </p:txBody>
      </p:sp>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4</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8" name="Picture 7" descr="Logo&#10;&#10;Description automatically generated">
            <a:extLst>
              <a:ext uri="{FF2B5EF4-FFF2-40B4-BE49-F238E27FC236}">
                <a16:creationId xmlns:a16="http://schemas.microsoft.com/office/drawing/2014/main" id="{683465E8-288A-F206-3A86-D6DB42431D0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128837230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IMAGE Option 5">
    <p:bg>
      <p:bgPr>
        <a:solidFill>
          <a:srgbClr val="FFFFFF"/>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15BA4DA-F6C5-B04D-9391-E71E0BDDC473}"/>
              </a:ext>
            </a:extLst>
          </p:cNvPr>
          <p:cNvSpPr>
            <a:spLocks noGrp="1"/>
          </p:cNvSpPr>
          <p:nvPr>
            <p:ph type="pic" sz="quarter" idx="11"/>
          </p:nvPr>
        </p:nvSpPr>
        <p:spPr>
          <a:xfrm>
            <a:off x="-29741" y="0"/>
            <a:ext cx="6096000" cy="6858000"/>
          </a:xfrm>
        </p:spPr>
        <p:txBody>
          <a:bodyPr anchor="ctr"/>
          <a:lstStyle>
            <a:lvl1pPr algn="ctr">
              <a:defRPr sz="1500" b="0"/>
            </a:lvl1pPr>
          </a:lstStyle>
          <a:p>
            <a:r>
              <a:rPr lang="en-US"/>
              <a:t>Click icon to add picture</a:t>
            </a:r>
          </a:p>
        </p:txBody>
      </p:sp>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5</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7" name="Picture 6" descr="Logo&#10;&#10;Description automatically generated">
            <a:extLst>
              <a:ext uri="{FF2B5EF4-FFF2-40B4-BE49-F238E27FC236}">
                <a16:creationId xmlns:a16="http://schemas.microsoft.com/office/drawing/2014/main" id="{8FF29A91-7212-2224-770F-F2F47259A5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45667" y="6187614"/>
            <a:ext cx="908050" cy="439787"/>
          </a:xfrm>
          <a:prstGeom prst="rect">
            <a:avLst/>
          </a:prstGeom>
        </p:spPr>
      </p:pic>
    </p:spTree>
    <p:extLst>
      <p:ext uri="{BB962C8B-B14F-4D97-AF65-F5344CB8AC3E}">
        <p14:creationId xmlns:p14="http://schemas.microsoft.com/office/powerpoint/2010/main" val="147362478"/>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1" name="Title 11">
            <a:extLst>
              <a:ext uri="{FF2B5EF4-FFF2-40B4-BE49-F238E27FC236}">
                <a16:creationId xmlns:a16="http://schemas.microsoft.com/office/drawing/2014/main" id="{4A46F358-BC55-E74D-82FD-A90ABF305C9E}"/>
              </a:ext>
            </a:extLst>
          </p:cNvPr>
          <p:cNvSpPr>
            <a:spLocks noGrp="1"/>
          </p:cNvSpPr>
          <p:nvPr>
            <p:ph type="title" hasCustomPrompt="1"/>
          </p:nvPr>
        </p:nvSpPr>
        <p:spPr>
          <a:xfrm>
            <a:off x="839789" y="2941465"/>
            <a:ext cx="10512424" cy="1080000"/>
          </a:xfrm>
        </p:spPr>
        <p:txBody>
          <a:bodyPr lIns="0" tIns="0" rIns="0" bIns="0"/>
          <a:lstStyle>
            <a:lvl1pPr algn="l">
              <a:defRPr sz="6000">
                <a:solidFill>
                  <a:srgbClr val="FFFFFF"/>
                </a:solidFill>
              </a:defRPr>
            </a:lvl1pPr>
          </a:lstStyle>
          <a:p>
            <a:r>
              <a:rPr lang="en-GB"/>
              <a:t>Thank you</a:t>
            </a:r>
            <a:endParaRPr lang="en-US"/>
          </a:p>
        </p:txBody>
      </p:sp>
      <p:pic>
        <p:nvPicPr>
          <p:cNvPr id="5" name="Picture 4" descr="Logo&#10;&#10;Description automatically generated">
            <a:extLst>
              <a:ext uri="{FF2B5EF4-FFF2-40B4-BE49-F238E27FC236}">
                <a16:creationId xmlns:a16="http://schemas.microsoft.com/office/drawing/2014/main" id="{F5E5BF47-FCDD-1903-CCA9-2083D5DF819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2740652513"/>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OPTION 2">
    <p:bg>
      <p:bgPr>
        <a:solidFill>
          <a:srgbClr val="002F6B"/>
        </a:solidFill>
        <a:effectLst/>
      </p:bgPr>
    </p:bg>
    <p:spTree>
      <p:nvGrpSpPr>
        <p:cNvPr id="1" name=""/>
        <p:cNvGrpSpPr/>
        <p:nvPr/>
      </p:nvGrpSpPr>
      <p:grpSpPr>
        <a:xfrm>
          <a:off x="0" y="0"/>
          <a:ext cx="0" cy="0"/>
          <a:chOff x="0" y="0"/>
          <a:chExt cx="0" cy="0"/>
        </a:xfrm>
      </p:grpSpPr>
      <p:sp>
        <p:nvSpPr>
          <p:cNvPr id="21" name="Title 11">
            <a:extLst>
              <a:ext uri="{FF2B5EF4-FFF2-40B4-BE49-F238E27FC236}">
                <a16:creationId xmlns:a16="http://schemas.microsoft.com/office/drawing/2014/main" id="{4A46F358-BC55-E74D-82FD-A90ABF305C9E}"/>
              </a:ext>
            </a:extLst>
          </p:cNvPr>
          <p:cNvSpPr>
            <a:spLocks noGrp="1"/>
          </p:cNvSpPr>
          <p:nvPr>
            <p:ph type="title" hasCustomPrompt="1"/>
          </p:nvPr>
        </p:nvSpPr>
        <p:spPr>
          <a:xfrm>
            <a:off x="839789" y="2941465"/>
            <a:ext cx="10512424" cy="1080000"/>
          </a:xfrm>
        </p:spPr>
        <p:txBody>
          <a:bodyPr lIns="0" tIns="0" rIns="0" bIns="0"/>
          <a:lstStyle>
            <a:lvl1pPr algn="l">
              <a:defRPr sz="6000">
                <a:solidFill>
                  <a:srgbClr val="FFFFFF"/>
                </a:solidFill>
              </a:defRPr>
            </a:lvl1pPr>
          </a:lstStyle>
          <a:p>
            <a:r>
              <a:rPr lang="en-GB"/>
              <a:t>Thank you</a:t>
            </a:r>
            <a:endParaRPr lang="en-US"/>
          </a:p>
        </p:txBody>
      </p:sp>
      <p:pic>
        <p:nvPicPr>
          <p:cNvPr id="5" name="Picture 4" descr="Logo&#10;&#10;Description automatically generated">
            <a:extLst>
              <a:ext uri="{FF2B5EF4-FFF2-40B4-BE49-F238E27FC236}">
                <a16:creationId xmlns:a16="http://schemas.microsoft.com/office/drawing/2014/main" id="{F5E5BF47-FCDD-1903-CCA9-2083D5DF81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673046428"/>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asic BNZ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930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839788" y="513481"/>
            <a:ext cx="10512425" cy="387170"/>
          </a:xfrm>
        </p:spPr>
        <p:txBody>
          <a:bodyPr/>
          <a:lstStyle>
            <a:lvl1pPr>
              <a:defRPr b="0">
                <a:latin typeface="Calibri Light" panose="020F0302020204030204" pitchFamily="34" charset="0"/>
                <a:cs typeface="Calibri Light" panose="020F0302020204030204" pitchFamily="34" charset="0"/>
              </a:defRPr>
            </a:lvl1pPr>
          </a:lstStyle>
          <a:p>
            <a:r>
              <a:rPr lang="en-GB" dirty="0"/>
              <a:t>2 column slide heading</a:t>
            </a:r>
            <a:endParaRPr lang="en-US" dirty="0"/>
          </a:p>
        </p:txBody>
      </p:sp>
      <p:sp>
        <p:nvSpPr>
          <p:cNvPr id="4" name="Text Placeholder 3">
            <a:extLst>
              <a:ext uri="{FF2B5EF4-FFF2-40B4-BE49-F238E27FC236}">
                <a16:creationId xmlns:a16="http://schemas.microsoft.com/office/drawing/2014/main" id="{58B452FB-9AE8-FE4C-AFD4-72A5AA64E47F}"/>
              </a:ext>
            </a:extLst>
          </p:cNvPr>
          <p:cNvSpPr>
            <a:spLocks noGrp="1"/>
          </p:cNvSpPr>
          <p:nvPr>
            <p:ph type="body" sz="quarter" idx="10" hasCustomPrompt="1"/>
          </p:nvPr>
        </p:nvSpPr>
        <p:spPr>
          <a:xfrm>
            <a:off x="839788" y="986158"/>
            <a:ext cx="10512425" cy="319724"/>
          </a:xfrm>
        </p:spPr>
        <p:txBody>
          <a:bodyPr/>
          <a:lstStyle>
            <a:lvl1pPr>
              <a:defRPr>
                <a:latin typeface="Calibri Light" panose="020F0302020204030204" pitchFamily="34" charset="0"/>
                <a:cs typeface="Calibri Light" panose="020F0302020204030204" pitchFamily="34" charset="0"/>
              </a:defRPr>
            </a:lvl1pPr>
          </a:lstStyle>
          <a:p>
            <a:pPr lvl="0"/>
            <a:r>
              <a:rPr lang="en-GB"/>
              <a:t>Optional subheading </a:t>
            </a:r>
          </a:p>
        </p:txBody>
      </p:sp>
      <p:sp>
        <p:nvSpPr>
          <p:cNvPr id="28" name="Text Placeholder 24">
            <a:extLst>
              <a:ext uri="{FF2B5EF4-FFF2-40B4-BE49-F238E27FC236}">
                <a16:creationId xmlns:a16="http://schemas.microsoft.com/office/drawing/2014/main" id="{99601F0E-BC63-3449-92B1-71711B08C488}"/>
              </a:ext>
            </a:extLst>
          </p:cNvPr>
          <p:cNvSpPr>
            <a:spLocks noGrp="1"/>
          </p:cNvSpPr>
          <p:nvPr>
            <p:ph type="body" sz="quarter" idx="14" hasCustomPrompt="1"/>
          </p:nvPr>
        </p:nvSpPr>
        <p:spPr>
          <a:xfrm>
            <a:off x="6311900" y="1804820"/>
            <a:ext cx="5034955" cy="4260850"/>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Column 2 body copy</a:t>
            </a:r>
          </a:p>
          <a:p>
            <a:pPr lvl="0"/>
            <a:endParaRPr lang="en-GB"/>
          </a:p>
        </p:txBody>
      </p:sp>
      <p:sp>
        <p:nvSpPr>
          <p:cNvPr id="12" name="Text Placeholder 31">
            <a:extLst>
              <a:ext uri="{FF2B5EF4-FFF2-40B4-BE49-F238E27FC236}">
                <a16:creationId xmlns:a16="http://schemas.microsoft.com/office/drawing/2014/main" id="{513BF4AB-4F0F-B042-AFE7-9F3F0ADA7560}"/>
              </a:ext>
            </a:extLst>
          </p:cNvPr>
          <p:cNvSpPr>
            <a:spLocks noGrp="1"/>
          </p:cNvSpPr>
          <p:nvPr>
            <p:ph type="body" sz="quarter" idx="16" hasCustomPrompt="1"/>
          </p:nvPr>
        </p:nvSpPr>
        <p:spPr>
          <a:xfrm>
            <a:off x="839789" y="1528596"/>
            <a:ext cx="5040312" cy="276225"/>
          </a:xfrm>
        </p:spPr>
        <p:txBody>
          <a:bodyPr/>
          <a:lstStyle>
            <a:lvl1pPr>
              <a:defRPr sz="1600" b="0" i="0">
                <a:latin typeface="Aptos" panose="020B0004020202020204" pitchFamily="34" charset="0"/>
                <a:cs typeface="Calibri" panose="020F0502020204030204" pitchFamily="34" charset="0"/>
              </a:defRPr>
            </a:lvl1pPr>
          </a:lstStyle>
          <a:p>
            <a:pPr lvl="0"/>
            <a:r>
              <a:rPr lang="en-GB"/>
              <a:t>Column 1 body heading</a:t>
            </a:r>
            <a:endParaRPr lang="en-US"/>
          </a:p>
        </p:txBody>
      </p:sp>
      <p:sp>
        <p:nvSpPr>
          <p:cNvPr id="15" name="Text Placeholder 24">
            <a:extLst>
              <a:ext uri="{FF2B5EF4-FFF2-40B4-BE49-F238E27FC236}">
                <a16:creationId xmlns:a16="http://schemas.microsoft.com/office/drawing/2014/main" id="{DA8EDD2F-46A8-834C-93FD-894E80FFC7CC}"/>
              </a:ext>
            </a:extLst>
          </p:cNvPr>
          <p:cNvSpPr>
            <a:spLocks noGrp="1"/>
          </p:cNvSpPr>
          <p:nvPr>
            <p:ph type="body" sz="quarter" idx="13" hasCustomPrompt="1"/>
          </p:nvPr>
        </p:nvSpPr>
        <p:spPr>
          <a:xfrm>
            <a:off x="839789" y="1805046"/>
            <a:ext cx="5040312" cy="4260624"/>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Column 1 body copy</a:t>
            </a:r>
          </a:p>
          <a:p>
            <a:pPr lvl="0"/>
            <a:endParaRPr lang="en-GB"/>
          </a:p>
        </p:txBody>
      </p:sp>
      <p:sp>
        <p:nvSpPr>
          <p:cNvPr id="16" name="Text Placeholder 31">
            <a:extLst>
              <a:ext uri="{FF2B5EF4-FFF2-40B4-BE49-F238E27FC236}">
                <a16:creationId xmlns:a16="http://schemas.microsoft.com/office/drawing/2014/main" id="{C3C9149B-9508-B848-A1D9-63326F0F9D73}"/>
              </a:ext>
            </a:extLst>
          </p:cNvPr>
          <p:cNvSpPr>
            <a:spLocks noGrp="1"/>
          </p:cNvSpPr>
          <p:nvPr>
            <p:ph type="body" sz="quarter" idx="17" hasCustomPrompt="1"/>
          </p:nvPr>
        </p:nvSpPr>
        <p:spPr>
          <a:xfrm>
            <a:off x="6311901" y="1528596"/>
            <a:ext cx="5034955" cy="276225"/>
          </a:xfrm>
        </p:spPr>
        <p:txBody>
          <a:bodyPr/>
          <a:lstStyle>
            <a:lvl1pPr>
              <a:defRPr sz="1600" b="0" i="0">
                <a:latin typeface="Aptos" panose="020B0004020202020204" pitchFamily="34" charset="0"/>
                <a:cs typeface="Calibri" panose="020F0502020204030204" pitchFamily="34" charset="0"/>
              </a:defRPr>
            </a:lvl1pPr>
          </a:lstStyle>
          <a:p>
            <a:pPr lvl="0"/>
            <a:r>
              <a:rPr lang="en-GB"/>
              <a:t>Column 2 body heading</a:t>
            </a:r>
            <a:endParaRPr lang="en-US"/>
          </a:p>
        </p:txBody>
      </p:sp>
      <p:sp>
        <p:nvSpPr>
          <p:cNvPr id="5" name="Footer Placeholder 4">
            <a:extLst>
              <a:ext uri="{FF2B5EF4-FFF2-40B4-BE49-F238E27FC236}">
                <a16:creationId xmlns:a16="http://schemas.microsoft.com/office/drawing/2014/main" id="{5B258A9C-BE88-7B4E-B516-AD2DC1B58DE5}"/>
              </a:ext>
            </a:extLst>
          </p:cNvPr>
          <p:cNvSpPr>
            <a:spLocks noGrp="1"/>
          </p:cNvSpPr>
          <p:nvPr>
            <p:ph type="ftr" sz="quarter" idx="18"/>
          </p:nvPr>
        </p:nvSpPr>
        <p:spPr/>
        <p:txBody>
          <a:bodyPr/>
          <a:lstStyle/>
          <a:p>
            <a:endParaRPr lang="en-NZ"/>
          </a:p>
        </p:txBody>
      </p:sp>
      <p:sp>
        <p:nvSpPr>
          <p:cNvPr id="6" name="Slide Number Placeholder 5">
            <a:extLst>
              <a:ext uri="{FF2B5EF4-FFF2-40B4-BE49-F238E27FC236}">
                <a16:creationId xmlns:a16="http://schemas.microsoft.com/office/drawing/2014/main" id="{049AB5F2-416A-EC44-9CAA-6EB31210E733}"/>
              </a:ext>
            </a:extLst>
          </p:cNvPr>
          <p:cNvSpPr>
            <a:spLocks noGrp="1"/>
          </p:cNvSpPr>
          <p:nvPr>
            <p:ph type="sldNum" sz="quarter" idx="19"/>
          </p:nvPr>
        </p:nvSpPr>
        <p:spPr/>
        <p:txBody>
          <a:bodyPr/>
          <a:lstStyle/>
          <a:p>
            <a:fld id="{2E5A4CF9-4EB3-4341-AF18-D9A68BC60189}" type="slidenum">
              <a:rPr lang="en-NZ" smtClean="0"/>
              <a:t>‹#›</a:t>
            </a:fld>
            <a:endParaRPr lang="en-NZ"/>
          </a:p>
        </p:txBody>
      </p:sp>
    </p:spTree>
    <p:extLst>
      <p:ext uri="{BB962C8B-B14F-4D97-AF65-F5344CB8AC3E}">
        <p14:creationId xmlns:p14="http://schemas.microsoft.com/office/powerpoint/2010/main" val="3566623239"/>
      </p:ext>
    </p:extLst>
  </p:cSld>
  <p:clrMapOvr>
    <a:masterClrMapping/>
  </p:clrMapOvr>
  <p:extLst>
    <p:ext uri="{DCECCB84-F9BA-43D5-87BE-67443E8EF086}">
      <p15:sldGuideLst xmlns:p15="http://schemas.microsoft.com/office/powerpoint/2012/main">
        <p15:guide id="7" pos="3840">
          <p15:clr>
            <a:srgbClr val="FBAE40"/>
          </p15:clr>
        </p15:guide>
        <p15:guide id="8" pos="3704">
          <p15:clr>
            <a:srgbClr val="FBAE40"/>
          </p15:clr>
        </p15:guide>
        <p15:guide id="9" pos="39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ASIC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839789" y="513481"/>
            <a:ext cx="10512424" cy="502605"/>
          </a:xfrm>
        </p:spPr>
        <p:txBody>
          <a:bodyPr/>
          <a:lstStyle>
            <a:lvl1pPr>
              <a:defRPr b="0">
                <a:latin typeface="Calibri Light" panose="020F0302020204030204" pitchFamily="34" charset="0"/>
                <a:cs typeface="Calibri Light" panose="020F0302020204030204" pitchFamily="34" charset="0"/>
              </a:defRPr>
            </a:lvl1pPr>
          </a:lstStyle>
          <a:p>
            <a:r>
              <a:rPr lang="en-GB"/>
              <a:t>Basic slide heading</a:t>
            </a:r>
            <a:endParaRPr lang="en-US"/>
          </a:p>
        </p:txBody>
      </p:sp>
      <p:sp>
        <p:nvSpPr>
          <p:cNvPr id="4" name="Text Placeholder 3">
            <a:extLst>
              <a:ext uri="{FF2B5EF4-FFF2-40B4-BE49-F238E27FC236}">
                <a16:creationId xmlns:a16="http://schemas.microsoft.com/office/drawing/2014/main" id="{58B452FB-9AE8-FE4C-AFD4-72A5AA64E47F}"/>
              </a:ext>
            </a:extLst>
          </p:cNvPr>
          <p:cNvSpPr>
            <a:spLocks noGrp="1"/>
          </p:cNvSpPr>
          <p:nvPr>
            <p:ph type="body" sz="quarter" idx="10" hasCustomPrompt="1"/>
          </p:nvPr>
        </p:nvSpPr>
        <p:spPr>
          <a:xfrm>
            <a:off x="848269" y="982306"/>
            <a:ext cx="10512424" cy="319724"/>
          </a:xfrm>
        </p:spPr>
        <p:txBody>
          <a:bodyPr/>
          <a:lstStyle>
            <a:lvl1pPr>
              <a:defRPr>
                <a:latin typeface="Calibri Light" panose="020F0302020204030204" pitchFamily="34" charset="0"/>
                <a:cs typeface="Calibri Light" panose="020F0302020204030204" pitchFamily="34" charset="0"/>
              </a:defRPr>
            </a:lvl1pPr>
          </a:lstStyle>
          <a:p>
            <a:pPr lvl="0"/>
            <a:r>
              <a:rPr lang="en-GB"/>
              <a:t>Optional subheading </a:t>
            </a:r>
          </a:p>
        </p:txBody>
      </p:sp>
      <p:sp>
        <p:nvSpPr>
          <p:cNvPr id="12" name="Text Placeholder 31">
            <a:extLst>
              <a:ext uri="{FF2B5EF4-FFF2-40B4-BE49-F238E27FC236}">
                <a16:creationId xmlns:a16="http://schemas.microsoft.com/office/drawing/2014/main" id="{513BF4AB-4F0F-B042-AFE7-9F3F0ADA7560}"/>
              </a:ext>
            </a:extLst>
          </p:cNvPr>
          <p:cNvSpPr>
            <a:spLocks noGrp="1"/>
          </p:cNvSpPr>
          <p:nvPr>
            <p:ph type="body" sz="quarter" idx="16" hasCustomPrompt="1"/>
          </p:nvPr>
        </p:nvSpPr>
        <p:spPr>
          <a:xfrm>
            <a:off x="839790" y="1528602"/>
            <a:ext cx="10512424" cy="276225"/>
          </a:xfrm>
        </p:spPr>
        <p:txBody>
          <a:bodyPr/>
          <a:lstStyle>
            <a:lvl1pPr>
              <a:defRPr sz="1600" b="0" i="0">
                <a:latin typeface="Aptos" panose="020B0004020202020204" pitchFamily="34" charset="0"/>
                <a:cs typeface="Calibri" panose="020F0502020204030204" pitchFamily="34" charset="0"/>
              </a:defRPr>
            </a:lvl1pPr>
          </a:lstStyle>
          <a:p>
            <a:pPr lvl="0"/>
            <a:r>
              <a:rPr lang="en-GB"/>
              <a:t>Body heading</a:t>
            </a:r>
            <a:endParaRPr lang="en-US"/>
          </a:p>
        </p:txBody>
      </p:sp>
      <p:sp>
        <p:nvSpPr>
          <p:cNvPr id="15" name="Text Placeholder 24">
            <a:extLst>
              <a:ext uri="{FF2B5EF4-FFF2-40B4-BE49-F238E27FC236}">
                <a16:creationId xmlns:a16="http://schemas.microsoft.com/office/drawing/2014/main" id="{DA8EDD2F-46A8-834C-93FD-894E80FFC7CC}"/>
              </a:ext>
            </a:extLst>
          </p:cNvPr>
          <p:cNvSpPr>
            <a:spLocks noGrp="1"/>
          </p:cNvSpPr>
          <p:nvPr>
            <p:ph type="body" sz="quarter" idx="13" hasCustomPrompt="1"/>
          </p:nvPr>
        </p:nvSpPr>
        <p:spPr>
          <a:xfrm>
            <a:off x="839790" y="1805052"/>
            <a:ext cx="10512424" cy="3892486"/>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Body copy full width of slide</a:t>
            </a:r>
          </a:p>
        </p:txBody>
      </p:sp>
      <p:sp>
        <p:nvSpPr>
          <p:cNvPr id="5" name="Footer Placeholder 4">
            <a:extLst>
              <a:ext uri="{FF2B5EF4-FFF2-40B4-BE49-F238E27FC236}">
                <a16:creationId xmlns:a16="http://schemas.microsoft.com/office/drawing/2014/main" id="{5B258A9C-BE88-7B4E-B516-AD2DC1B58DE5}"/>
              </a:ext>
            </a:extLst>
          </p:cNvPr>
          <p:cNvSpPr>
            <a:spLocks noGrp="1"/>
          </p:cNvSpPr>
          <p:nvPr>
            <p:ph type="ftr" sz="quarter" idx="18"/>
          </p:nvPr>
        </p:nvSpPr>
        <p:spPr/>
        <p:txBody>
          <a:bodyPr/>
          <a:lstStyle/>
          <a:p>
            <a:endParaRPr lang="en-NZ"/>
          </a:p>
        </p:txBody>
      </p:sp>
      <p:sp>
        <p:nvSpPr>
          <p:cNvPr id="6" name="Slide Number Placeholder 5">
            <a:extLst>
              <a:ext uri="{FF2B5EF4-FFF2-40B4-BE49-F238E27FC236}">
                <a16:creationId xmlns:a16="http://schemas.microsoft.com/office/drawing/2014/main" id="{049AB5F2-416A-EC44-9CAA-6EB31210E733}"/>
              </a:ext>
            </a:extLst>
          </p:cNvPr>
          <p:cNvSpPr>
            <a:spLocks noGrp="1"/>
          </p:cNvSpPr>
          <p:nvPr>
            <p:ph type="sldNum" sz="quarter" idx="19"/>
          </p:nvPr>
        </p:nvSpPr>
        <p:spPr/>
        <p:txBody>
          <a:bodyPr/>
          <a:lstStyle/>
          <a:p>
            <a:fld id="{2E5A4CF9-4EB3-4341-AF18-D9A68BC60189}" type="slidenum">
              <a:rPr lang="en-NZ" smtClean="0"/>
              <a:t>‹#›</a:t>
            </a:fld>
            <a:endParaRPr lang="en-NZ"/>
          </a:p>
        </p:txBody>
      </p:sp>
    </p:spTree>
    <p:extLst>
      <p:ext uri="{BB962C8B-B14F-4D97-AF65-F5344CB8AC3E}">
        <p14:creationId xmlns:p14="http://schemas.microsoft.com/office/powerpoint/2010/main" val="427440840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249239" y="248463"/>
            <a:ext cx="10512424" cy="502605"/>
          </a:xfrm>
        </p:spPr>
        <p:txBody>
          <a:bodyPr anchor="ctr"/>
          <a:lstStyle>
            <a:lvl1pPr>
              <a:defRPr sz="2400" b="1">
                <a:latin typeface="Calibri Light" panose="020F0302020204030204" pitchFamily="34" charset="0"/>
                <a:cs typeface="Calibri Light" panose="020F0302020204030204" pitchFamily="34" charset="0"/>
              </a:defRPr>
            </a:lvl1pPr>
          </a:lstStyle>
          <a:p>
            <a:r>
              <a:rPr lang="en-GB"/>
              <a:t>Basic slide heading</a:t>
            </a:r>
            <a:endParaRPr lang="en-US"/>
          </a:p>
        </p:txBody>
      </p:sp>
      <p:pic>
        <p:nvPicPr>
          <p:cNvPr id="3" name="Picture 2" descr="Logo&#10;&#10;Description automatically generated">
            <a:extLst>
              <a:ext uri="{FF2B5EF4-FFF2-40B4-BE49-F238E27FC236}">
                <a16:creationId xmlns:a16="http://schemas.microsoft.com/office/drawing/2014/main" id="{C56F6471-8607-FBA2-78A1-8667691399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25249" y="6460674"/>
            <a:ext cx="599917" cy="290552"/>
          </a:xfrm>
          <a:prstGeom prst="rect">
            <a:avLst/>
          </a:prstGeom>
        </p:spPr>
      </p:pic>
      <p:sp>
        <p:nvSpPr>
          <p:cNvPr id="4" name="Slide Number Placeholder 7">
            <a:extLst>
              <a:ext uri="{FF2B5EF4-FFF2-40B4-BE49-F238E27FC236}">
                <a16:creationId xmlns:a16="http://schemas.microsoft.com/office/drawing/2014/main" id="{BB5E0CB3-5060-4F06-8D09-9495D9BEAF98}"/>
              </a:ext>
            </a:extLst>
          </p:cNvPr>
          <p:cNvSpPr txBox="1">
            <a:spLocks/>
          </p:cNvSpPr>
          <p:nvPr userDrawn="1"/>
        </p:nvSpPr>
        <p:spPr>
          <a:xfrm>
            <a:off x="133554" y="6532721"/>
            <a:ext cx="323646" cy="209455"/>
          </a:xfrm>
          <a:prstGeom prst="rect">
            <a:avLst/>
          </a:prstGeom>
          <a:solidFill>
            <a:srgbClr val="00306E"/>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E5A4CF9-4EB3-4341-AF18-D9A68BC60189}" type="slidenum">
              <a:rPr lang="en-NZ" sz="1000" noProof="0" smtClean="0">
                <a:solidFill>
                  <a:srgbClr val="FFAA1B"/>
                </a:solidFill>
                <a:latin typeface="Serrano Book" panose="02000504000000020004" pitchFamily="50" charset="0"/>
              </a:rPr>
              <a:pPr algn="ctr"/>
              <a:t>‹#›</a:t>
            </a:fld>
            <a:endParaRPr lang="en-NZ" sz="1000" noProof="0">
              <a:solidFill>
                <a:srgbClr val="FFAA1B"/>
              </a:solidFill>
              <a:latin typeface="Serrano Book" panose="02000504000000020004" pitchFamily="50" charset="0"/>
            </a:endParaRPr>
          </a:p>
        </p:txBody>
      </p:sp>
    </p:spTree>
    <p:extLst>
      <p:ext uri="{BB962C8B-B14F-4D97-AF65-F5344CB8AC3E}">
        <p14:creationId xmlns:p14="http://schemas.microsoft.com/office/powerpoint/2010/main" val="74823089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9788" y="2349000"/>
            <a:ext cx="11232000" cy="1080000"/>
          </a:xfrm>
          <a:prstGeom prst="rect">
            <a:avLst/>
          </a:prstGeom>
        </p:spPr>
        <p:txBody>
          <a:bodyPr vert="horz" lIns="0" tIns="0" rIns="0" bIns="0" rtlCol="0" anchor="t" anchorCtr="0">
            <a:noAutofit/>
          </a:bodyPr>
          <a:lstStyle/>
          <a:p>
            <a:pPr lvl="0"/>
            <a:r>
              <a:rPr lang="en-US"/>
              <a:t>Click to edit Master title style</a:t>
            </a:r>
          </a:p>
        </p:txBody>
      </p:sp>
      <p:sp>
        <p:nvSpPr>
          <p:cNvPr id="3" name="Text Placeholder 2"/>
          <p:cNvSpPr>
            <a:spLocks noGrp="1"/>
          </p:cNvSpPr>
          <p:nvPr>
            <p:ph type="body" idx="1"/>
          </p:nvPr>
        </p:nvSpPr>
        <p:spPr>
          <a:xfrm>
            <a:off x="839789" y="3770069"/>
            <a:ext cx="10512424" cy="1581421"/>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1F17558-1CB2-4702-BDD2-0D7950F3C6C8}"/>
              </a:ext>
            </a:extLst>
          </p:cNvPr>
          <p:cNvSpPr txBox="1"/>
          <p:nvPr>
            <p:extLst>
              <p:ext uri="{1162E1C5-73C7-4A58-AE30-91384D911F3F}">
                <p184:classification xmlns:p184="http://schemas.microsoft.com/office/powerpoint/2018/4/main" val="ftr"/>
              </p:ext>
            </p:extLst>
          </p:nvPr>
        </p:nvSpPr>
        <p:spPr>
          <a:xfrm>
            <a:off x="5711826" y="6642100"/>
            <a:ext cx="796925" cy="153888"/>
          </a:xfrm>
          <a:prstGeom prst="rect">
            <a:avLst/>
          </a:prstGeom>
        </p:spPr>
        <p:txBody>
          <a:bodyPr horzOverflow="overflow" lIns="0" tIns="0" rIns="0" bIns="0">
            <a:spAutoFit/>
          </a:bodyPr>
          <a:lstStyle/>
          <a:p>
            <a:pPr algn="l"/>
            <a:r>
              <a:rPr lang="en-NZ" sz="1000">
                <a:solidFill>
                  <a:srgbClr val="000000"/>
                </a:solidFill>
                <a:latin typeface="Calibri" panose="020F0502020204030204" pitchFamily="34" charset="0"/>
                <a:cs typeface="Calibri" panose="020F0502020204030204" pitchFamily="34" charset="0"/>
              </a:rPr>
              <a:t>CONFIDENTIAL</a:t>
            </a:r>
          </a:p>
        </p:txBody>
      </p:sp>
      <p:sp>
        <p:nvSpPr>
          <p:cNvPr id="5" name="TextBox 4">
            <a:extLst>
              <a:ext uri="{FF2B5EF4-FFF2-40B4-BE49-F238E27FC236}">
                <a16:creationId xmlns:a16="http://schemas.microsoft.com/office/drawing/2014/main" id="{60419E7B-49D8-4E4E-95E7-E56C6533E45E}"/>
              </a:ext>
            </a:extLst>
          </p:cNvPr>
          <p:cNvSpPr txBox="1"/>
          <p:nvPr>
            <p:extLst>
              <p:ext uri="{1162E1C5-73C7-4A58-AE30-91384D911F3F}">
                <p184:classification xmlns:p184="http://schemas.microsoft.com/office/powerpoint/2018/4/main" val="hdr"/>
              </p:ext>
            </p:extLst>
          </p:nvPr>
        </p:nvSpPr>
        <p:spPr>
          <a:xfrm>
            <a:off x="5711826" y="63500"/>
            <a:ext cx="796925" cy="153888"/>
          </a:xfrm>
          <a:prstGeom prst="rect">
            <a:avLst/>
          </a:prstGeom>
        </p:spPr>
        <p:txBody>
          <a:bodyPr horzOverflow="overflow" lIns="0" tIns="0" rIns="0" bIns="0">
            <a:spAutoFit/>
          </a:bodyPr>
          <a:lstStyle/>
          <a:p>
            <a:pPr algn="l"/>
            <a:r>
              <a:rPr lang="en-NZ" sz="1000">
                <a:solidFill>
                  <a:srgbClr val="000000"/>
                </a:solidFill>
                <a:latin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3730563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91" r:id="rId13"/>
    <p:sldLayoutId id="2147483692" r:id="rId14"/>
    <p:sldLayoutId id="2147483693" r:id="rId15"/>
    <p:sldLayoutId id="2147483695" r:id="rId16"/>
  </p:sldLayoutIdLst>
  <p:hf hdr="0" ftr="0" dt="0"/>
  <p:txStyles>
    <p:titleStyle>
      <a:lvl1pPr algn="l" defTabSz="914377" rtl="0" eaLnBrk="1" fontAlgn="t" latinLnBrk="0" hangingPunct="1">
        <a:lnSpc>
          <a:spcPct val="65000"/>
        </a:lnSpc>
        <a:spcBef>
          <a:spcPct val="0"/>
        </a:spcBef>
        <a:buNone/>
        <a:defRPr lang="en-US" sz="5400" b="0" i="0" kern="1200" spc="-150" dirty="0">
          <a:solidFill>
            <a:schemeClr val="tx1"/>
          </a:solidFill>
          <a:latin typeface="Calibri Light" panose="020F0302020204030204" pitchFamily="34" charset="0"/>
          <a:ea typeface="+mj-ea"/>
          <a:cs typeface="Calibri Light" panose="020F0302020204030204" pitchFamily="34" charset="0"/>
        </a:defRPr>
      </a:lvl1pPr>
    </p:titleStyle>
    <p:bodyStyle>
      <a:lvl1pPr marL="0" indent="0" algn="l" defTabSz="914377" rtl="0" eaLnBrk="1" fontAlgn="t" latinLnBrk="0" hangingPunct="1">
        <a:lnSpc>
          <a:spcPct val="90000"/>
        </a:lnSpc>
        <a:spcBef>
          <a:spcPts val="0"/>
        </a:spcBef>
        <a:spcAft>
          <a:spcPts val="200"/>
        </a:spcAft>
        <a:buFont typeface="Wingdings" panose="05000000000000000000" pitchFamily="2" charset="2"/>
        <a:buNone/>
        <a:defRPr lang="en-US" sz="2400" b="0" i="0" kern="1200" dirty="0" smtClean="0">
          <a:solidFill>
            <a:schemeClr val="tx1"/>
          </a:solidFill>
          <a:latin typeface="Calibri Light" panose="020F0302020204030204" pitchFamily="34" charset="0"/>
          <a:ea typeface="+mn-ea"/>
          <a:cs typeface="Calibri Light" panose="020F0302020204030204" pitchFamily="34" charset="0"/>
        </a:defRPr>
      </a:lvl1pPr>
      <a:lvl2pPr marL="359991" indent="0" algn="l" defTabSz="914377" rtl="0" eaLnBrk="1" fontAlgn="t" latinLnBrk="0" hangingPunct="1">
        <a:lnSpc>
          <a:spcPct val="90000"/>
        </a:lnSpc>
        <a:spcBef>
          <a:spcPts val="500"/>
        </a:spcBef>
        <a:spcAft>
          <a:spcPts val="200"/>
        </a:spcAft>
        <a:buFont typeface="Arial" panose="020B0604020202020204" pitchFamily="34" charset="0"/>
        <a:buNone/>
        <a:defRPr lang="en-US" sz="2300" b="0" i="0" kern="1200" dirty="0" smtClean="0">
          <a:solidFill>
            <a:schemeClr val="tx1"/>
          </a:solidFill>
          <a:latin typeface="+mj-lt"/>
          <a:ea typeface="+mn-ea"/>
          <a:cs typeface="Calibri Light" panose="020F0302020204030204" pitchFamily="34" charset="0"/>
        </a:defRPr>
      </a:lvl2pPr>
      <a:lvl3pPr marL="719982" indent="0" algn="l" defTabSz="914377" rtl="0" eaLnBrk="1" fontAlgn="t" latinLnBrk="0" hangingPunct="1">
        <a:lnSpc>
          <a:spcPct val="90000"/>
        </a:lnSpc>
        <a:spcBef>
          <a:spcPts val="500"/>
        </a:spcBef>
        <a:spcAft>
          <a:spcPts val="200"/>
        </a:spcAft>
        <a:buClr>
          <a:schemeClr val="tx1"/>
        </a:buClr>
        <a:buFont typeface="System Font Regular"/>
        <a:buNone/>
        <a:defRPr lang="en-US" sz="1000" b="1" i="0" kern="1200" dirty="0" smtClean="0">
          <a:solidFill>
            <a:schemeClr val="tx1"/>
          </a:solidFill>
          <a:latin typeface="+mj-lt"/>
          <a:ea typeface="+mn-ea"/>
          <a:cs typeface="Calibri" panose="020F0502020204030204" pitchFamily="34" charset="0"/>
        </a:defRPr>
      </a:lvl3pPr>
      <a:lvl4pPr marL="1371566" indent="0" algn="l" defTabSz="914377" rtl="0" eaLnBrk="1" fontAlgn="t" latinLnBrk="0" hangingPunct="1">
        <a:lnSpc>
          <a:spcPct val="90000"/>
        </a:lnSpc>
        <a:spcBef>
          <a:spcPts val="500"/>
        </a:spcBef>
        <a:spcAft>
          <a:spcPts val="200"/>
        </a:spcAft>
        <a:buFontTx/>
        <a:buNone/>
        <a:defRPr lang="en-US" sz="1000" b="0" i="0" kern="1200" dirty="0" smtClean="0">
          <a:solidFill>
            <a:schemeClr val="tx1"/>
          </a:solidFill>
          <a:latin typeface="+mj-lt"/>
          <a:ea typeface="+mn-ea"/>
          <a:cs typeface="Calibri Light" panose="020F0302020204030204" pitchFamily="34" charset="0"/>
        </a:defRPr>
      </a:lvl4pPr>
      <a:lvl5pPr marL="1828755" indent="0" algn="l" defTabSz="914377" rtl="0" eaLnBrk="1" fontAlgn="t" latinLnBrk="0" hangingPunct="1">
        <a:lnSpc>
          <a:spcPct val="90000"/>
        </a:lnSpc>
        <a:spcBef>
          <a:spcPts val="500"/>
        </a:spcBef>
        <a:spcAft>
          <a:spcPts val="200"/>
        </a:spcAft>
        <a:buFont typeface="Arial" panose="020B0604020202020204" pitchFamily="34" charset="0"/>
        <a:buNone/>
        <a:defRPr lang="en-US" sz="1000" kern="1200" dirty="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151">
          <p15:clr>
            <a:srgbClr val="F26B43"/>
          </p15:clr>
        </p15:guide>
        <p15:guide id="3" pos="529">
          <p15:clr>
            <a:srgbClr val="F26B43"/>
          </p15:clr>
        </p15:guide>
        <p15:guide id="4" orient="horz" pos="358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hyperlink" Target="https://confluence.nz.thenational.com/x/JQewaw" TargetMode="External"/><Relationship Id="rId2" Type="http://schemas.openxmlformats.org/officeDocument/2006/relationships/hyperlink" Target="https://bnz.sharepoint.com/:w:/t/EnterpriseArchitects/Ef2e4O94FIlOrknFRRxrZgYBhWaQMmqcubA6ioE80EVVaw?e=bO8PZl"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183215-E3AD-4256-15FA-54D687EF578C}"/>
              </a:ext>
            </a:extLst>
          </p:cNvPr>
          <p:cNvSpPr>
            <a:spLocks noGrp="1"/>
          </p:cNvSpPr>
          <p:nvPr>
            <p:ph type="title"/>
          </p:nvPr>
        </p:nvSpPr>
        <p:spPr>
          <a:xfrm>
            <a:off x="839788" y="2427564"/>
            <a:ext cx="10512424" cy="1215466"/>
          </a:xfrm>
        </p:spPr>
        <p:txBody>
          <a:bodyPr/>
          <a:lstStyle/>
          <a:p>
            <a:pPr>
              <a:lnSpc>
                <a:spcPct val="100000"/>
              </a:lnSpc>
              <a:spcBef>
                <a:spcPts val="600"/>
              </a:spcBef>
              <a:spcAft>
                <a:spcPts val="1200"/>
              </a:spcAft>
            </a:pPr>
            <a:r>
              <a:rPr lang="en-NZ" sz="4800" noProof="0" dirty="0">
                <a:latin typeface="Serrano Bold Italic" pitchFamily="50" charset="0"/>
                <a:ea typeface="Calibri Light"/>
                <a:cs typeface="Calibri Light"/>
              </a:rPr>
              <a:t>Agentic AI Strategy</a:t>
            </a:r>
            <a:br>
              <a:rPr lang="en-NZ" sz="4000" noProof="0" dirty="0">
                <a:latin typeface="Serrano Bold Italic" pitchFamily="50" charset="0"/>
                <a:ea typeface="Calibri Light"/>
                <a:cs typeface="Calibri Light"/>
              </a:rPr>
            </a:br>
            <a:br>
              <a:rPr lang="en-NZ" sz="4000" noProof="0" dirty="0">
                <a:latin typeface="Serrano Bold Italic" pitchFamily="50" charset="0"/>
                <a:ea typeface="Calibri Light"/>
                <a:cs typeface="Calibri Light"/>
              </a:rPr>
            </a:br>
            <a:r>
              <a:rPr lang="en-NZ" sz="4000" noProof="0" dirty="0">
                <a:latin typeface="Serrano Bold Italic" pitchFamily="50" charset="0"/>
                <a:ea typeface="Calibri Light"/>
                <a:cs typeface="Calibri Light"/>
              </a:rPr>
              <a:t>NAB and Accenture considerations</a:t>
            </a:r>
            <a:br>
              <a:rPr lang="en-NZ" sz="4000" noProof="0" dirty="0">
                <a:latin typeface="Serrano Bold Italic" pitchFamily="50" charset="0"/>
                <a:ea typeface="Calibri Light"/>
                <a:cs typeface="Calibri Light"/>
              </a:rPr>
            </a:br>
            <a:br>
              <a:rPr lang="en-NZ" sz="4000" noProof="0" dirty="0">
                <a:latin typeface="Serrano Bold Italic" pitchFamily="50" charset="0"/>
                <a:ea typeface="Calibri Light"/>
                <a:cs typeface="Calibri Light"/>
              </a:rPr>
            </a:br>
            <a:r>
              <a:rPr lang="en-NZ" sz="2000" noProof="0" dirty="0">
                <a:latin typeface="Serrano Bold Italic" pitchFamily="50" charset="0"/>
                <a:ea typeface="Calibri Light"/>
                <a:cs typeface="Calibri Light"/>
              </a:rPr>
              <a:t>September  9,  2025</a:t>
            </a:r>
            <a:br>
              <a:rPr lang="en-NZ" sz="2000" noProof="0" dirty="0">
                <a:latin typeface="Serrano Bold Italic" pitchFamily="50" charset="0"/>
                <a:ea typeface="Calibri Light"/>
                <a:cs typeface="Calibri Light"/>
              </a:rPr>
            </a:br>
            <a:r>
              <a:rPr lang="en-NZ" sz="2000" noProof="0" dirty="0">
                <a:latin typeface="Serrano Bold Italic" pitchFamily="50" charset="0"/>
                <a:ea typeface="Calibri Light"/>
                <a:cs typeface="Calibri Light"/>
              </a:rPr>
              <a:t>Dermot O’Brien</a:t>
            </a:r>
            <a:endParaRPr lang="en-NZ" sz="2800" noProof="0" dirty="0">
              <a:latin typeface="Serrano Bold Italic" pitchFamily="50" charset="0"/>
              <a:ea typeface="Calibri Light"/>
              <a:cs typeface="Calibri Light"/>
            </a:endParaRPr>
          </a:p>
        </p:txBody>
      </p:sp>
      <p:sp>
        <p:nvSpPr>
          <p:cNvPr id="2" name="Rectangle 1">
            <a:extLst>
              <a:ext uri="{FF2B5EF4-FFF2-40B4-BE49-F238E27FC236}">
                <a16:creationId xmlns:a16="http://schemas.microsoft.com/office/drawing/2014/main" id="{D92E2DD8-EE73-06F4-B4F8-598D41CC3F7C}"/>
              </a:ext>
            </a:extLst>
          </p:cNvPr>
          <p:cNvSpPr/>
          <p:nvPr/>
        </p:nvSpPr>
        <p:spPr>
          <a:xfrm>
            <a:off x="10168544" y="149988"/>
            <a:ext cx="1126518" cy="3721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100" b="1" noProof="0" dirty="0"/>
              <a:t>PRELIMINARY</a:t>
            </a:r>
          </a:p>
        </p:txBody>
      </p:sp>
      <p:sp>
        <p:nvSpPr>
          <p:cNvPr id="3" name="Rectangle 2">
            <a:extLst>
              <a:ext uri="{FF2B5EF4-FFF2-40B4-BE49-F238E27FC236}">
                <a16:creationId xmlns:a16="http://schemas.microsoft.com/office/drawing/2014/main" id="{D43DF591-0AF7-9465-4D82-5D75E9CA5E5E}"/>
              </a:ext>
            </a:extLst>
          </p:cNvPr>
          <p:cNvSpPr/>
          <p:nvPr/>
        </p:nvSpPr>
        <p:spPr>
          <a:xfrm>
            <a:off x="11352212" y="149988"/>
            <a:ext cx="717550" cy="37213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NZ" sz="1050" b="1" noProof="0" dirty="0"/>
              <a:t>AI Assisted</a:t>
            </a:r>
          </a:p>
          <a:p>
            <a:endParaRPr lang="en-NZ" sz="1050" b="1" noProof="0" dirty="0"/>
          </a:p>
        </p:txBody>
      </p:sp>
      <p:sp>
        <p:nvSpPr>
          <p:cNvPr id="5" name="Rectangle 4">
            <a:extLst>
              <a:ext uri="{FF2B5EF4-FFF2-40B4-BE49-F238E27FC236}">
                <a16:creationId xmlns:a16="http://schemas.microsoft.com/office/drawing/2014/main" id="{C2881B06-321B-C930-F8AA-9039B316ABAC}"/>
              </a:ext>
            </a:extLst>
          </p:cNvPr>
          <p:cNvSpPr/>
          <p:nvPr/>
        </p:nvSpPr>
        <p:spPr>
          <a:xfrm>
            <a:off x="11409361" y="327827"/>
            <a:ext cx="603251" cy="160107"/>
          </a:xfrm>
          <a:prstGeom prst="rect">
            <a:avLst/>
          </a:prstGeom>
          <a:solidFill>
            <a:srgbClr val="A1D0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800" noProof="0" dirty="0">
                <a:solidFill>
                  <a:srgbClr val="002F6B"/>
                </a:solidFill>
              </a:rPr>
              <a:t>CURATED</a:t>
            </a:r>
          </a:p>
        </p:txBody>
      </p:sp>
    </p:spTree>
    <p:extLst>
      <p:ext uri="{BB962C8B-B14F-4D97-AF65-F5344CB8AC3E}">
        <p14:creationId xmlns:p14="http://schemas.microsoft.com/office/powerpoint/2010/main" val="418916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63B3A4-1F70-A142-870E-7056FBC9F014}"/>
              </a:ext>
            </a:extLst>
          </p:cNvPr>
          <p:cNvSpPr>
            <a:spLocks noGrp="1"/>
          </p:cNvSpPr>
          <p:nvPr>
            <p:ph type="title"/>
          </p:nvPr>
        </p:nvSpPr>
        <p:spPr>
          <a:xfrm>
            <a:off x="249239" y="140883"/>
            <a:ext cx="10512424" cy="502605"/>
          </a:xfrm>
        </p:spPr>
        <p:txBody>
          <a:bodyPr/>
          <a:lstStyle/>
          <a:p>
            <a:r>
              <a:rPr lang="en-NZ" noProof="0" dirty="0"/>
              <a:t>Agentic Platform - Strategic Position</a:t>
            </a:r>
          </a:p>
        </p:txBody>
      </p:sp>
      <p:graphicFrame>
        <p:nvGraphicFramePr>
          <p:cNvPr id="6" name="Table 5">
            <a:extLst>
              <a:ext uri="{FF2B5EF4-FFF2-40B4-BE49-F238E27FC236}">
                <a16:creationId xmlns:a16="http://schemas.microsoft.com/office/drawing/2014/main" id="{A6784E9E-3AD3-EF15-1AE6-F59A6D1DE504}"/>
              </a:ext>
            </a:extLst>
          </p:cNvPr>
          <p:cNvGraphicFramePr>
            <a:graphicFrameLocks noGrp="1"/>
          </p:cNvGraphicFramePr>
          <p:nvPr>
            <p:extLst>
              <p:ext uri="{D42A27DB-BD31-4B8C-83A1-F6EECF244321}">
                <p14:modId xmlns:p14="http://schemas.microsoft.com/office/powerpoint/2010/main" val="2237293327"/>
              </p:ext>
            </p:extLst>
          </p:nvPr>
        </p:nvGraphicFramePr>
        <p:xfrm>
          <a:off x="234951" y="605807"/>
          <a:ext cx="11773692" cy="5649768"/>
        </p:xfrm>
        <a:graphic>
          <a:graphicData uri="http://schemas.openxmlformats.org/drawingml/2006/table">
            <a:tbl>
              <a:tblPr firstRow="1" firstCol="1" bandRow="1">
                <a:tableStyleId>{7E9639D4-E3E2-4D34-9284-5A2195B3D0D7}</a:tableStyleId>
              </a:tblPr>
              <a:tblGrid>
                <a:gridCol w="2481524">
                  <a:extLst>
                    <a:ext uri="{9D8B030D-6E8A-4147-A177-3AD203B41FA5}">
                      <a16:colId xmlns:a16="http://schemas.microsoft.com/office/drawing/2014/main" val="285299165"/>
                    </a:ext>
                  </a:extLst>
                </a:gridCol>
                <a:gridCol w="672406">
                  <a:extLst>
                    <a:ext uri="{9D8B030D-6E8A-4147-A177-3AD203B41FA5}">
                      <a16:colId xmlns:a16="http://schemas.microsoft.com/office/drawing/2014/main" val="1772946902"/>
                    </a:ext>
                  </a:extLst>
                </a:gridCol>
                <a:gridCol w="3342392">
                  <a:extLst>
                    <a:ext uri="{9D8B030D-6E8A-4147-A177-3AD203B41FA5}">
                      <a16:colId xmlns:a16="http://schemas.microsoft.com/office/drawing/2014/main" val="308622895"/>
                    </a:ext>
                  </a:extLst>
                </a:gridCol>
                <a:gridCol w="698227">
                  <a:extLst>
                    <a:ext uri="{9D8B030D-6E8A-4147-A177-3AD203B41FA5}">
                      <a16:colId xmlns:a16="http://schemas.microsoft.com/office/drawing/2014/main" val="3053672535"/>
                    </a:ext>
                  </a:extLst>
                </a:gridCol>
                <a:gridCol w="4579143">
                  <a:extLst>
                    <a:ext uri="{9D8B030D-6E8A-4147-A177-3AD203B41FA5}">
                      <a16:colId xmlns:a16="http://schemas.microsoft.com/office/drawing/2014/main" val="966074802"/>
                    </a:ext>
                  </a:extLst>
                </a:gridCol>
              </a:tblGrid>
              <a:tr h="0">
                <a:tc>
                  <a:txBody>
                    <a:bodyPr/>
                    <a:lstStyle/>
                    <a:p>
                      <a:pPr>
                        <a:lnSpc>
                          <a:spcPct val="115000"/>
                        </a:lnSpc>
                        <a:spcAft>
                          <a:spcPts val="800"/>
                        </a:spcAft>
                        <a:buNone/>
                      </a:pPr>
                      <a:r>
                        <a:rPr lang="en-NZ" sz="1000" b="0" kern="100" noProof="0" dirty="0">
                          <a:effectLst/>
                        </a:rPr>
                        <a:t>Strategic Question</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Door Type</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Rationale for Door Type</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Urgency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Answer</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232947848"/>
                  </a:ext>
                </a:extLst>
              </a:tr>
              <a:tr h="0">
                <a:tc>
                  <a:txBody>
                    <a:bodyPr/>
                    <a:lstStyle/>
                    <a:p>
                      <a:pPr>
                        <a:lnSpc>
                          <a:spcPct val="115000"/>
                        </a:lnSpc>
                        <a:spcAft>
                          <a:spcPts val="800"/>
                        </a:spcAft>
                        <a:buNone/>
                      </a:pPr>
                      <a:r>
                        <a:rPr lang="en-NZ" sz="1000" b="1" kern="100" noProof="0" dirty="0">
                          <a:effectLst/>
                        </a:rPr>
                        <a:t>1. NAB Strategy Alignment</a:t>
                      </a:r>
                      <a:r>
                        <a:rPr lang="en-NZ" sz="1000" b="0" kern="100" noProof="0" dirty="0">
                          <a:effectLst/>
                        </a:rPr>
                        <a:t>. How should we align with the NAB agentic platform strategy?</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One-Way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Parent company strategic alignment decisions create long-term constraints on technology choices, vendor relationships, and operational models.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High</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NAB have a preference for build / open-source on the spectrum of buy versus build. Recognising our scaling constraints vs our ambition,  we have a preference for “buy + build” i.e. buy maturity acceleration via key partnerships (Accenture + AI Refinery) while also maintaining a “build” position in alignment with NAB agentic framework and platform choices (e.g. </a:t>
                      </a:r>
                      <a:r>
                        <a:rPr lang="en-NZ" sz="1000" kern="100" noProof="0" dirty="0" err="1">
                          <a:effectLst/>
                        </a:rPr>
                        <a:t>LangGraph</a:t>
                      </a:r>
                      <a:r>
                        <a:rPr lang="en-NZ" sz="1000" kern="100" noProof="0" dirty="0">
                          <a:effectLst/>
                        </a:rPr>
                        <a:t> etc / </a:t>
                      </a:r>
                      <a:r>
                        <a:rPr lang="en-NZ" sz="1000" kern="100" noProof="0" dirty="0" err="1">
                          <a:effectLst/>
                        </a:rPr>
                        <a:t>AgentCore</a:t>
                      </a:r>
                      <a:r>
                        <a:rPr lang="en-NZ" sz="1000" kern="100" noProof="0" dirty="0">
                          <a:effectLst/>
                        </a:rPr>
                        <a:t> etc). </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1663561"/>
                  </a:ext>
                </a:extLst>
              </a:tr>
              <a:tr h="0">
                <a:tc gridSpan="5">
                  <a:txBody>
                    <a:bodyPr/>
                    <a:lstStyle/>
                    <a:p>
                      <a:pPr algn="ctr">
                        <a:lnSpc>
                          <a:spcPct val="115000"/>
                        </a:lnSpc>
                        <a:spcAft>
                          <a:spcPts val="800"/>
                        </a:spcAft>
                        <a:buNone/>
                      </a:pPr>
                      <a:r>
                        <a:rPr lang="en-NZ" sz="1000" b="1" kern="100" noProof="0" dirty="0">
                          <a:solidFill>
                            <a:schemeClr val="accent3">
                              <a:lumMod val="20000"/>
                              <a:lumOff val="80000"/>
                            </a:schemeClr>
                          </a:solidFill>
                          <a:effectLst/>
                          <a:latin typeface="Aptos" panose="020B0004020202020204" pitchFamily="34" charset="0"/>
                          <a:ea typeface="Aptos" panose="020B0004020202020204" pitchFamily="34" charset="0"/>
                          <a:cs typeface="Times New Roman" panose="02020603050405020304" pitchFamily="18" charset="0"/>
                        </a:rPr>
                        <a:t>Accenture Questions</a:t>
                      </a:r>
                    </a:p>
                  </a:txBody>
                  <a:tcPr marL="36000" marR="36000" marT="36000" marB="36000" anchor="ctr">
                    <a:solidFill>
                      <a:srgbClr val="7030A0"/>
                    </a:solidFill>
                  </a:tcPr>
                </a:tc>
                <a:tc hMerge="1">
                  <a:txBody>
                    <a:bodyPr/>
                    <a:lstStyle/>
                    <a:p>
                      <a:endParaRPr lang="en-NZ"/>
                    </a:p>
                  </a:txBody>
                  <a:tcPr/>
                </a:tc>
                <a:tc hMerge="1">
                  <a:txBody>
                    <a:bodyPr/>
                    <a:lstStyle/>
                    <a:p>
                      <a:pPr>
                        <a:lnSpc>
                          <a:spcPct val="115000"/>
                        </a:lnSpc>
                        <a:spcAft>
                          <a:spcPts val="800"/>
                        </a:spcAft>
                        <a:buNone/>
                      </a:pPr>
                      <a:endParaRPr lang="en-NZ"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0197" marR="10197" marT="5098" marB="5098" anchor="ct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2878347802"/>
                  </a:ext>
                </a:extLst>
              </a:tr>
              <a:tr h="0">
                <a:tc>
                  <a:txBody>
                    <a:bodyPr/>
                    <a:lstStyle/>
                    <a:p>
                      <a:pPr>
                        <a:lnSpc>
                          <a:spcPct val="115000"/>
                        </a:lnSpc>
                        <a:spcAft>
                          <a:spcPts val="800"/>
                        </a:spcAft>
                        <a:buNone/>
                      </a:pPr>
                      <a:r>
                        <a:rPr lang="en-NZ" sz="1000" b="1" kern="100" noProof="0" dirty="0">
                          <a:effectLst/>
                        </a:rPr>
                        <a:t>2. Target Users. </a:t>
                      </a:r>
                      <a:r>
                        <a:rPr lang="en-NZ" sz="1000" b="0" kern="100" noProof="0" dirty="0">
                          <a:effectLst/>
                        </a:rPr>
                        <a:t>Who will be the target user for the agentic platform i.e. core developer or high code (HC), no code (NC) or low code (LC)?</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Two-Way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User democratization strategies can be adjusted iteratively; business vs. technical user balance evolves with organizational maturity.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Medium</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Progressive democratization strategy starting with technical teams (developers, data scientists) and expanding to business users through curated low-code interfaces. Begin with developer-focused tools, add visual builders later.</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472665004"/>
                  </a:ext>
                </a:extLst>
              </a:tr>
              <a:tr h="0">
                <a:tc>
                  <a:txBody>
                    <a:bodyPr/>
                    <a:lstStyle/>
                    <a:p>
                      <a:pPr>
                        <a:lnSpc>
                          <a:spcPct val="115000"/>
                        </a:lnSpc>
                        <a:spcAft>
                          <a:spcPts val="800"/>
                        </a:spcAft>
                        <a:buNone/>
                      </a:pPr>
                      <a:r>
                        <a:rPr lang="en-NZ" sz="1000" b="1" kern="100" noProof="0" dirty="0">
                          <a:effectLst/>
                        </a:rPr>
                        <a:t>3. ISV Agent Reusability. </a:t>
                      </a:r>
                      <a:r>
                        <a:rPr lang="en-NZ" sz="1000" b="0" kern="100" noProof="0" dirty="0">
                          <a:effectLst/>
                        </a:rPr>
                        <a:t>How much flexibility is desired for the reuse of ISV developed agents?</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One-Way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Platform architecture decisions fundamentally determine future flexibility; difficult to change vendor ecosystem approach once established.</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High</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High flexibility with governance guardrails. Choose platforms supporting open standards (MCP, </a:t>
                      </a:r>
                      <a:r>
                        <a:rPr lang="en-NZ" sz="1000" kern="100" noProof="0" dirty="0" err="1">
                          <a:effectLst/>
                        </a:rPr>
                        <a:t>LangGraph</a:t>
                      </a:r>
                      <a:r>
                        <a:rPr lang="en-NZ" sz="1000" kern="100" noProof="0" dirty="0">
                          <a:effectLst/>
                        </a:rPr>
                        <a:t>, A2A) with vendor-agnostic agent deployment capabilities. Prioritize interoperability over vendor lock-in.</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859500938"/>
                  </a:ext>
                </a:extLst>
              </a:tr>
              <a:tr h="0">
                <a:tc>
                  <a:txBody>
                    <a:bodyPr/>
                    <a:lstStyle/>
                    <a:p>
                      <a:pPr>
                        <a:lnSpc>
                          <a:spcPct val="115000"/>
                        </a:lnSpc>
                        <a:spcAft>
                          <a:spcPts val="800"/>
                        </a:spcAft>
                        <a:buNone/>
                      </a:pPr>
                      <a:r>
                        <a:rPr lang="en-NZ" sz="1000" b="1" kern="100" noProof="0" dirty="0">
                          <a:effectLst/>
                        </a:rPr>
                        <a:t>4. Operations Strategy. </a:t>
                      </a:r>
                      <a:r>
                        <a:rPr lang="en-NZ" sz="1000" b="0" kern="100" noProof="0" dirty="0">
                          <a:effectLst/>
                        </a:rPr>
                        <a:t>What is the long-term strategy for platform (agent development, deployment) i.e. self managed or fully managed by consultancy partners?</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Two-Way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Can transition from vendor-managed to self-managed over time; operational models can evolve based on experience and scale.</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Medium</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Hybrid approach with progressive internalization. Start with vendor-managed implementation (Accenture AI Refinery) and transition to self-managed operations as internal capabilities mature over 18-24 months.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408998409"/>
                  </a:ext>
                </a:extLst>
              </a:tr>
              <a:tr h="0">
                <a:tc>
                  <a:txBody>
                    <a:bodyPr/>
                    <a:lstStyle/>
                    <a:p>
                      <a:pPr>
                        <a:lnSpc>
                          <a:spcPct val="115000"/>
                        </a:lnSpc>
                        <a:spcAft>
                          <a:spcPts val="800"/>
                        </a:spcAft>
                        <a:buNone/>
                      </a:pPr>
                      <a:r>
                        <a:rPr lang="en-NZ" sz="1000" b="1" kern="100" noProof="0" dirty="0">
                          <a:effectLst/>
                        </a:rPr>
                        <a:t>5. Platform Modularity. </a:t>
                      </a:r>
                      <a:r>
                        <a:rPr lang="en-NZ" sz="1000" b="0" kern="100" noProof="0" dirty="0">
                          <a:effectLst/>
                        </a:rPr>
                        <a:t>What is the ideal desired platform modularity within infrastructure, models, knowledge layer, agent and observability / governance?</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One-Way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Core architectural decisions about modularity are difficult to reverse; monolithic vs. modular and agentic vs microservices choices have long-term lock-in implications.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High</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Microservices architecture with clear separation between infrastructure, models, knowledge layer, agents, and governance. Enable independent scaling and vendor flexibility at each layer. </a:t>
                      </a:r>
                      <a:r>
                        <a:rPr lang="en-NZ" sz="1000" b="0" kern="100" noProof="0" dirty="0">
                          <a:effectLst/>
                        </a:rPr>
                        <a:t>Knowledge layer must align / complement our digital, data &amp; analytics ambition. Infrastructure and observability must align with our existing standards.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267945725"/>
                  </a:ext>
                </a:extLst>
              </a:tr>
              <a:tr h="0">
                <a:tc>
                  <a:txBody>
                    <a:bodyPr/>
                    <a:lstStyle/>
                    <a:p>
                      <a:pPr>
                        <a:lnSpc>
                          <a:spcPct val="115000"/>
                        </a:lnSpc>
                        <a:spcAft>
                          <a:spcPts val="800"/>
                        </a:spcAft>
                        <a:buNone/>
                      </a:pPr>
                      <a:r>
                        <a:rPr lang="en-NZ" sz="1000" b="1" kern="100" noProof="0" dirty="0">
                          <a:effectLst/>
                        </a:rPr>
                        <a:t>6. Update Cadence. </a:t>
                      </a:r>
                      <a:r>
                        <a:rPr lang="en-NZ" sz="1000" b="0" kern="100" noProof="0" dirty="0">
                          <a:effectLst/>
                        </a:rPr>
                        <a:t>How often will we consider component choices within the platform and what is the process to update modules / services within the platform?</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Two-Way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Governance processes and update frequencies can be refined based on operational experience and regulatory feedback.</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Low</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Quarterly technology reviews with monthly operational updates. Implement continuous deployment for non-critical updates, quarterly reviews for architectural changes, annual strategic technology assessments.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767095763"/>
                  </a:ext>
                </a:extLst>
              </a:tr>
              <a:tr h="0">
                <a:tc>
                  <a:txBody>
                    <a:bodyPr/>
                    <a:lstStyle/>
                    <a:p>
                      <a:pPr>
                        <a:lnSpc>
                          <a:spcPct val="115000"/>
                        </a:lnSpc>
                        <a:spcAft>
                          <a:spcPts val="800"/>
                        </a:spcAft>
                        <a:buNone/>
                      </a:pPr>
                      <a:r>
                        <a:rPr lang="en-NZ" sz="1000" b="1" kern="100" noProof="0" dirty="0">
                          <a:effectLst/>
                        </a:rPr>
                        <a:t>7. Decision Timing. </a:t>
                      </a:r>
                      <a:r>
                        <a:rPr lang="en-NZ" sz="1000" b="0" kern="100" noProof="0" dirty="0">
                          <a:effectLst/>
                        </a:rPr>
                        <a:t>Which platform / module / service decisions are we be comfortable making now vs later?</a:t>
                      </a:r>
                      <a:endParaRPr lang="en-NZ" sz="1000" b="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One-Way</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nSpc>
                          <a:spcPct val="115000"/>
                        </a:lnSpc>
                        <a:spcAft>
                          <a:spcPts val="800"/>
                        </a:spcAft>
                        <a:buNone/>
                      </a:pPr>
                      <a:r>
                        <a:rPr lang="en-NZ" sz="1000" kern="100" noProof="0" dirty="0">
                          <a:effectLst/>
                        </a:rPr>
                        <a:t>Foundation infrastructure and vendor choices create path dependencies; delayed decisions compound complexity and limit future options.</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ctr">
                        <a:lnSpc>
                          <a:spcPct val="115000"/>
                        </a:lnSpc>
                        <a:spcAft>
                          <a:spcPts val="800"/>
                        </a:spcAft>
                        <a:buNone/>
                      </a:pPr>
                      <a:r>
                        <a:rPr lang="en-NZ" sz="1000" kern="100" noProof="0" dirty="0">
                          <a:effectLst/>
                        </a:rPr>
                        <a:t>High</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tc>
                  <a:txBody>
                    <a:bodyPr/>
                    <a:lstStyle/>
                    <a:p>
                      <a:pPr algn="l">
                        <a:lnSpc>
                          <a:spcPct val="115000"/>
                        </a:lnSpc>
                        <a:spcAft>
                          <a:spcPts val="800"/>
                        </a:spcAft>
                        <a:buNone/>
                      </a:pPr>
                      <a:r>
                        <a:rPr lang="en-NZ" sz="1000" kern="100" noProof="0" dirty="0">
                          <a:effectLst/>
                        </a:rPr>
                        <a:t>Immediate decisions: Core platform architecture, primary vendor partnerships, security frameworks, agentic frameworks. Deferred decisions: Specific agent implementations, advanced features, secondary integrations. Focus on foundational choices first.</a:t>
                      </a:r>
                      <a:endParaRPr lang="en-NZ" sz="1000" kern="100" noProof="0" dirty="0">
                        <a:effectLst/>
                        <a:latin typeface="Aptos" panose="020B0004020202020204" pitchFamily="34" charset="0"/>
                        <a:ea typeface="Aptos" panose="020B0004020202020204" pitchFamily="34"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307739072"/>
                  </a:ext>
                </a:extLst>
              </a:tr>
            </a:tbl>
          </a:graphicData>
        </a:graphic>
      </p:graphicFrame>
      <p:sp>
        <p:nvSpPr>
          <p:cNvPr id="8" name="Rectangle 7">
            <a:extLst>
              <a:ext uri="{FF2B5EF4-FFF2-40B4-BE49-F238E27FC236}">
                <a16:creationId xmlns:a16="http://schemas.microsoft.com/office/drawing/2014/main" id="{3B772759-2E5F-29A3-7C07-2777B3B8B1E2}"/>
              </a:ext>
            </a:extLst>
          </p:cNvPr>
          <p:cNvSpPr/>
          <p:nvPr/>
        </p:nvSpPr>
        <p:spPr>
          <a:xfrm>
            <a:off x="11296980" y="140883"/>
            <a:ext cx="708024" cy="3721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100" b="1" noProof="0" dirty="0"/>
              <a:t>DRAFT</a:t>
            </a:r>
          </a:p>
        </p:txBody>
      </p:sp>
    </p:spTree>
    <p:extLst>
      <p:ext uri="{BB962C8B-B14F-4D97-AF65-F5344CB8AC3E}">
        <p14:creationId xmlns:p14="http://schemas.microsoft.com/office/powerpoint/2010/main" val="1381669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82A292-11B0-82EA-11C2-9533D4A3F1C2}"/>
              </a:ext>
            </a:extLst>
          </p:cNvPr>
          <p:cNvSpPr>
            <a:spLocks noGrp="1"/>
          </p:cNvSpPr>
          <p:nvPr>
            <p:ph type="title"/>
          </p:nvPr>
        </p:nvSpPr>
        <p:spPr/>
        <p:txBody>
          <a:bodyPr/>
          <a:lstStyle/>
          <a:p>
            <a:r>
              <a:rPr lang="en-NZ" noProof="0" dirty="0"/>
              <a:t>NAB agentic strategy alignment</a:t>
            </a:r>
          </a:p>
        </p:txBody>
      </p:sp>
      <p:sp>
        <p:nvSpPr>
          <p:cNvPr id="4" name="Text Placeholder 3">
            <a:extLst>
              <a:ext uri="{FF2B5EF4-FFF2-40B4-BE49-F238E27FC236}">
                <a16:creationId xmlns:a16="http://schemas.microsoft.com/office/drawing/2014/main" id="{F1C502BD-8B40-307D-1952-A6922089BAC5}"/>
              </a:ext>
            </a:extLst>
          </p:cNvPr>
          <p:cNvSpPr>
            <a:spLocks noGrp="1"/>
          </p:cNvSpPr>
          <p:nvPr>
            <p:ph type="body" sz="quarter" idx="10"/>
          </p:nvPr>
        </p:nvSpPr>
        <p:spPr>
          <a:xfrm>
            <a:off x="6491289" y="4223879"/>
            <a:ext cx="5010149" cy="339588"/>
          </a:xfrm>
        </p:spPr>
        <p:txBody>
          <a:bodyPr/>
          <a:lstStyle/>
          <a:p>
            <a:r>
              <a:rPr lang="en-NZ" sz="1400" i="1" noProof="0" dirty="0"/>
              <a:t>NAB have a preference for build / open-source on the spectrum of buy versus build. Recognising our scaling constraints vs our ambition,  we have a preference for “buy + build” i.e. buy maturity acceleration via key partnerships (Accenture + AI Refinery) while also maintaining a “build” position in alignment with NAB agentic framework and platform choices (e.g. </a:t>
            </a:r>
            <a:r>
              <a:rPr lang="en-NZ" sz="1400" i="1" noProof="0" dirty="0" err="1"/>
              <a:t>LangGraph</a:t>
            </a:r>
            <a:r>
              <a:rPr lang="en-NZ" sz="1400" i="1" noProof="0" dirty="0"/>
              <a:t> etc / </a:t>
            </a:r>
            <a:r>
              <a:rPr lang="en-NZ" sz="1400" i="1" noProof="0" dirty="0" err="1"/>
              <a:t>AgentCore</a:t>
            </a:r>
            <a:r>
              <a:rPr lang="en-NZ" sz="1400" i="1" noProof="0" dirty="0"/>
              <a:t> etc).  </a:t>
            </a:r>
          </a:p>
          <a:p>
            <a:endParaRPr lang="en-NZ" sz="1400" i="1" noProof="0" dirty="0"/>
          </a:p>
        </p:txBody>
      </p:sp>
    </p:spTree>
    <p:extLst>
      <p:ext uri="{BB962C8B-B14F-4D97-AF65-F5344CB8AC3E}">
        <p14:creationId xmlns:p14="http://schemas.microsoft.com/office/powerpoint/2010/main" val="196547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D9213A-5E29-272E-678B-5BDB34DA26C0}"/>
              </a:ext>
            </a:extLst>
          </p:cNvPr>
          <p:cNvSpPr txBox="1"/>
          <p:nvPr/>
        </p:nvSpPr>
        <p:spPr>
          <a:xfrm>
            <a:off x="447616" y="1408148"/>
            <a:ext cx="5487852" cy="461665"/>
          </a:xfrm>
          <a:prstGeom prst="rect">
            <a:avLst/>
          </a:prstGeom>
          <a:noFill/>
        </p:spPr>
        <p:txBody>
          <a:bodyPr wrap="square">
            <a:spAutoFit/>
          </a:bodyPr>
          <a:lstStyle/>
          <a:p>
            <a:r>
              <a:rPr lang="en-NZ" sz="1200" noProof="0" dirty="0">
                <a:solidFill>
                  <a:srgbClr val="000000"/>
                </a:solidFill>
              </a:rPr>
              <a:t>Assess the alignment of Accenture AI Refinery against NAB Agentic AI Strategy [1]</a:t>
            </a:r>
            <a:r>
              <a:rPr lang="en-NZ" sz="1200" baseline="30000" noProof="0" dirty="0">
                <a:solidFill>
                  <a:srgbClr val="000000"/>
                </a:solidFill>
              </a:rPr>
              <a:t> 1</a:t>
            </a:r>
            <a:r>
              <a:rPr lang="en-NZ" sz="1200" noProof="0" dirty="0">
                <a:solidFill>
                  <a:srgbClr val="000000"/>
                </a:solidFill>
              </a:rPr>
              <a:t>. Use the assessment to fast start our BNZ Target State Architecture for Agentic AI. </a:t>
            </a:r>
          </a:p>
        </p:txBody>
      </p:sp>
      <p:sp>
        <p:nvSpPr>
          <p:cNvPr id="3" name="Slide Number Placeholder 7">
            <a:extLst>
              <a:ext uri="{FF2B5EF4-FFF2-40B4-BE49-F238E27FC236}">
                <a16:creationId xmlns:a16="http://schemas.microsoft.com/office/drawing/2014/main" id="{496DC984-56D6-70D2-70FC-E7EBE53895C8}"/>
              </a:ext>
            </a:extLst>
          </p:cNvPr>
          <p:cNvSpPr txBox="1">
            <a:spLocks/>
          </p:cNvSpPr>
          <p:nvPr/>
        </p:nvSpPr>
        <p:spPr>
          <a:xfrm>
            <a:off x="143828" y="6433028"/>
            <a:ext cx="30638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5A4CF9-4EB3-4341-AF18-D9A68BC60189}" type="slidenum">
              <a:rPr lang="en-NZ" sz="1600" noProof="0" smtClean="0">
                <a:latin typeface="Aptos" panose="020B0004020202020204" pitchFamily="34" charset="0"/>
              </a:rPr>
              <a:pPr/>
              <a:t>4</a:t>
            </a:fld>
            <a:endParaRPr lang="en-NZ" sz="1600" noProof="0" dirty="0">
              <a:latin typeface="Aptos" panose="020B0004020202020204" pitchFamily="34" charset="0"/>
            </a:endParaRPr>
          </a:p>
        </p:txBody>
      </p:sp>
      <p:sp>
        <p:nvSpPr>
          <p:cNvPr id="11" name="TextBox 10">
            <a:extLst>
              <a:ext uri="{FF2B5EF4-FFF2-40B4-BE49-F238E27FC236}">
                <a16:creationId xmlns:a16="http://schemas.microsoft.com/office/drawing/2014/main" id="{7FB2042F-9BD7-A0C0-8DC4-3FCDA27CFDB1}"/>
              </a:ext>
            </a:extLst>
          </p:cNvPr>
          <p:cNvSpPr txBox="1"/>
          <p:nvPr/>
        </p:nvSpPr>
        <p:spPr>
          <a:xfrm>
            <a:off x="434158" y="2001795"/>
            <a:ext cx="2657521" cy="307777"/>
          </a:xfrm>
          <a:prstGeom prst="rect">
            <a:avLst/>
          </a:prstGeom>
          <a:noFill/>
        </p:spPr>
        <p:txBody>
          <a:bodyPr wrap="square">
            <a:spAutoFit/>
          </a:bodyPr>
          <a:lstStyle/>
          <a:p>
            <a:r>
              <a:rPr lang="en-NZ" sz="1400" b="1" noProof="0" dirty="0">
                <a:solidFill>
                  <a:srgbClr val="000000"/>
                </a:solidFill>
                <a:latin typeface="Aptos" panose="020B0004020202020204" pitchFamily="34" charset="0"/>
              </a:rPr>
              <a:t>Summary</a:t>
            </a:r>
          </a:p>
        </p:txBody>
      </p:sp>
      <p:pic>
        <p:nvPicPr>
          <p:cNvPr id="13" name="Picture 12">
            <a:extLst>
              <a:ext uri="{FF2B5EF4-FFF2-40B4-BE49-F238E27FC236}">
                <a16:creationId xmlns:a16="http://schemas.microsoft.com/office/drawing/2014/main" id="{8BC5F35C-FCF3-3F59-CAE8-AFE08C414897}"/>
              </a:ext>
            </a:extLst>
          </p:cNvPr>
          <p:cNvPicPr>
            <a:picLocks noChangeAspect="1"/>
          </p:cNvPicPr>
          <p:nvPr/>
        </p:nvPicPr>
        <p:blipFill>
          <a:blip r:embed="rId3"/>
          <a:stretch>
            <a:fillRect/>
          </a:stretch>
        </p:blipFill>
        <p:spPr>
          <a:xfrm>
            <a:off x="6863690" y="3793976"/>
            <a:ext cx="837502" cy="445360"/>
          </a:xfrm>
          <a:prstGeom prst="rect">
            <a:avLst/>
          </a:prstGeom>
        </p:spPr>
      </p:pic>
      <p:pic>
        <p:nvPicPr>
          <p:cNvPr id="1026" name="Picture 2" descr="NAB-National-Australia-Bank-logo – BraveGen">
            <a:extLst>
              <a:ext uri="{FF2B5EF4-FFF2-40B4-BE49-F238E27FC236}">
                <a16:creationId xmlns:a16="http://schemas.microsoft.com/office/drawing/2014/main" id="{B5B112DE-55BA-DF41-4430-844F4A68B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1371" y="988021"/>
            <a:ext cx="1043040" cy="5841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782D80-C601-8971-63D1-982B668E4824}"/>
              </a:ext>
            </a:extLst>
          </p:cNvPr>
          <p:cNvSpPr txBox="1"/>
          <p:nvPr/>
        </p:nvSpPr>
        <p:spPr>
          <a:xfrm>
            <a:off x="7947450" y="1381728"/>
            <a:ext cx="2543305" cy="369332"/>
          </a:xfrm>
          <a:prstGeom prst="rect">
            <a:avLst/>
          </a:prstGeom>
          <a:noFill/>
        </p:spPr>
        <p:txBody>
          <a:bodyPr wrap="square">
            <a:spAutoFit/>
          </a:bodyPr>
          <a:lstStyle/>
          <a:p>
            <a:pPr algn="ctr"/>
            <a:r>
              <a:rPr lang="en-NZ" i="1" noProof="0" dirty="0"/>
              <a:t>NAB Agentic AI Strategy</a:t>
            </a:r>
          </a:p>
        </p:txBody>
      </p:sp>
      <p:sp>
        <p:nvSpPr>
          <p:cNvPr id="14" name="TextBox 13">
            <a:extLst>
              <a:ext uri="{FF2B5EF4-FFF2-40B4-BE49-F238E27FC236}">
                <a16:creationId xmlns:a16="http://schemas.microsoft.com/office/drawing/2014/main" id="{BA7C5354-A4EA-75CA-F4A4-9731293FEF8F}"/>
              </a:ext>
            </a:extLst>
          </p:cNvPr>
          <p:cNvSpPr txBox="1"/>
          <p:nvPr/>
        </p:nvSpPr>
        <p:spPr>
          <a:xfrm>
            <a:off x="6104260" y="4294755"/>
            <a:ext cx="2407111" cy="369332"/>
          </a:xfrm>
          <a:prstGeom prst="rect">
            <a:avLst/>
          </a:prstGeom>
          <a:noFill/>
        </p:spPr>
        <p:txBody>
          <a:bodyPr wrap="square">
            <a:spAutoFit/>
          </a:bodyPr>
          <a:lstStyle/>
          <a:p>
            <a:pPr algn="ctr"/>
            <a:r>
              <a:rPr lang="en-NZ" i="1" noProof="0" dirty="0"/>
              <a:t>BNZ Agentic AI Strategy</a:t>
            </a:r>
          </a:p>
        </p:txBody>
      </p:sp>
      <p:sp>
        <p:nvSpPr>
          <p:cNvPr id="15" name="TextBox 14">
            <a:extLst>
              <a:ext uri="{FF2B5EF4-FFF2-40B4-BE49-F238E27FC236}">
                <a16:creationId xmlns:a16="http://schemas.microsoft.com/office/drawing/2014/main" id="{327F821D-2F43-AA7A-A27E-D7861495E065}"/>
              </a:ext>
            </a:extLst>
          </p:cNvPr>
          <p:cNvSpPr txBox="1"/>
          <p:nvPr/>
        </p:nvSpPr>
        <p:spPr>
          <a:xfrm>
            <a:off x="8609251" y="3244334"/>
            <a:ext cx="1128322" cy="369332"/>
          </a:xfrm>
          <a:prstGeom prst="rect">
            <a:avLst/>
          </a:prstGeom>
          <a:noFill/>
        </p:spPr>
        <p:txBody>
          <a:bodyPr wrap="none" rtlCol="0">
            <a:spAutoFit/>
          </a:bodyPr>
          <a:lstStyle/>
          <a:p>
            <a:r>
              <a:rPr lang="en-NZ" i="1" noProof="0" dirty="0"/>
              <a:t>alignment</a:t>
            </a:r>
          </a:p>
        </p:txBody>
      </p:sp>
      <p:cxnSp>
        <p:nvCxnSpPr>
          <p:cNvPr id="18" name="Straight Connector 17">
            <a:extLst>
              <a:ext uri="{FF2B5EF4-FFF2-40B4-BE49-F238E27FC236}">
                <a16:creationId xmlns:a16="http://schemas.microsoft.com/office/drawing/2014/main" id="{AA2902F2-FBBA-864C-165B-2884E92530B9}"/>
              </a:ext>
            </a:extLst>
          </p:cNvPr>
          <p:cNvCxnSpPr>
            <a:cxnSpLocks/>
          </p:cNvCxnSpPr>
          <p:nvPr/>
        </p:nvCxnSpPr>
        <p:spPr>
          <a:xfrm flipV="1">
            <a:off x="7821032" y="2195736"/>
            <a:ext cx="1377950" cy="1917700"/>
          </a:xfrm>
          <a:prstGeom prst="line">
            <a:avLst/>
          </a:prstGeom>
          <a:ln w="381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99E4E5-1951-A2E2-2F77-1F1C7B5A17AF}"/>
              </a:ext>
            </a:extLst>
          </p:cNvPr>
          <p:cNvCxnSpPr>
            <a:cxnSpLocks/>
          </p:cNvCxnSpPr>
          <p:nvPr/>
        </p:nvCxnSpPr>
        <p:spPr>
          <a:xfrm>
            <a:off x="9198982" y="2195736"/>
            <a:ext cx="1377950" cy="191770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D106E1-E1DC-50AE-AD7E-49AFEE421B33}"/>
              </a:ext>
            </a:extLst>
          </p:cNvPr>
          <p:cNvCxnSpPr>
            <a:cxnSpLocks/>
          </p:cNvCxnSpPr>
          <p:nvPr/>
        </p:nvCxnSpPr>
        <p:spPr>
          <a:xfrm>
            <a:off x="7821032" y="4115817"/>
            <a:ext cx="2755900" cy="0"/>
          </a:xfrm>
          <a:prstGeom prst="line">
            <a:avLst/>
          </a:prstGeom>
          <a:ln w="38100" cap="rnd">
            <a:solidFill>
              <a:srgbClr val="92D050"/>
            </a:solidFill>
          </a:ln>
        </p:spPr>
        <p:style>
          <a:lnRef idx="1">
            <a:schemeClr val="accent1"/>
          </a:lnRef>
          <a:fillRef idx="0">
            <a:schemeClr val="accent1"/>
          </a:fillRef>
          <a:effectRef idx="0">
            <a:schemeClr val="accent1"/>
          </a:effectRef>
          <a:fontRef idx="minor">
            <a:schemeClr val="tx1"/>
          </a:fontRef>
        </p:style>
      </p:cxnSp>
      <p:pic>
        <p:nvPicPr>
          <p:cNvPr id="1028" name="Picture 4" descr="Accenture Logo, symbol, meaning ...">
            <a:extLst>
              <a:ext uri="{FF2B5EF4-FFF2-40B4-BE49-F238E27FC236}">
                <a16:creationId xmlns:a16="http://schemas.microsoft.com/office/drawing/2014/main" id="{C1922A5E-C58F-19C9-04D5-9B15BD2B6B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0888" y="3804835"/>
            <a:ext cx="971550" cy="54406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DED90566-C810-8F5B-AD6C-019287721EA1}"/>
              </a:ext>
            </a:extLst>
          </p:cNvPr>
          <p:cNvSpPr txBox="1"/>
          <p:nvPr/>
        </p:nvSpPr>
        <p:spPr>
          <a:xfrm>
            <a:off x="10106438" y="2633836"/>
            <a:ext cx="1531698" cy="369332"/>
          </a:xfrm>
          <a:prstGeom prst="rect">
            <a:avLst/>
          </a:prstGeom>
          <a:noFill/>
        </p:spPr>
        <p:txBody>
          <a:bodyPr wrap="square" rtlCol="0">
            <a:spAutoFit/>
          </a:bodyPr>
          <a:lstStyle/>
          <a:p>
            <a:r>
              <a:rPr lang="en-NZ" i="1" noProof="0" dirty="0">
                <a:solidFill>
                  <a:srgbClr val="FF0000"/>
                </a:solidFill>
              </a:rPr>
              <a:t>misalignment </a:t>
            </a:r>
          </a:p>
        </p:txBody>
      </p:sp>
      <p:sp>
        <p:nvSpPr>
          <p:cNvPr id="25" name="TextBox 24">
            <a:extLst>
              <a:ext uri="{FF2B5EF4-FFF2-40B4-BE49-F238E27FC236}">
                <a16:creationId xmlns:a16="http://schemas.microsoft.com/office/drawing/2014/main" id="{69B7889F-AA64-F682-37D7-E8806CEAFC72}"/>
              </a:ext>
            </a:extLst>
          </p:cNvPr>
          <p:cNvSpPr txBox="1"/>
          <p:nvPr/>
        </p:nvSpPr>
        <p:spPr>
          <a:xfrm>
            <a:off x="7132162" y="2628592"/>
            <a:ext cx="1457325" cy="646331"/>
          </a:xfrm>
          <a:prstGeom prst="rect">
            <a:avLst/>
          </a:prstGeom>
          <a:noFill/>
        </p:spPr>
        <p:txBody>
          <a:bodyPr wrap="square" rtlCol="0">
            <a:spAutoFit/>
          </a:bodyPr>
          <a:lstStyle/>
          <a:p>
            <a:r>
              <a:rPr lang="en-NZ" i="1" noProof="0" dirty="0">
                <a:solidFill>
                  <a:srgbClr val="FFC000"/>
                </a:solidFill>
              </a:rPr>
              <a:t>Differing philosophy</a:t>
            </a:r>
          </a:p>
        </p:txBody>
      </p:sp>
      <p:sp>
        <p:nvSpPr>
          <p:cNvPr id="26" name="TextBox 25">
            <a:extLst>
              <a:ext uri="{FF2B5EF4-FFF2-40B4-BE49-F238E27FC236}">
                <a16:creationId xmlns:a16="http://schemas.microsoft.com/office/drawing/2014/main" id="{555AF770-E85B-AF3C-CEFA-C7E956E8241E}"/>
              </a:ext>
            </a:extLst>
          </p:cNvPr>
          <p:cNvSpPr txBox="1"/>
          <p:nvPr/>
        </p:nvSpPr>
        <p:spPr>
          <a:xfrm>
            <a:off x="6129678" y="4603415"/>
            <a:ext cx="2381693" cy="1615827"/>
          </a:xfrm>
          <a:prstGeom prst="rect">
            <a:avLst/>
          </a:prstGeom>
          <a:noFill/>
        </p:spPr>
        <p:txBody>
          <a:bodyPr wrap="square" rtlCol="0">
            <a:spAutoFit/>
          </a:bodyPr>
          <a:lstStyle/>
          <a:p>
            <a:pPr marL="285750" indent="-285750">
              <a:buFont typeface="Arial" panose="020B0604020202020204" pitchFamily="34" charset="0"/>
              <a:buChar char="•"/>
            </a:pPr>
            <a:r>
              <a:rPr lang="en-NZ" sz="1100" noProof="0" dirty="0"/>
              <a:t>Favour buy over build, but open to both</a:t>
            </a:r>
          </a:p>
          <a:p>
            <a:pPr marL="285750" indent="-285750">
              <a:buFont typeface="Arial" panose="020B0604020202020204" pitchFamily="34" charset="0"/>
              <a:buChar char="•"/>
            </a:pPr>
            <a:r>
              <a:rPr lang="en-NZ" sz="1100" noProof="0" dirty="0"/>
              <a:t>Favour fast time to value and partner leverage</a:t>
            </a:r>
          </a:p>
          <a:p>
            <a:pPr marL="285750" indent="-285750">
              <a:buFont typeface="Arial" panose="020B0604020202020204" pitchFamily="34" charset="0"/>
              <a:buChar char="•"/>
            </a:pPr>
            <a:r>
              <a:rPr lang="en-NZ" sz="1100" noProof="0" dirty="0"/>
              <a:t>Hybrid: buy + build i.e. AI Refinery (proprietary / Accenture) plus independent BNZ applications (open / following NAB framework)</a:t>
            </a:r>
          </a:p>
        </p:txBody>
      </p:sp>
      <p:sp>
        <p:nvSpPr>
          <p:cNvPr id="27" name="TextBox 26">
            <a:extLst>
              <a:ext uri="{FF2B5EF4-FFF2-40B4-BE49-F238E27FC236}">
                <a16:creationId xmlns:a16="http://schemas.microsoft.com/office/drawing/2014/main" id="{288C58CC-4086-47A7-AB92-DCEC38839B48}"/>
              </a:ext>
            </a:extLst>
          </p:cNvPr>
          <p:cNvSpPr txBox="1"/>
          <p:nvPr/>
        </p:nvSpPr>
        <p:spPr>
          <a:xfrm>
            <a:off x="8005412" y="1710108"/>
            <a:ext cx="2543305" cy="430887"/>
          </a:xfrm>
          <a:prstGeom prst="rect">
            <a:avLst/>
          </a:prstGeom>
          <a:noFill/>
        </p:spPr>
        <p:txBody>
          <a:bodyPr wrap="square" rtlCol="0">
            <a:spAutoFit/>
          </a:bodyPr>
          <a:lstStyle/>
          <a:p>
            <a:pPr marL="90488" indent="-90488">
              <a:buFont typeface="Arial" panose="020B0604020202020204" pitchFamily="34" charset="0"/>
              <a:buChar char="•"/>
            </a:pPr>
            <a:r>
              <a:rPr lang="en-NZ" sz="1100" noProof="0" dirty="0"/>
              <a:t>Favour build over buy</a:t>
            </a:r>
          </a:p>
          <a:p>
            <a:pPr marL="90488" indent="-90488">
              <a:buFont typeface="Arial" panose="020B0604020202020204" pitchFamily="34" charset="0"/>
              <a:buChar char="•"/>
            </a:pPr>
            <a:r>
              <a:rPr lang="en-NZ" sz="1100" noProof="0" dirty="0"/>
              <a:t>Favour open over vendor proprietary</a:t>
            </a:r>
          </a:p>
        </p:txBody>
      </p:sp>
      <p:sp>
        <p:nvSpPr>
          <p:cNvPr id="28" name="TextBox 27">
            <a:extLst>
              <a:ext uri="{FF2B5EF4-FFF2-40B4-BE49-F238E27FC236}">
                <a16:creationId xmlns:a16="http://schemas.microsoft.com/office/drawing/2014/main" id="{0E1B6B2F-ABAA-83CC-1813-393257CF02C9}"/>
              </a:ext>
            </a:extLst>
          </p:cNvPr>
          <p:cNvSpPr txBox="1"/>
          <p:nvPr/>
        </p:nvSpPr>
        <p:spPr>
          <a:xfrm>
            <a:off x="8765543" y="4206905"/>
            <a:ext cx="1592434" cy="646331"/>
          </a:xfrm>
          <a:prstGeom prst="rect">
            <a:avLst/>
          </a:prstGeom>
          <a:noFill/>
        </p:spPr>
        <p:txBody>
          <a:bodyPr wrap="square" rtlCol="0">
            <a:spAutoFit/>
          </a:bodyPr>
          <a:lstStyle/>
          <a:p>
            <a:r>
              <a:rPr lang="en-NZ" i="1" noProof="0" dirty="0">
                <a:solidFill>
                  <a:srgbClr val="92D050"/>
                </a:solidFill>
              </a:rPr>
              <a:t>Implicit alignment</a:t>
            </a:r>
          </a:p>
        </p:txBody>
      </p:sp>
      <p:sp>
        <p:nvSpPr>
          <p:cNvPr id="29" name="TextBox 28">
            <a:extLst>
              <a:ext uri="{FF2B5EF4-FFF2-40B4-BE49-F238E27FC236}">
                <a16:creationId xmlns:a16="http://schemas.microsoft.com/office/drawing/2014/main" id="{569F4E9F-A708-B097-BAFF-D66D7CEE8725}"/>
              </a:ext>
            </a:extLst>
          </p:cNvPr>
          <p:cNvSpPr txBox="1"/>
          <p:nvPr/>
        </p:nvSpPr>
        <p:spPr>
          <a:xfrm>
            <a:off x="10576932" y="4580927"/>
            <a:ext cx="1346793" cy="430887"/>
          </a:xfrm>
          <a:prstGeom prst="rect">
            <a:avLst/>
          </a:prstGeom>
          <a:noFill/>
        </p:spPr>
        <p:txBody>
          <a:bodyPr wrap="square" rtlCol="0">
            <a:spAutoFit/>
          </a:bodyPr>
          <a:lstStyle/>
          <a:p>
            <a:pPr marL="90488" indent="-90488">
              <a:buFont typeface="Arial" panose="020B0604020202020204" pitchFamily="34" charset="0"/>
              <a:buChar char="•"/>
            </a:pPr>
            <a:r>
              <a:rPr lang="en-NZ" sz="1100" noProof="0" dirty="0"/>
              <a:t>Fast start focused</a:t>
            </a:r>
          </a:p>
          <a:p>
            <a:pPr marL="90488" indent="-90488">
              <a:buFont typeface="Arial" panose="020B0604020202020204" pitchFamily="34" charset="0"/>
              <a:buChar char="•"/>
            </a:pPr>
            <a:r>
              <a:rPr lang="en-NZ" sz="1100" noProof="0" dirty="0"/>
              <a:t>Proprietary</a:t>
            </a:r>
          </a:p>
        </p:txBody>
      </p:sp>
      <p:sp>
        <p:nvSpPr>
          <p:cNvPr id="30" name="TextBox 29">
            <a:extLst>
              <a:ext uri="{FF2B5EF4-FFF2-40B4-BE49-F238E27FC236}">
                <a16:creationId xmlns:a16="http://schemas.microsoft.com/office/drawing/2014/main" id="{F4D95951-BE2D-08F7-2D2A-B73BE940FE9D}"/>
              </a:ext>
            </a:extLst>
          </p:cNvPr>
          <p:cNvSpPr txBox="1"/>
          <p:nvPr/>
        </p:nvSpPr>
        <p:spPr>
          <a:xfrm>
            <a:off x="447615" y="988021"/>
            <a:ext cx="2657521" cy="307777"/>
          </a:xfrm>
          <a:prstGeom prst="rect">
            <a:avLst/>
          </a:prstGeom>
          <a:noFill/>
        </p:spPr>
        <p:txBody>
          <a:bodyPr wrap="square">
            <a:spAutoFit/>
          </a:bodyPr>
          <a:lstStyle/>
          <a:p>
            <a:r>
              <a:rPr lang="en-NZ" sz="1400" b="1" noProof="0" dirty="0">
                <a:solidFill>
                  <a:srgbClr val="000000"/>
                </a:solidFill>
                <a:latin typeface="Aptos" panose="020B0004020202020204" pitchFamily="34" charset="0"/>
              </a:rPr>
              <a:t>Purpose</a:t>
            </a:r>
          </a:p>
        </p:txBody>
      </p:sp>
      <p:sp>
        <p:nvSpPr>
          <p:cNvPr id="31" name="TextBox 30">
            <a:extLst>
              <a:ext uri="{FF2B5EF4-FFF2-40B4-BE49-F238E27FC236}">
                <a16:creationId xmlns:a16="http://schemas.microsoft.com/office/drawing/2014/main" id="{40720E04-9A9D-A89B-9C2B-EAE08DBF4F6E}"/>
              </a:ext>
            </a:extLst>
          </p:cNvPr>
          <p:cNvSpPr txBox="1"/>
          <p:nvPr/>
        </p:nvSpPr>
        <p:spPr>
          <a:xfrm>
            <a:off x="434158" y="2290099"/>
            <a:ext cx="5287780" cy="3970318"/>
          </a:xfrm>
          <a:prstGeom prst="rect">
            <a:avLst/>
          </a:prstGeom>
          <a:noFill/>
        </p:spPr>
        <p:txBody>
          <a:bodyPr wrap="square">
            <a:spAutoFit/>
          </a:bodyPr>
          <a:lstStyle/>
          <a:p>
            <a:r>
              <a:rPr lang="en-NZ" sz="1200" noProof="0" dirty="0">
                <a:solidFill>
                  <a:srgbClr val="000000"/>
                </a:solidFill>
              </a:rPr>
              <a:t>This is an early / preliminary assessment pending further clarifications (which may change the assessment). The BNZ Agentic AI Strategy and Target State Architecture (TSA) have not yet been elaborated. We will use our Accenture / BNZ AI Refinery design [2][3]</a:t>
            </a:r>
            <a:r>
              <a:rPr lang="en-NZ" sz="1200" baseline="30000" noProof="0" dirty="0">
                <a:solidFill>
                  <a:srgbClr val="000000"/>
                </a:solidFill>
              </a:rPr>
              <a:t> </a:t>
            </a:r>
            <a:r>
              <a:rPr lang="en-NZ" sz="1200" noProof="0" dirty="0">
                <a:solidFill>
                  <a:srgbClr val="000000"/>
                </a:solidFill>
              </a:rPr>
              <a:t>and the NAB Agentic AI lexicon to fast track our target state definition. For the purposes of this assessment, we assume that AI Refinery will be aligned by default to the (eventual) BNZ Agentic AI TSA i.e. the target state for Agentic AI will be reverse engineered from the AI Refinery for BNZ design and refined to address limitations with AI Refinery and to leverage NAB work.</a:t>
            </a:r>
          </a:p>
          <a:p>
            <a:endParaRPr lang="en-NZ" sz="1200" noProof="0" dirty="0">
              <a:solidFill>
                <a:srgbClr val="000000"/>
              </a:solidFill>
            </a:endParaRPr>
          </a:p>
          <a:p>
            <a:pPr marL="171450" indent="-171450">
              <a:buFont typeface="Arial" panose="020B0604020202020204" pitchFamily="34" charset="0"/>
              <a:buChar char="•"/>
            </a:pPr>
            <a:r>
              <a:rPr lang="en-NZ" sz="1200" noProof="0" dirty="0">
                <a:solidFill>
                  <a:srgbClr val="000000"/>
                </a:solidFill>
              </a:rPr>
              <a:t>AI Refinery provides us with a fast start into agentic AI by leveraging Accenture experience and expertise.</a:t>
            </a:r>
          </a:p>
          <a:p>
            <a:pPr marL="171450" indent="-171450">
              <a:buFont typeface="Arial" panose="020B0604020202020204" pitchFamily="34" charset="0"/>
              <a:buChar char="•"/>
            </a:pPr>
            <a:r>
              <a:rPr lang="en-NZ" sz="1200" noProof="0" dirty="0">
                <a:solidFill>
                  <a:srgbClr val="000000"/>
                </a:solidFill>
              </a:rPr>
              <a:t>However, AI Refinery (as a SaaS offering) is misaligned with NAB Agentic AI strategy and has not been considered by NAB.</a:t>
            </a:r>
          </a:p>
          <a:p>
            <a:pPr marL="171450" indent="-171450">
              <a:buFont typeface="Arial" panose="020B0604020202020204" pitchFamily="34" charset="0"/>
              <a:buChar char="•"/>
            </a:pPr>
            <a:r>
              <a:rPr lang="en-NZ" sz="1200" noProof="0" dirty="0">
                <a:solidFill>
                  <a:srgbClr val="000000"/>
                </a:solidFill>
              </a:rPr>
              <a:t>Even without considering NAB alignment, AI Refinery has limitations, including being limited to NVIDIA supported or open hosted models (notable mainstream models such as Anthropic Claude and Google Gemini are missing).</a:t>
            </a:r>
          </a:p>
          <a:p>
            <a:pPr marL="171450" indent="-171450">
              <a:buFont typeface="Arial" panose="020B0604020202020204" pitchFamily="34" charset="0"/>
              <a:buChar char="•"/>
            </a:pPr>
            <a:r>
              <a:rPr lang="en-NZ" sz="1200" noProof="0" dirty="0">
                <a:solidFill>
                  <a:srgbClr val="000000"/>
                </a:solidFill>
              </a:rPr>
              <a:t>Our BNZ Agentic AI strategy should extend beyond Accenture AI Refinery to include elements from the NAB strategy in a “buy + build” approach as opposed to the NAB “build over buy” approach.</a:t>
            </a:r>
          </a:p>
          <a:p>
            <a:pPr marL="171450" indent="-171450">
              <a:buFont typeface="Arial" panose="020B0604020202020204" pitchFamily="34" charset="0"/>
              <a:buChar char="•"/>
            </a:pPr>
            <a:r>
              <a:rPr lang="en-NZ" sz="1200" noProof="0" dirty="0">
                <a:solidFill>
                  <a:srgbClr val="000000"/>
                </a:solidFill>
              </a:rPr>
              <a:t>The pace of change is too fast to be locked into a single vendor and into a single SaaS offering.</a:t>
            </a:r>
          </a:p>
        </p:txBody>
      </p:sp>
      <p:sp>
        <p:nvSpPr>
          <p:cNvPr id="1024" name="Title 1023">
            <a:extLst>
              <a:ext uri="{FF2B5EF4-FFF2-40B4-BE49-F238E27FC236}">
                <a16:creationId xmlns:a16="http://schemas.microsoft.com/office/drawing/2014/main" id="{525D5F8C-E005-F55B-6CCB-72B05A0840B8}"/>
              </a:ext>
            </a:extLst>
          </p:cNvPr>
          <p:cNvSpPr>
            <a:spLocks noGrp="1"/>
          </p:cNvSpPr>
          <p:nvPr>
            <p:ph type="title" idx="4294967295"/>
          </p:nvPr>
        </p:nvSpPr>
        <p:spPr>
          <a:xfrm>
            <a:off x="533295" y="432376"/>
            <a:ext cx="5562705" cy="335297"/>
          </a:xfrm>
        </p:spPr>
        <p:txBody>
          <a:bodyPr/>
          <a:lstStyle/>
          <a:p>
            <a:r>
              <a:rPr lang="en-NZ" sz="2400" b="1" noProof="0" dirty="0"/>
              <a:t>Considering alignment with NAB Agentic AI strategy </a:t>
            </a:r>
          </a:p>
        </p:txBody>
      </p:sp>
      <p:sp>
        <p:nvSpPr>
          <p:cNvPr id="16" name="TextBox 15">
            <a:extLst>
              <a:ext uri="{FF2B5EF4-FFF2-40B4-BE49-F238E27FC236}">
                <a16:creationId xmlns:a16="http://schemas.microsoft.com/office/drawing/2014/main" id="{D0941907-829B-D472-A4D4-07B59C1050AD}"/>
              </a:ext>
            </a:extLst>
          </p:cNvPr>
          <p:cNvSpPr txBox="1"/>
          <p:nvPr/>
        </p:nvSpPr>
        <p:spPr>
          <a:xfrm>
            <a:off x="10551515" y="4225488"/>
            <a:ext cx="1625599" cy="369332"/>
          </a:xfrm>
          <a:prstGeom prst="rect">
            <a:avLst/>
          </a:prstGeom>
          <a:noFill/>
        </p:spPr>
        <p:txBody>
          <a:bodyPr wrap="square">
            <a:spAutoFit/>
          </a:bodyPr>
          <a:lstStyle/>
          <a:p>
            <a:r>
              <a:rPr lang="en-NZ" i="1" noProof="0" dirty="0"/>
              <a:t>AI Refinery</a:t>
            </a:r>
          </a:p>
        </p:txBody>
      </p:sp>
      <p:sp>
        <p:nvSpPr>
          <p:cNvPr id="2" name="TextBox 1">
            <a:extLst>
              <a:ext uri="{FF2B5EF4-FFF2-40B4-BE49-F238E27FC236}">
                <a16:creationId xmlns:a16="http://schemas.microsoft.com/office/drawing/2014/main" id="{8CA13D00-9FEC-1483-D97D-E0C3E0A8BD32}"/>
              </a:ext>
            </a:extLst>
          </p:cNvPr>
          <p:cNvSpPr txBox="1"/>
          <p:nvPr/>
        </p:nvSpPr>
        <p:spPr>
          <a:xfrm>
            <a:off x="657546" y="6523369"/>
            <a:ext cx="1866000" cy="246221"/>
          </a:xfrm>
          <a:prstGeom prst="rect">
            <a:avLst/>
          </a:prstGeom>
          <a:noFill/>
        </p:spPr>
        <p:txBody>
          <a:bodyPr wrap="square">
            <a:spAutoFit/>
          </a:bodyPr>
          <a:lstStyle/>
          <a:p>
            <a:r>
              <a:rPr lang="en-NZ" sz="1000" baseline="30000" noProof="0" dirty="0"/>
              <a:t>1</a:t>
            </a:r>
            <a:r>
              <a:rPr lang="en-NZ" sz="1000" noProof="0" dirty="0"/>
              <a:t> See reference on page 6.</a:t>
            </a:r>
            <a:endParaRPr lang="en-NZ" sz="1050" noProof="0" dirty="0">
              <a:solidFill>
                <a:srgbClr val="000000"/>
              </a:solidFill>
            </a:endParaRPr>
          </a:p>
        </p:txBody>
      </p:sp>
    </p:spTree>
    <p:extLst>
      <p:ext uri="{BB962C8B-B14F-4D97-AF65-F5344CB8AC3E}">
        <p14:creationId xmlns:p14="http://schemas.microsoft.com/office/powerpoint/2010/main" val="3734177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4CAD-74FD-4A76-F329-5B11DCC2EA46}"/>
              </a:ext>
            </a:extLst>
          </p:cNvPr>
          <p:cNvSpPr>
            <a:spLocks noGrp="1"/>
          </p:cNvSpPr>
          <p:nvPr>
            <p:ph type="title" idx="4294967295"/>
          </p:nvPr>
        </p:nvSpPr>
        <p:spPr>
          <a:xfrm>
            <a:off x="182241" y="386635"/>
            <a:ext cx="11232000" cy="332555"/>
          </a:xfrm>
        </p:spPr>
        <p:txBody>
          <a:bodyPr anchor="ctr"/>
          <a:lstStyle/>
          <a:p>
            <a:r>
              <a:rPr lang="en-NZ" sz="2400" b="1" kern="1200" noProof="0" dirty="0">
                <a:solidFill>
                  <a:srgbClr val="193364"/>
                </a:solidFill>
                <a:effectLst/>
                <a:ea typeface="+mn-ea"/>
              </a:rPr>
              <a:t>AI Refinery is misaligned with NAB Agentic AI strategy </a:t>
            </a:r>
            <a:endParaRPr lang="en-NZ" sz="2400" b="1" noProof="0" dirty="0">
              <a:solidFill>
                <a:srgbClr val="193364"/>
              </a:solidFill>
            </a:endParaRPr>
          </a:p>
        </p:txBody>
      </p:sp>
      <p:pic>
        <p:nvPicPr>
          <p:cNvPr id="18" name="Picture 17" descr="A screenshot of a computer&#10;&#10;AI-generated content may be incorrect.">
            <a:extLst>
              <a:ext uri="{FF2B5EF4-FFF2-40B4-BE49-F238E27FC236}">
                <a16:creationId xmlns:a16="http://schemas.microsoft.com/office/drawing/2014/main" id="{8E30E05A-CDBF-7E0D-9DD9-6E17A2702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889" y="791110"/>
            <a:ext cx="11896222" cy="5556965"/>
          </a:xfrm>
          <a:prstGeom prst="rect">
            <a:avLst/>
          </a:prstGeom>
        </p:spPr>
      </p:pic>
    </p:spTree>
    <p:extLst>
      <p:ext uri="{BB962C8B-B14F-4D97-AF65-F5344CB8AC3E}">
        <p14:creationId xmlns:p14="http://schemas.microsoft.com/office/powerpoint/2010/main" val="3437446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577C97-FB82-35E1-5BEC-AA017EA542E5}"/>
              </a:ext>
            </a:extLst>
          </p:cNvPr>
          <p:cNvPicPr>
            <a:picLocks noChangeAspect="1"/>
          </p:cNvPicPr>
          <p:nvPr/>
        </p:nvPicPr>
        <p:blipFill>
          <a:blip r:embed="rId2"/>
          <a:stretch>
            <a:fillRect/>
          </a:stretch>
        </p:blipFill>
        <p:spPr>
          <a:xfrm>
            <a:off x="1688481" y="1028700"/>
            <a:ext cx="9427894" cy="5134356"/>
          </a:xfrm>
          <a:prstGeom prst="rect">
            <a:avLst/>
          </a:prstGeom>
        </p:spPr>
      </p:pic>
      <p:sp>
        <p:nvSpPr>
          <p:cNvPr id="4" name="Title 3">
            <a:extLst>
              <a:ext uri="{FF2B5EF4-FFF2-40B4-BE49-F238E27FC236}">
                <a16:creationId xmlns:a16="http://schemas.microsoft.com/office/drawing/2014/main" id="{E9FF6163-4274-D59A-5A89-CAEF90D5B9FC}"/>
              </a:ext>
            </a:extLst>
          </p:cNvPr>
          <p:cNvSpPr>
            <a:spLocks noGrp="1"/>
          </p:cNvSpPr>
          <p:nvPr>
            <p:ph type="title" idx="4294967295"/>
          </p:nvPr>
        </p:nvSpPr>
        <p:spPr>
          <a:xfrm>
            <a:off x="289069" y="316003"/>
            <a:ext cx="11232000" cy="466936"/>
          </a:xfrm>
        </p:spPr>
        <p:txBody>
          <a:bodyPr anchor="ctr"/>
          <a:lstStyle/>
          <a:p>
            <a:r>
              <a:rPr lang="en-NZ" sz="2400" b="1" i="0" noProof="0" dirty="0">
                <a:solidFill>
                  <a:srgbClr val="193364"/>
                </a:solidFill>
                <a:effectLst/>
              </a:rPr>
              <a:t>Our BNZ design for AI Refinery can accommodate both AI Refinery applications and other built applications</a:t>
            </a:r>
            <a:endParaRPr lang="en-NZ" sz="2400" b="1" noProof="0" dirty="0">
              <a:solidFill>
                <a:srgbClr val="193364"/>
              </a:solidFill>
            </a:endParaRPr>
          </a:p>
        </p:txBody>
      </p:sp>
      <p:sp>
        <p:nvSpPr>
          <p:cNvPr id="2" name="TextBox 1">
            <a:extLst>
              <a:ext uri="{FF2B5EF4-FFF2-40B4-BE49-F238E27FC236}">
                <a16:creationId xmlns:a16="http://schemas.microsoft.com/office/drawing/2014/main" id="{8072EA53-3EB3-AE4A-B047-B9DAFBC06063}"/>
              </a:ext>
            </a:extLst>
          </p:cNvPr>
          <p:cNvSpPr txBox="1"/>
          <p:nvPr/>
        </p:nvSpPr>
        <p:spPr>
          <a:xfrm>
            <a:off x="4196441" y="1400175"/>
            <a:ext cx="1899559" cy="369332"/>
          </a:xfrm>
          <a:prstGeom prst="rect">
            <a:avLst/>
          </a:prstGeom>
          <a:noFill/>
        </p:spPr>
        <p:txBody>
          <a:bodyPr wrap="none" rtlCol="0">
            <a:spAutoFit/>
          </a:bodyPr>
          <a:lstStyle/>
          <a:p>
            <a:r>
              <a:rPr lang="en-NZ" noProof="0" dirty="0"/>
              <a:t>Accenture Aligned</a:t>
            </a:r>
          </a:p>
        </p:txBody>
      </p:sp>
      <p:sp>
        <p:nvSpPr>
          <p:cNvPr id="5" name="TextBox 4">
            <a:extLst>
              <a:ext uri="{FF2B5EF4-FFF2-40B4-BE49-F238E27FC236}">
                <a16:creationId xmlns:a16="http://schemas.microsoft.com/office/drawing/2014/main" id="{8221618A-FD73-748E-37E4-97323201AC17}"/>
              </a:ext>
            </a:extLst>
          </p:cNvPr>
          <p:cNvSpPr txBox="1"/>
          <p:nvPr/>
        </p:nvSpPr>
        <p:spPr>
          <a:xfrm>
            <a:off x="7970722" y="1366839"/>
            <a:ext cx="1351652" cy="369332"/>
          </a:xfrm>
          <a:prstGeom prst="rect">
            <a:avLst/>
          </a:prstGeom>
          <a:noFill/>
        </p:spPr>
        <p:txBody>
          <a:bodyPr wrap="none" rtlCol="0">
            <a:spAutoFit/>
          </a:bodyPr>
          <a:lstStyle/>
          <a:p>
            <a:r>
              <a:rPr lang="en-NZ" noProof="0" dirty="0"/>
              <a:t>NAB Aligned</a:t>
            </a:r>
          </a:p>
        </p:txBody>
      </p:sp>
    </p:spTree>
    <p:extLst>
      <p:ext uri="{BB962C8B-B14F-4D97-AF65-F5344CB8AC3E}">
        <p14:creationId xmlns:p14="http://schemas.microsoft.com/office/powerpoint/2010/main" val="1175460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9CC226-9781-75C2-C236-1AD6F654E6B7}"/>
              </a:ext>
            </a:extLst>
          </p:cNvPr>
          <p:cNvSpPr>
            <a:spLocks noGrp="1"/>
          </p:cNvSpPr>
          <p:nvPr>
            <p:ph type="title"/>
          </p:nvPr>
        </p:nvSpPr>
        <p:spPr/>
        <p:txBody>
          <a:bodyPr/>
          <a:lstStyle/>
          <a:p>
            <a:r>
              <a:rPr lang="en-NZ" noProof="0" dirty="0"/>
              <a:t>Partnering Considerations</a:t>
            </a:r>
          </a:p>
        </p:txBody>
      </p:sp>
      <p:sp>
        <p:nvSpPr>
          <p:cNvPr id="4" name="Text Placeholder 3">
            <a:extLst>
              <a:ext uri="{FF2B5EF4-FFF2-40B4-BE49-F238E27FC236}">
                <a16:creationId xmlns:a16="http://schemas.microsoft.com/office/drawing/2014/main" id="{05D0AF1D-A34A-944E-2EE9-11F6E4A15B76}"/>
              </a:ext>
            </a:extLst>
          </p:cNvPr>
          <p:cNvSpPr>
            <a:spLocks noGrp="1"/>
          </p:cNvSpPr>
          <p:nvPr>
            <p:ph type="body" sz="quarter" idx="10"/>
          </p:nvPr>
        </p:nvSpPr>
        <p:spPr/>
        <p:txBody>
          <a:bodyPr/>
          <a:lstStyle/>
          <a:p>
            <a:r>
              <a:rPr lang="en-NZ" noProof="0" dirty="0"/>
              <a:t>Accenture and alternatives</a:t>
            </a:r>
          </a:p>
        </p:txBody>
      </p:sp>
    </p:spTree>
    <p:extLst>
      <p:ext uri="{BB962C8B-B14F-4D97-AF65-F5344CB8AC3E}">
        <p14:creationId xmlns:p14="http://schemas.microsoft.com/office/powerpoint/2010/main" val="1628971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34EDB-2484-EA5C-F735-A2819134A1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102835-5138-AF9B-815B-46D732AE0024}"/>
              </a:ext>
            </a:extLst>
          </p:cNvPr>
          <p:cNvSpPr>
            <a:spLocks noGrp="1"/>
          </p:cNvSpPr>
          <p:nvPr>
            <p:ph type="title"/>
          </p:nvPr>
        </p:nvSpPr>
        <p:spPr>
          <a:xfrm>
            <a:off x="249240" y="191313"/>
            <a:ext cx="10512424" cy="502605"/>
          </a:xfrm>
        </p:spPr>
        <p:txBody>
          <a:bodyPr/>
          <a:lstStyle/>
          <a:p>
            <a:r>
              <a:rPr lang="en-NZ" noProof="0" dirty="0"/>
              <a:t>Partnership vs DIY Decisions</a:t>
            </a:r>
          </a:p>
        </p:txBody>
      </p:sp>
      <p:sp>
        <p:nvSpPr>
          <p:cNvPr id="7" name="TextBox 6">
            <a:extLst>
              <a:ext uri="{FF2B5EF4-FFF2-40B4-BE49-F238E27FC236}">
                <a16:creationId xmlns:a16="http://schemas.microsoft.com/office/drawing/2014/main" id="{865DE4FD-3CEA-A8E6-82CF-8BE0DE3ED841}"/>
              </a:ext>
            </a:extLst>
          </p:cNvPr>
          <p:cNvSpPr txBox="1"/>
          <p:nvPr/>
        </p:nvSpPr>
        <p:spPr>
          <a:xfrm>
            <a:off x="515939" y="902061"/>
            <a:ext cx="5406229" cy="4616648"/>
          </a:xfrm>
          <a:prstGeom prst="rect">
            <a:avLst/>
          </a:prstGeom>
          <a:noFill/>
        </p:spPr>
        <p:txBody>
          <a:bodyPr wrap="square" lIns="91440" tIns="45720" rIns="91440" bIns="45720" anchor="t">
            <a:spAutoFit/>
          </a:bodyPr>
          <a:lstStyle/>
          <a:p>
            <a:pPr algn="l">
              <a:spcAft>
                <a:spcPts val="1200"/>
              </a:spcAft>
              <a:buNone/>
            </a:pPr>
            <a:r>
              <a:rPr lang="en-NZ" sz="1100" b="1" i="0" noProof="0" dirty="0">
                <a:solidFill>
                  <a:schemeClr val="tx1">
                    <a:lumMod val="50000"/>
                  </a:schemeClr>
                </a:solidFill>
                <a:effectLst/>
                <a:latin typeface="Aptos Light" panose="020B0004020202020204" pitchFamily="34" charset="0"/>
              </a:rPr>
              <a:t>DIY Approach Challenges for BNZ:</a:t>
            </a:r>
            <a:endParaRPr lang="en-NZ" sz="1100" b="0" i="0" noProof="0" dirty="0">
              <a:solidFill>
                <a:schemeClr val="tx1">
                  <a:lumMod val="50000"/>
                </a:schemeClr>
              </a:solidFill>
              <a:effectLst/>
              <a:latin typeface="Aptos Light" panose="020B0004020202020204" pitchFamily="34" charset="0"/>
            </a:endParaRP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Talent Acquisition:</a:t>
            </a:r>
            <a:r>
              <a:rPr lang="en-NZ" sz="1100" b="0" i="0" noProof="0" dirty="0">
                <a:solidFill>
                  <a:schemeClr val="tx1">
                    <a:lumMod val="50000"/>
                  </a:schemeClr>
                </a:solidFill>
                <a:effectLst/>
                <a:latin typeface="Aptos Light" panose="020B0004020202020204" pitchFamily="34" charset="0"/>
              </a:rPr>
              <a:t> Limited pool of AI experts in New Zealand; competing with global tech companies for scarce talent.</a:t>
            </a:r>
          </a:p>
          <a:p>
            <a:pPr marL="228600" indent="-228600">
              <a:buFont typeface="+mj-lt"/>
              <a:buAutoNum type="arabicPeriod"/>
            </a:pPr>
            <a:r>
              <a:rPr lang="en-NZ" sz="1100" b="1" i="0" noProof="0" dirty="0">
                <a:solidFill>
                  <a:schemeClr val="tx1">
                    <a:lumMod val="50000"/>
                  </a:schemeClr>
                </a:solidFill>
                <a:effectLst/>
                <a:latin typeface="Aptos Light"/>
              </a:rPr>
              <a:t>Investment Scale:</a:t>
            </a:r>
            <a:r>
              <a:rPr lang="en-NZ" sz="1100" b="0" i="0" noProof="0" dirty="0">
                <a:solidFill>
                  <a:schemeClr val="tx1">
                    <a:lumMod val="50000"/>
                  </a:schemeClr>
                </a:solidFill>
                <a:effectLst/>
                <a:latin typeface="Aptos Light"/>
              </a:rPr>
              <a:t> Achieving </a:t>
            </a:r>
            <a:r>
              <a:rPr lang="en-NZ" sz="1100" dirty="0">
                <a:solidFill>
                  <a:schemeClr val="tx1">
                    <a:lumMod val="50000"/>
                  </a:schemeClr>
                </a:solidFill>
                <a:latin typeface="Aptos Light"/>
              </a:rPr>
              <a:t>significant AI</a:t>
            </a:r>
            <a:r>
              <a:rPr lang="en-NZ" sz="1100" b="0" i="0" noProof="0" dirty="0">
                <a:solidFill>
                  <a:schemeClr val="tx1">
                    <a:lumMod val="50000"/>
                  </a:schemeClr>
                </a:solidFill>
                <a:effectLst/>
                <a:latin typeface="Aptos Light"/>
              </a:rPr>
              <a:t> ambition within a shortish timeframe might require disproportionate capital allocation (could be 10-20% of BNZ annual technology budget vs. 1-2% for larger banks).</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Development Timeframe:</a:t>
            </a:r>
            <a:r>
              <a:rPr lang="en-NZ" sz="1100" b="0" i="0" noProof="0" dirty="0">
                <a:solidFill>
                  <a:schemeClr val="tx1">
                    <a:lumMod val="50000"/>
                  </a:schemeClr>
                </a:solidFill>
                <a:effectLst/>
                <a:latin typeface="Aptos Light" panose="020B0004020202020204" pitchFamily="34" charset="0"/>
              </a:rPr>
              <a:t> Potentially 3-5 years to build internal capability vs. 6-18 months with partnership.</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Opportunity Cost:</a:t>
            </a:r>
            <a:r>
              <a:rPr lang="en-NZ" sz="1100" b="0" i="0" noProof="0" dirty="0">
                <a:solidFill>
                  <a:schemeClr val="tx1">
                    <a:lumMod val="50000"/>
                  </a:schemeClr>
                </a:solidFill>
                <a:effectLst/>
                <a:latin typeface="Aptos Light" panose="020B0004020202020204" pitchFamily="34" charset="0"/>
              </a:rPr>
              <a:t> Diverts resources from core banking transformation initiatives.</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Risk Profile:</a:t>
            </a:r>
            <a:r>
              <a:rPr lang="en-NZ" sz="1100" b="0" i="0" noProof="0" dirty="0">
                <a:solidFill>
                  <a:schemeClr val="tx1">
                    <a:lumMod val="50000"/>
                  </a:schemeClr>
                </a:solidFill>
                <a:effectLst/>
                <a:latin typeface="Aptos Light" panose="020B0004020202020204" pitchFamily="34" charset="0"/>
              </a:rPr>
              <a:t> Higher failure probability without proven AI platform development experience (85% failure rate for internal AI projects without external expertise).</a:t>
            </a:r>
          </a:p>
          <a:p>
            <a:pPr algn="l">
              <a:spcAft>
                <a:spcPts val="1200"/>
              </a:spcAft>
              <a:buNone/>
            </a:pPr>
            <a:endParaRPr lang="en-NZ" sz="1100" b="1" i="0" noProof="0" dirty="0">
              <a:solidFill>
                <a:schemeClr val="tx1">
                  <a:lumMod val="50000"/>
                </a:schemeClr>
              </a:solidFill>
              <a:effectLst/>
              <a:latin typeface="Aptos Light" panose="020B0004020202020204" pitchFamily="34" charset="0"/>
            </a:endParaRPr>
          </a:p>
          <a:p>
            <a:pPr algn="l">
              <a:spcAft>
                <a:spcPts val="1200"/>
              </a:spcAft>
              <a:buNone/>
            </a:pPr>
            <a:r>
              <a:rPr lang="en-NZ" sz="1100" b="1" i="0" noProof="0" dirty="0">
                <a:solidFill>
                  <a:schemeClr val="tx1">
                    <a:lumMod val="50000"/>
                  </a:schemeClr>
                </a:solidFill>
                <a:effectLst/>
                <a:latin typeface="Aptos Light" panose="020B0004020202020204" pitchFamily="34" charset="0"/>
              </a:rPr>
              <a:t>Consultancy Partnership Advantages for BNZ:</a:t>
            </a:r>
            <a:endParaRPr lang="en-NZ" sz="1100" b="0" i="0" noProof="0" dirty="0">
              <a:solidFill>
                <a:schemeClr val="tx1">
                  <a:lumMod val="50000"/>
                </a:schemeClr>
              </a:solidFill>
              <a:effectLst/>
              <a:latin typeface="Aptos Light" panose="020B0004020202020204" pitchFamily="34" charset="0"/>
            </a:endParaRPr>
          </a:p>
          <a:p>
            <a:pPr marL="228600" indent="-228600">
              <a:buFont typeface="+mj-lt"/>
              <a:buAutoNum type="arabicPeriod"/>
            </a:pPr>
            <a:r>
              <a:rPr lang="en-NZ" sz="1100" b="1" i="0" noProof="0" dirty="0">
                <a:solidFill>
                  <a:schemeClr val="tx1">
                    <a:lumMod val="50000"/>
                  </a:schemeClr>
                </a:solidFill>
                <a:effectLst/>
                <a:latin typeface="Aptos Light"/>
              </a:rPr>
              <a:t>Accelerated Time-to-Value:</a:t>
            </a:r>
            <a:r>
              <a:rPr lang="en-NZ" sz="1100" b="0" i="0" noProof="0" dirty="0">
                <a:solidFill>
                  <a:schemeClr val="tx1">
                    <a:lumMod val="50000"/>
                  </a:schemeClr>
                </a:solidFill>
                <a:effectLst/>
                <a:latin typeface="Aptos Light"/>
              </a:rPr>
              <a:t> Leverage pre-built platforms and frameworks (e.g. Accenture </a:t>
            </a:r>
            <a:r>
              <a:rPr lang="en-NZ" sz="1100" dirty="0">
                <a:solidFill>
                  <a:schemeClr val="tx1">
                    <a:lumMod val="50000"/>
                  </a:schemeClr>
                </a:solidFill>
                <a:latin typeface="Aptos Light"/>
              </a:rPr>
              <a:t>/ </a:t>
            </a:r>
            <a:r>
              <a:rPr lang="en-NZ" sz="1100" b="0" i="0" noProof="0" dirty="0">
                <a:solidFill>
                  <a:schemeClr val="tx1">
                    <a:lumMod val="50000"/>
                  </a:schemeClr>
                </a:solidFill>
                <a:effectLst/>
                <a:latin typeface="Aptos Light"/>
              </a:rPr>
              <a:t>AI Refinery</a:t>
            </a:r>
            <a:r>
              <a:rPr lang="en-NZ" sz="1100" dirty="0">
                <a:solidFill>
                  <a:schemeClr val="tx1">
                    <a:lumMod val="50000"/>
                  </a:schemeClr>
                </a:solidFill>
                <a:latin typeface="Aptos Light"/>
              </a:rPr>
              <a:t>).</a:t>
            </a:r>
            <a:endParaRPr lang="en-NZ" sz="1100" b="0" i="0" noProof="0" dirty="0">
              <a:solidFill>
                <a:schemeClr val="tx1">
                  <a:lumMod val="50000"/>
                </a:schemeClr>
              </a:solidFill>
              <a:effectLst/>
              <a:latin typeface="Aptos Light"/>
            </a:endParaRP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Access to Global Expertise:</a:t>
            </a:r>
            <a:r>
              <a:rPr lang="en-NZ" sz="1100" b="0" i="0" noProof="0" dirty="0">
                <a:solidFill>
                  <a:schemeClr val="tx1">
                    <a:lumMod val="50000"/>
                  </a:schemeClr>
                </a:solidFill>
                <a:effectLst/>
                <a:latin typeface="Aptos Light" panose="020B0004020202020204" pitchFamily="34" charset="0"/>
              </a:rPr>
              <a:t> Tap into consultancy global team (e.g. Accenture's 40,000+ AI professionals and banking domain knowledge</a:t>
            </a:r>
            <a:r>
              <a:rPr lang="en-NZ" sz="1100" noProof="0" dirty="0">
                <a:solidFill>
                  <a:schemeClr val="tx1">
                    <a:lumMod val="50000"/>
                  </a:schemeClr>
                </a:solidFill>
                <a:latin typeface="Aptos Light" panose="020B0004020202020204" pitchFamily="34" charset="0"/>
              </a:rPr>
              <a:t>). However, </a:t>
            </a:r>
            <a:r>
              <a:rPr lang="en-NZ" sz="1100" b="0" i="0" noProof="0" dirty="0">
                <a:solidFill>
                  <a:schemeClr val="tx1">
                    <a:lumMod val="50000"/>
                  </a:schemeClr>
                </a:solidFill>
                <a:effectLst/>
                <a:latin typeface="Aptos Light" panose="020B0004020202020204" pitchFamily="34" charset="0"/>
              </a:rPr>
              <a:t>given BNZ’s relatively small size as a regional bank, we may not get the A team.</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Risk Mitigation:</a:t>
            </a:r>
            <a:r>
              <a:rPr lang="en-NZ" sz="1100" b="0" i="0" noProof="0" dirty="0">
                <a:solidFill>
                  <a:schemeClr val="tx1">
                    <a:lumMod val="50000"/>
                  </a:schemeClr>
                </a:solidFill>
                <a:effectLst/>
                <a:latin typeface="Aptos Light" panose="020B0004020202020204" pitchFamily="34" charset="0"/>
              </a:rPr>
              <a:t> Shared accountability and proven implementation methodologies leveraged from other client engagements.</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Cost Efficiency:</a:t>
            </a:r>
            <a:r>
              <a:rPr lang="en-NZ" sz="1100" b="0" i="0" noProof="0" dirty="0">
                <a:solidFill>
                  <a:schemeClr val="tx1">
                    <a:lumMod val="50000"/>
                  </a:schemeClr>
                </a:solidFill>
                <a:effectLst/>
                <a:latin typeface="Aptos Light" panose="020B0004020202020204" pitchFamily="34" charset="0"/>
              </a:rPr>
              <a:t> Operational expense model vs. large capital investment in uncertain outcomes.</a:t>
            </a:r>
          </a:p>
          <a:p>
            <a:pPr marL="228600" indent="-228600" algn="l">
              <a:buFont typeface="+mj-lt"/>
              <a:buAutoNum type="arabicPeriod"/>
            </a:pPr>
            <a:r>
              <a:rPr lang="en-NZ" sz="1100" b="1" i="0" noProof="0" dirty="0">
                <a:solidFill>
                  <a:schemeClr val="tx1">
                    <a:lumMod val="50000"/>
                  </a:schemeClr>
                </a:solidFill>
                <a:effectLst/>
                <a:latin typeface="Aptos Light" panose="020B0004020202020204" pitchFamily="34" charset="0"/>
              </a:rPr>
              <a:t>Focus on Core Banking:</a:t>
            </a:r>
            <a:r>
              <a:rPr lang="en-NZ" sz="1100" b="0" i="0" noProof="0" dirty="0">
                <a:solidFill>
                  <a:schemeClr val="tx1">
                    <a:lumMod val="50000"/>
                  </a:schemeClr>
                </a:solidFill>
                <a:effectLst/>
                <a:latin typeface="Aptos Light" panose="020B0004020202020204" pitchFamily="34" charset="0"/>
              </a:rPr>
              <a:t> Maintain resources for customer-facing innovation, modernisation and regulatory compliance.</a:t>
            </a:r>
          </a:p>
        </p:txBody>
      </p:sp>
      <p:sp>
        <p:nvSpPr>
          <p:cNvPr id="2" name="TextBox 1">
            <a:extLst>
              <a:ext uri="{FF2B5EF4-FFF2-40B4-BE49-F238E27FC236}">
                <a16:creationId xmlns:a16="http://schemas.microsoft.com/office/drawing/2014/main" id="{62D4FF48-6396-0AFA-2CBB-064D026B11F5}"/>
              </a:ext>
            </a:extLst>
          </p:cNvPr>
          <p:cNvSpPr txBox="1"/>
          <p:nvPr/>
        </p:nvSpPr>
        <p:spPr>
          <a:xfrm>
            <a:off x="6519072" y="902061"/>
            <a:ext cx="5406229" cy="4262705"/>
          </a:xfrm>
          <a:prstGeom prst="rect">
            <a:avLst/>
          </a:prstGeom>
          <a:noFill/>
        </p:spPr>
        <p:txBody>
          <a:bodyPr wrap="square" lIns="91440" tIns="45720" rIns="91440" bIns="45720" anchor="t">
            <a:spAutoFit/>
          </a:bodyPr>
          <a:lstStyle/>
          <a:p>
            <a:pPr algn="l">
              <a:spcBef>
                <a:spcPts val="1800"/>
              </a:spcBef>
              <a:spcAft>
                <a:spcPts val="1200"/>
              </a:spcAft>
              <a:buNone/>
            </a:pPr>
            <a:r>
              <a:rPr lang="en-NZ" sz="1100" b="1" i="0" noProof="0" dirty="0">
                <a:solidFill>
                  <a:schemeClr val="tx1">
                    <a:lumMod val="50000"/>
                  </a:schemeClr>
                </a:solidFill>
                <a:effectLst/>
                <a:latin typeface="Aptos Light" panose="020B0004020202020204" pitchFamily="34" charset="0"/>
              </a:rPr>
              <a:t>Recommended Strategic Approach for BNZ</a:t>
            </a:r>
          </a:p>
          <a:p>
            <a:pPr algn="l">
              <a:spcAft>
                <a:spcPts val="1200"/>
              </a:spcAft>
              <a:buNone/>
            </a:pPr>
            <a:r>
              <a:rPr lang="en-NZ" sz="1100" b="1" i="0" noProof="0" dirty="0">
                <a:solidFill>
                  <a:schemeClr val="tx1">
                    <a:lumMod val="50000"/>
                  </a:schemeClr>
                </a:solidFill>
                <a:effectLst/>
                <a:latin typeface="Aptos Light" panose="020B0004020202020204" pitchFamily="34" charset="0"/>
              </a:rPr>
              <a:t>Phase 1: Partnership-Led Foundation (0-18 months)</a:t>
            </a:r>
            <a:endParaRPr lang="en-NZ" sz="11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a:rPr>
              <a:t>Engage a consultancy (e.g. Accenture) with a proven platform  (e.g.  AI Refinery) to provide foundational platform capabilities.</a:t>
            </a:r>
          </a:p>
          <a:p>
            <a:pPr marL="171450" indent="-171450">
              <a:buFont typeface="Arial" panose="020B0604020202020204" pitchFamily="34" charset="0"/>
              <a:buChar char="•"/>
            </a:pPr>
            <a:r>
              <a:rPr lang="en-NZ" sz="1100" dirty="0">
                <a:solidFill>
                  <a:schemeClr val="tx1">
                    <a:lumMod val="50000"/>
                  </a:schemeClr>
                </a:solidFill>
                <a:latin typeface="Aptos Light"/>
              </a:rPr>
              <a:t>Consider different consultancies for strategy (e.g. Boston Consulting Group) versus implementation (e.g. Accenture).</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a:rPr>
              <a:t>Focus on high-impact, low-risk use cases.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a:rPr>
              <a:t>Build internal AI governance and risk management capabilities.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Develop strategic partnership management expertise.</a:t>
            </a:r>
          </a:p>
          <a:p>
            <a:pPr algn="l">
              <a:buFont typeface="Arial" panose="020B0604020202020204" pitchFamily="34" charset="0"/>
              <a:buChar char="•"/>
            </a:pPr>
            <a:endParaRPr lang="en-NZ" sz="1100" b="0" i="0" noProof="0" dirty="0">
              <a:solidFill>
                <a:schemeClr val="tx1">
                  <a:lumMod val="50000"/>
                </a:schemeClr>
              </a:solidFill>
              <a:effectLst/>
              <a:latin typeface="Aptos Light" panose="020B0004020202020204" pitchFamily="34" charset="0"/>
            </a:endParaRPr>
          </a:p>
          <a:p>
            <a:pPr algn="l">
              <a:spcAft>
                <a:spcPts val="1200"/>
              </a:spcAft>
              <a:buNone/>
            </a:pPr>
            <a:r>
              <a:rPr lang="en-NZ" sz="1100" b="1" i="0" noProof="0" dirty="0">
                <a:solidFill>
                  <a:schemeClr val="tx1">
                    <a:lumMod val="50000"/>
                  </a:schemeClr>
                </a:solidFill>
                <a:effectLst/>
                <a:latin typeface="Aptos Light" panose="020B0004020202020204" pitchFamily="34" charset="0"/>
              </a:rPr>
              <a:t>Phase 2: Selective Internalization (18-36 months)</a:t>
            </a:r>
            <a:endParaRPr lang="en-NZ" sz="11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Evaluate specific capabilities for potential internalization based on business criticality.</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Maintain partnership for complex, rapidly-evolving AI technologies.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Build internal product management and integration capabilities.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Develop vendor management strategies for AI ecosystem.</a:t>
            </a:r>
          </a:p>
          <a:p>
            <a:pPr algn="l">
              <a:buFont typeface="Arial" panose="020B0604020202020204" pitchFamily="34" charset="0"/>
              <a:buChar char="•"/>
            </a:pPr>
            <a:endParaRPr lang="en-NZ" sz="1100" b="0" i="0" noProof="0" dirty="0">
              <a:solidFill>
                <a:schemeClr val="tx1">
                  <a:lumMod val="50000"/>
                </a:schemeClr>
              </a:solidFill>
              <a:effectLst/>
              <a:latin typeface="Aptos Light" panose="020B0004020202020204" pitchFamily="34" charset="0"/>
            </a:endParaRPr>
          </a:p>
          <a:p>
            <a:pPr algn="l">
              <a:spcAft>
                <a:spcPts val="1200"/>
              </a:spcAft>
              <a:buNone/>
            </a:pPr>
            <a:r>
              <a:rPr lang="en-NZ" sz="1100" b="1" i="0" noProof="0" dirty="0">
                <a:solidFill>
                  <a:schemeClr val="tx1">
                    <a:lumMod val="50000"/>
                  </a:schemeClr>
                </a:solidFill>
                <a:effectLst/>
                <a:latin typeface="Aptos Light" panose="020B0004020202020204" pitchFamily="34" charset="0"/>
              </a:rPr>
              <a:t>Phase 3: Hybrid Optimization (36+ months)</a:t>
            </a:r>
            <a:endParaRPr lang="en-NZ" sz="11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Balance internal capabilities with strategic partnerships.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Selective build decisions for banking-specific, competitive-advantage use cases.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Maintain partnerships for infrastructure, platforms, and emerging technologies.</a:t>
            </a:r>
          </a:p>
          <a:p>
            <a:pPr marL="171450" indent="-171450" algn="l">
              <a:buFont typeface="Arial" panose="020B0604020202020204" pitchFamily="34" charset="0"/>
              <a:buChar char="•"/>
            </a:pPr>
            <a:r>
              <a:rPr lang="en-NZ" sz="1100" b="0" i="0" noProof="0" dirty="0">
                <a:solidFill>
                  <a:schemeClr val="tx1">
                    <a:lumMod val="50000"/>
                  </a:schemeClr>
                </a:solidFill>
                <a:effectLst/>
                <a:latin typeface="Aptos Light" panose="020B0004020202020204" pitchFamily="34" charset="0"/>
              </a:rPr>
              <a:t>Focus internal efforts on customer experience and banking domain expertise.</a:t>
            </a:r>
          </a:p>
        </p:txBody>
      </p:sp>
    </p:spTree>
    <p:extLst>
      <p:ext uri="{BB962C8B-B14F-4D97-AF65-F5344CB8AC3E}">
        <p14:creationId xmlns:p14="http://schemas.microsoft.com/office/powerpoint/2010/main" val="322036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FEC8F7-5F3A-CEE1-AB0E-EEA2356DA709}"/>
              </a:ext>
            </a:extLst>
          </p:cNvPr>
          <p:cNvSpPr>
            <a:spLocks noGrp="1"/>
          </p:cNvSpPr>
          <p:nvPr>
            <p:ph type="title"/>
          </p:nvPr>
        </p:nvSpPr>
        <p:spPr>
          <a:xfrm>
            <a:off x="249240" y="191313"/>
            <a:ext cx="10512424" cy="502605"/>
          </a:xfrm>
        </p:spPr>
        <p:txBody>
          <a:bodyPr/>
          <a:lstStyle/>
          <a:p>
            <a:r>
              <a:rPr lang="en-NZ" noProof="0" dirty="0"/>
              <a:t>Accenture AI Capabilities and Strategic Investment</a:t>
            </a:r>
          </a:p>
        </p:txBody>
      </p:sp>
      <p:sp>
        <p:nvSpPr>
          <p:cNvPr id="6" name="TextBox 5">
            <a:extLst>
              <a:ext uri="{FF2B5EF4-FFF2-40B4-BE49-F238E27FC236}">
                <a16:creationId xmlns:a16="http://schemas.microsoft.com/office/drawing/2014/main" id="{9FF60551-B87D-6100-BE65-ECE73C888442}"/>
              </a:ext>
            </a:extLst>
          </p:cNvPr>
          <p:cNvSpPr txBox="1"/>
          <p:nvPr/>
        </p:nvSpPr>
        <p:spPr>
          <a:xfrm>
            <a:off x="177803" y="693918"/>
            <a:ext cx="6080122" cy="5555367"/>
          </a:xfrm>
          <a:prstGeom prst="rect">
            <a:avLst/>
          </a:prstGeom>
          <a:noFill/>
        </p:spPr>
        <p:txBody>
          <a:bodyPr wrap="square" lIns="91440" tIns="45720" rIns="91440" bIns="45720" anchor="t">
            <a:spAutoFit/>
          </a:bodyPr>
          <a:lstStyle/>
          <a:p>
            <a:pPr algn="l">
              <a:spcAft>
                <a:spcPts val="1200"/>
              </a:spcAft>
              <a:buNone/>
            </a:pPr>
            <a:r>
              <a:rPr lang="en-NZ" sz="1000" b="1" i="0" noProof="0" dirty="0">
                <a:solidFill>
                  <a:schemeClr val="tx1">
                    <a:lumMod val="50000"/>
                  </a:schemeClr>
                </a:solidFill>
                <a:effectLst/>
                <a:latin typeface="Aptos Light" panose="020B0004020202020204" pitchFamily="34" charset="0"/>
              </a:rPr>
              <a:t>Accenture's AI Platform Approach:</a:t>
            </a:r>
            <a:r>
              <a:rPr lang="en-NZ" sz="1000" b="0" i="0" noProof="0" dirty="0">
                <a:solidFill>
                  <a:schemeClr val="tx1">
                    <a:lumMod val="50000"/>
                  </a:schemeClr>
                </a:solidFill>
                <a:effectLst/>
                <a:latin typeface="Aptos Light" panose="020B0004020202020204" pitchFamily="34" charset="0"/>
              </a:rPr>
              <a:t> Accenture has positioned itself as a leader in enterprise AI transformation through substantial investments in talent, technology, and industry-specific solutions, making it particularly well-suited for banking partnerships.</a:t>
            </a:r>
          </a:p>
          <a:p>
            <a:pPr algn="l">
              <a:spcAft>
                <a:spcPts val="1200"/>
              </a:spcAft>
              <a:buNone/>
            </a:pPr>
            <a:r>
              <a:rPr lang="en-NZ" sz="1000" b="1" i="0" noProof="0" dirty="0">
                <a:solidFill>
                  <a:schemeClr val="tx1">
                    <a:lumMod val="50000"/>
                  </a:schemeClr>
                </a:solidFill>
                <a:effectLst/>
                <a:latin typeface="Aptos Light" panose="020B0004020202020204" pitchFamily="34" charset="0"/>
              </a:rPr>
              <a:t>Workforce and Investment Scale:</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40,000+ Data / AI Professionals</a:t>
            </a:r>
            <a:r>
              <a:rPr lang="en-NZ" sz="1000" b="0" i="0" noProof="0" dirty="0">
                <a:solidFill>
                  <a:schemeClr val="tx1">
                    <a:lumMod val="50000"/>
                  </a:schemeClr>
                </a:solidFill>
                <a:effectLst/>
                <a:latin typeface="Aptos Light"/>
              </a:rPr>
              <a:t> (as of June 2023) across Data &amp; AI practice, with plans to double AI talent to 80,000 by 2026 through hiring, acquisitions and training</a:t>
            </a:r>
            <a:r>
              <a:rPr lang="en-NZ" sz="1000" dirty="0">
                <a:solidFill>
                  <a:schemeClr val="tx1">
                    <a:lumMod val="50000"/>
                  </a:schemeClr>
                </a:solidFill>
                <a:latin typeface="Aptos Light"/>
              </a:rPr>
              <a:t>.</a:t>
            </a:r>
            <a:endParaRPr lang="en-NZ" sz="1000" b="0" i="0" noProof="0" dirty="0">
              <a:solidFill>
                <a:schemeClr val="tx1">
                  <a:lumMod val="50000"/>
                </a:schemeClr>
              </a:solidFill>
              <a:effectLst/>
              <a:latin typeface="Aptos Light"/>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$3 billion investment</a:t>
            </a:r>
            <a:r>
              <a:rPr lang="en-NZ" sz="1000" b="0" i="0" noProof="0" dirty="0">
                <a:solidFill>
                  <a:schemeClr val="tx1">
                    <a:lumMod val="50000"/>
                  </a:schemeClr>
                </a:solidFill>
                <a:effectLst/>
                <a:latin typeface="Aptos Light"/>
              </a:rPr>
              <a:t> over three years (2023-2026) in AI capabilities and talent acquisition</a:t>
            </a:r>
            <a:r>
              <a:rPr lang="en-NZ" sz="1000" dirty="0">
                <a:solidFill>
                  <a:schemeClr val="tx1">
                    <a:lumMod val="50000"/>
                  </a:schemeClr>
                </a:solidFill>
                <a:latin typeface="Aptos Light"/>
              </a:rPr>
              <a:t>.</a:t>
            </a:r>
            <a:endParaRPr lang="en-NZ" sz="1000" b="0" i="0" noProof="0" dirty="0">
              <a:solidFill>
                <a:schemeClr val="tx1">
                  <a:lumMod val="50000"/>
                </a:schemeClr>
              </a:solidFill>
              <a:effectLst/>
              <a:latin typeface="Aptos Light"/>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20,000+ GenAI-proficient staff</a:t>
            </a:r>
            <a:r>
              <a:rPr lang="en-NZ" sz="1000" b="0" i="0" noProof="0" dirty="0">
                <a:solidFill>
                  <a:schemeClr val="tx1">
                    <a:lumMod val="50000"/>
                  </a:schemeClr>
                </a:solidFill>
                <a:effectLst/>
                <a:latin typeface="Aptos Light"/>
              </a:rPr>
              <a:t> in India operations alone as of February 2024</a:t>
            </a:r>
            <a:r>
              <a:rPr lang="en-NZ" sz="1000" dirty="0">
                <a:solidFill>
                  <a:schemeClr val="tx1">
                    <a:lumMod val="50000"/>
                  </a:schemeClr>
                </a:solidFill>
                <a:latin typeface="Aptos Light"/>
              </a:rPr>
              <a:t>.</a:t>
            </a:r>
            <a:endParaRPr lang="en-NZ" sz="1000" b="0" i="0" noProof="0" dirty="0">
              <a:solidFill>
                <a:schemeClr val="tx1">
                  <a:lumMod val="50000"/>
                </a:schemeClr>
              </a:solidFill>
              <a:effectLst/>
              <a:latin typeface="Aptos Light"/>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Significant AI consultancy</a:t>
            </a:r>
            <a:r>
              <a:rPr lang="en-NZ" sz="1000" b="0" i="0" noProof="0" dirty="0">
                <a:solidFill>
                  <a:schemeClr val="tx1">
                    <a:lumMod val="50000"/>
                  </a:schemeClr>
                </a:solidFill>
                <a:effectLst/>
                <a:latin typeface="Aptos Light"/>
              </a:rPr>
              <a:t> booking $2bn of AI-related projects in 2024 by July.</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Banking Domain Expertise</a:t>
            </a:r>
            <a:r>
              <a:rPr lang="en-NZ" sz="1000" b="0" i="0" noProof="0" dirty="0">
                <a:solidFill>
                  <a:schemeClr val="tx1">
                    <a:lumMod val="50000"/>
                  </a:schemeClr>
                </a:solidFill>
                <a:effectLst/>
                <a:latin typeface="Aptos Light"/>
              </a:rPr>
              <a:t>: Extensive financial services practice with regulatory compliance specialization</a:t>
            </a:r>
            <a:r>
              <a:rPr lang="en-NZ" sz="1000" dirty="0">
                <a:solidFill>
                  <a:schemeClr val="tx1">
                    <a:lumMod val="50000"/>
                  </a:schemeClr>
                </a:solidFill>
                <a:latin typeface="Aptos Light"/>
              </a:rPr>
              <a:t>.</a:t>
            </a:r>
            <a:endParaRPr lang="en-NZ" sz="1000" b="0" i="0" noProof="0" dirty="0">
              <a:solidFill>
                <a:schemeClr val="tx1">
                  <a:lumMod val="50000"/>
                </a:schemeClr>
              </a:solidFill>
              <a:effectLst/>
              <a:latin typeface="Aptos Light"/>
            </a:endParaRPr>
          </a:p>
          <a:p>
            <a:pPr algn="l">
              <a:spcBef>
                <a:spcPts val="600"/>
              </a:spcBef>
              <a:spcAft>
                <a:spcPts val="1200"/>
              </a:spcAft>
              <a:buFont typeface="Arial" panose="020B0604020202020204" pitchFamily="34" charset="0"/>
            </a:pPr>
            <a:r>
              <a:rPr lang="en-NZ" sz="1000" b="1" i="0" noProof="0" dirty="0">
                <a:solidFill>
                  <a:schemeClr val="tx1">
                    <a:lumMod val="50000"/>
                  </a:schemeClr>
                </a:solidFill>
                <a:effectLst/>
                <a:latin typeface="Aptos Light"/>
              </a:rPr>
              <a:t>Technology Stack and Platforms:</a:t>
            </a:r>
            <a:endParaRPr lang="en-NZ" sz="1000" b="0" i="0" noProof="0" dirty="0">
              <a:solidFill>
                <a:schemeClr val="tx1">
                  <a:lumMod val="50000"/>
                </a:schemeClr>
              </a:solidFill>
              <a:effectLst/>
              <a:latin typeface="Aptos Light"/>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AI Refinery</a:t>
            </a:r>
            <a:r>
              <a:rPr lang="en-NZ" sz="1000" b="0" i="0" noProof="0" dirty="0">
                <a:solidFill>
                  <a:schemeClr val="tx1">
                    <a:lumMod val="50000"/>
                  </a:schemeClr>
                </a:solidFill>
                <a:effectLst/>
                <a:latin typeface="Aptos Light"/>
              </a:rPr>
              <a:t>: Comprehensive platform for enterprise AI transformation with banking-specific modules.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a:rPr>
              <a:t>Distiller Framework</a:t>
            </a:r>
            <a:r>
              <a:rPr lang="en-NZ" sz="1000" b="0" i="0" noProof="0" dirty="0">
                <a:solidFill>
                  <a:schemeClr val="tx1">
                    <a:lumMod val="50000"/>
                  </a:schemeClr>
                </a:solidFill>
                <a:effectLst/>
                <a:latin typeface="Aptos Light"/>
              </a:rPr>
              <a:t>: Newly launched agentic AI framework designed for scalable industry solutions (2025).</a:t>
            </a:r>
          </a:p>
          <a:p>
            <a:pPr marL="171450" indent="-171450">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Multi-vendor Integration</a:t>
            </a:r>
            <a:r>
              <a:rPr lang="en-NZ" sz="1000" b="0" i="0" noProof="0" dirty="0">
                <a:solidFill>
                  <a:schemeClr val="tx1">
                    <a:lumMod val="50000"/>
                  </a:schemeClr>
                </a:solidFill>
                <a:effectLst/>
                <a:latin typeface="Aptos Light" panose="020B0004020202020204" pitchFamily="34" charset="0"/>
              </a:rPr>
              <a:t>: Unclear how framework-agnostic is Accenture’s approach and </a:t>
            </a:r>
            <a:r>
              <a:rPr lang="en-NZ" sz="1000" dirty="0">
                <a:solidFill>
                  <a:schemeClr val="tx1">
                    <a:lumMod val="50000"/>
                  </a:schemeClr>
                </a:solidFill>
                <a:latin typeface="Aptos Light" panose="020B0004020202020204" pitchFamily="34" charset="0"/>
              </a:rPr>
              <a:t>how multiple </a:t>
            </a:r>
            <a:r>
              <a:rPr lang="en-NZ" sz="1000" b="0" i="0" noProof="0" dirty="0">
                <a:solidFill>
                  <a:schemeClr val="tx1">
                    <a:lumMod val="50000"/>
                  </a:schemeClr>
                </a:solidFill>
                <a:effectLst/>
                <a:latin typeface="Aptos Light" panose="020B0004020202020204" pitchFamily="34" charset="0"/>
              </a:rPr>
              <a:t>AI platforms and deployment models are supported.</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NVIDIA Partnership</a:t>
            </a:r>
            <a:r>
              <a:rPr lang="en-NZ" sz="1000" b="0" i="0" noProof="0" dirty="0">
                <a:solidFill>
                  <a:schemeClr val="tx1">
                    <a:lumMod val="50000"/>
                  </a:schemeClr>
                </a:solidFill>
                <a:effectLst/>
                <a:latin typeface="Aptos Light" panose="020B0004020202020204" pitchFamily="34" charset="0"/>
              </a:rPr>
              <a:t>: Leveraging NVIDIA AI Enterprise software for advanced capabilities including physical AI.</a:t>
            </a:r>
          </a:p>
          <a:p>
            <a:pPr algn="l">
              <a:spcBef>
                <a:spcPts val="600"/>
              </a:spcBef>
              <a:spcAft>
                <a:spcPts val="1200"/>
              </a:spcAft>
              <a:buNone/>
            </a:pPr>
            <a:r>
              <a:rPr lang="en-NZ" sz="1000" b="1" i="0" noProof="0" dirty="0">
                <a:solidFill>
                  <a:schemeClr val="tx1">
                    <a:lumMod val="50000"/>
                  </a:schemeClr>
                </a:solidFill>
                <a:effectLst/>
                <a:latin typeface="Aptos Light" panose="020B0004020202020204" pitchFamily="34" charset="0"/>
              </a:rPr>
              <a:t>Financial Services Specialization:</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Regulatory Compliance Integration</a:t>
            </a:r>
            <a:r>
              <a:rPr lang="en-NZ" sz="1000" b="0" i="0" noProof="0" dirty="0">
                <a:solidFill>
                  <a:schemeClr val="tx1">
                    <a:lumMod val="50000"/>
                  </a:schemeClr>
                </a:solidFill>
                <a:effectLst/>
                <a:latin typeface="Aptos Light" panose="020B0004020202020204" pitchFamily="34" charset="0"/>
              </a:rPr>
              <a:t>: Built-in frameworks for banking regulations (Basel III, DORA, EU AI Act).</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Risk Management</a:t>
            </a:r>
            <a:r>
              <a:rPr lang="en-NZ" sz="1000" b="0" i="0" noProof="0" dirty="0">
                <a:solidFill>
                  <a:schemeClr val="tx1">
                    <a:lumMod val="50000"/>
                  </a:schemeClr>
                </a:solidFill>
                <a:effectLst/>
                <a:latin typeface="Aptos Light" panose="020B0004020202020204" pitchFamily="34" charset="0"/>
              </a:rPr>
              <a:t>: Specialized models for credit risk, operational risk, and model validation.</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Customer Experience</a:t>
            </a:r>
            <a:r>
              <a:rPr lang="en-NZ" sz="1000" b="0" i="0" noProof="0" dirty="0">
                <a:solidFill>
                  <a:schemeClr val="tx1">
                    <a:lumMod val="50000"/>
                  </a:schemeClr>
                </a:solidFill>
                <a:effectLst/>
                <a:latin typeface="Aptos Light" panose="020B0004020202020204" pitchFamily="34" charset="0"/>
              </a:rPr>
              <a:t>: Proven implementations in conversational AI, personalization, and fraud detection.</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Data Sovereignty</a:t>
            </a:r>
            <a:r>
              <a:rPr lang="en-NZ" sz="1000" b="0" i="0" noProof="0" dirty="0">
                <a:solidFill>
                  <a:schemeClr val="tx1">
                    <a:lumMod val="50000"/>
                  </a:schemeClr>
                </a:solidFill>
                <a:effectLst/>
                <a:latin typeface="Aptos Light" panose="020B0004020202020204" pitchFamily="34" charset="0"/>
              </a:rPr>
              <a:t>: Flexible deployment across public cloud, private cloud, on-premises, and sovereign infrastructure.</a:t>
            </a:r>
          </a:p>
          <a:p>
            <a:pPr algn="l">
              <a:spcBef>
                <a:spcPts val="600"/>
              </a:spcBef>
              <a:spcAft>
                <a:spcPts val="1200"/>
              </a:spcAft>
              <a:buNone/>
            </a:pPr>
            <a:r>
              <a:rPr lang="en-NZ" sz="1000" b="1" i="0" noProof="0" dirty="0">
                <a:solidFill>
                  <a:schemeClr val="tx1">
                    <a:lumMod val="50000"/>
                  </a:schemeClr>
                </a:solidFill>
                <a:effectLst/>
                <a:latin typeface="Aptos Light" panose="020B0004020202020204" pitchFamily="34" charset="0"/>
              </a:rPr>
              <a:t>Deployment Flexibility:</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Multi-Cloud Support</a:t>
            </a:r>
            <a:r>
              <a:rPr lang="en-NZ" sz="1000" b="0" i="0" noProof="0" dirty="0">
                <a:solidFill>
                  <a:schemeClr val="tx1">
                    <a:lumMod val="50000"/>
                  </a:schemeClr>
                </a:solidFill>
                <a:effectLst/>
                <a:latin typeface="Aptos Light" panose="020B0004020202020204" pitchFamily="34" charset="0"/>
              </a:rPr>
              <a:t>: AWS, Azure, Google Cloud platform integrations.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On-Premises Options</a:t>
            </a:r>
            <a:r>
              <a:rPr lang="en-NZ" sz="1000" b="0" i="0" noProof="0" dirty="0">
                <a:solidFill>
                  <a:schemeClr val="tx1">
                    <a:lumMod val="50000"/>
                  </a:schemeClr>
                </a:solidFill>
                <a:effectLst/>
                <a:latin typeface="Aptos Light" panose="020B0004020202020204" pitchFamily="34" charset="0"/>
              </a:rPr>
              <a:t>: Self-managed deployments for highly regulated environments.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Hybrid Models</a:t>
            </a:r>
            <a:r>
              <a:rPr lang="en-NZ" sz="1000" b="0" i="0" noProof="0" dirty="0">
                <a:solidFill>
                  <a:schemeClr val="tx1">
                    <a:lumMod val="50000"/>
                  </a:schemeClr>
                </a:solidFill>
                <a:effectLst/>
                <a:latin typeface="Aptos Light" panose="020B0004020202020204" pitchFamily="34" charset="0"/>
              </a:rPr>
              <a:t>: Integration between cloud and on-premises components.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Regional Data Residency</a:t>
            </a:r>
            <a:r>
              <a:rPr lang="en-NZ" sz="1000" b="0" i="0" noProof="0" dirty="0">
                <a:solidFill>
                  <a:schemeClr val="tx1">
                    <a:lumMod val="50000"/>
                  </a:schemeClr>
                </a:solidFill>
                <a:effectLst/>
                <a:latin typeface="Aptos Light" panose="020B0004020202020204" pitchFamily="34" charset="0"/>
              </a:rPr>
              <a:t>: Compliance with local data protection requirements.</a:t>
            </a:r>
          </a:p>
        </p:txBody>
      </p:sp>
      <p:sp>
        <p:nvSpPr>
          <p:cNvPr id="7" name="TextBox 6">
            <a:extLst>
              <a:ext uri="{FF2B5EF4-FFF2-40B4-BE49-F238E27FC236}">
                <a16:creationId xmlns:a16="http://schemas.microsoft.com/office/drawing/2014/main" id="{4C0A82D5-71AD-CD9C-3B81-F1F6ECB79389}"/>
              </a:ext>
            </a:extLst>
          </p:cNvPr>
          <p:cNvSpPr txBox="1"/>
          <p:nvPr/>
        </p:nvSpPr>
        <p:spPr>
          <a:xfrm>
            <a:off x="6329362" y="639616"/>
            <a:ext cx="5611808" cy="4939814"/>
          </a:xfrm>
          <a:prstGeom prst="rect">
            <a:avLst/>
          </a:prstGeom>
          <a:noFill/>
        </p:spPr>
        <p:txBody>
          <a:bodyPr wrap="square">
            <a:spAutoFit/>
          </a:bodyPr>
          <a:lstStyle/>
          <a:p>
            <a:pPr algn="l">
              <a:spcAft>
                <a:spcPts val="1200"/>
              </a:spcAft>
              <a:buNone/>
            </a:pPr>
            <a:r>
              <a:rPr lang="en-NZ" sz="1000" b="1" i="0" noProof="0" dirty="0">
                <a:solidFill>
                  <a:schemeClr val="tx1">
                    <a:lumMod val="50000"/>
                  </a:schemeClr>
                </a:solidFill>
                <a:effectLst/>
                <a:latin typeface="Aptos Light" panose="020B0004020202020204" pitchFamily="34" charset="0"/>
              </a:rPr>
              <a:t>Scale of Banking Engagements:</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Global Banking Portfolio</a:t>
            </a:r>
            <a:r>
              <a:rPr lang="en-NZ" sz="1000" b="0" i="0" noProof="0" dirty="0">
                <a:solidFill>
                  <a:schemeClr val="tx1">
                    <a:lumMod val="50000"/>
                  </a:schemeClr>
                </a:solidFill>
                <a:effectLst/>
                <a:latin typeface="Aptos Light" panose="020B0004020202020204" pitchFamily="34" charset="0"/>
              </a:rPr>
              <a:t>: Good client base across retail, commercial, and investment banking.</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AI Transformation Programs</a:t>
            </a:r>
            <a:r>
              <a:rPr lang="en-NZ" sz="1000" b="0" i="0" noProof="0" dirty="0">
                <a:solidFill>
                  <a:schemeClr val="tx1">
                    <a:lumMod val="50000"/>
                  </a:schemeClr>
                </a:solidFill>
                <a:effectLst/>
                <a:latin typeface="Aptos Light" panose="020B0004020202020204" pitchFamily="34" charset="0"/>
              </a:rPr>
              <a:t>: End-to-end implementations from strategy through operations.</a:t>
            </a:r>
          </a:p>
          <a:p>
            <a:pPr marL="171450" indent="-171450" algn="l">
              <a:buFont typeface="Arial" panose="020B0604020202020204" pitchFamily="34" charset="0"/>
              <a:buChar char="•"/>
            </a:pPr>
            <a:r>
              <a:rPr lang="en-NZ" sz="1000" b="1" i="0" noProof="0" dirty="0" err="1">
                <a:solidFill>
                  <a:schemeClr val="tx1">
                    <a:lumMod val="50000"/>
                  </a:schemeClr>
                </a:solidFill>
                <a:effectLst/>
                <a:latin typeface="Aptos Light" panose="020B0004020202020204" pitchFamily="34" charset="0"/>
              </a:rPr>
              <a:t>RegTech</a:t>
            </a:r>
            <a:r>
              <a:rPr lang="en-NZ" sz="1000" b="1" i="0" noProof="0" dirty="0">
                <a:solidFill>
                  <a:schemeClr val="tx1">
                    <a:lumMod val="50000"/>
                  </a:schemeClr>
                </a:solidFill>
                <a:effectLst/>
                <a:latin typeface="Aptos Light" panose="020B0004020202020204" pitchFamily="34" charset="0"/>
              </a:rPr>
              <a:t> Solutions</a:t>
            </a:r>
            <a:r>
              <a:rPr lang="en-NZ" sz="1000" b="0" i="0" noProof="0" dirty="0">
                <a:solidFill>
                  <a:schemeClr val="tx1">
                    <a:lumMod val="50000"/>
                  </a:schemeClr>
                </a:solidFill>
                <a:effectLst/>
                <a:latin typeface="Aptos Light" panose="020B0004020202020204" pitchFamily="34" charset="0"/>
              </a:rPr>
              <a:t>: Specialized offerings for regulatory reporting and compliance automation.</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Innovation Labs</a:t>
            </a:r>
            <a:r>
              <a:rPr lang="en-NZ" sz="1000" b="0" i="0" noProof="0" dirty="0">
                <a:solidFill>
                  <a:schemeClr val="tx1">
                    <a:lumMod val="50000"/>
                  </a:schemeClr>
                </a:solidFill>
                <a:effectLst/>
                <a:latin typeface="Aptos Light" panose="020B0004020202020204" pitchFamily="34" charset="0"/>
              </a:rPr>
              <a:t>: Collaborative development environments for proof-of-concept and pilot programs.</a:t>
            </a:r>
          </a:p>
          <a:p>
            <a:pPr algn="l">
              <a:buFont typeface="Arial" panose="020B0604020202020204" pitchFamily="34" charset="0"/>
              <a:buChar char="•"/>
            </a:pPr>
            <a:endParaRPr lang="en-NZ" sz="1000" b="0" i="0" noProof="0" dirty="0">
              <a:solidFill>
                <a:schemeClr val="tx1">
                  <a:lumMod val="50000"/>
                </a:schemeClr>
              </a:solidFill>
              <a:effectLst/>
              <a:latin typeface="Aptos Light" panose="020B0004020202020204" pitchFamily="34" charset="0"/>
            </a:endParaRPr>
          </a:p>
          <a:p>
            <a:pPr algn="l">
              <a:spcAft>
                <a:spcPts val="1200"/>
              </a:spcAft>
              <a:buNone/>
            </a:pPr>
            <a:r>
              <a:rPr lang="en-NZ" sz="1000" b="1" i="0" noProof="0" dirty="0">
                <a:solidFill>
                  <a:schemeClr val="tx1">
                    <a:lumMod val="50000"/>
                  </a:schemeClr>
                </a:solidFill>
                <a:effectLst/>
                <a:latin typeface="Aptos Light" panose="020B0004020202020204" pitchFamily="34" charset="0"/>
              </a:rPr>
              <a:t>Partnership Model Advantages:</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Risk Sharing</a:t>
            </a:r>
            <a:r>
              <a:rPr lang="en-NZ" sz="1000" b="0" i="0" noProof="0" dirty="0">
                <a:solidFill>
                  <a:schemeClr val="tx1">
                    <a:lumMod val="50000"/>
                  </a:schemeClr>
                </a:solidFill>
                <a:effectLst/>
                <a:latin typeface="Aptos Light" panose="020B0004020202020204" pitchFamily="34" charset="0"/>
              </a:rPr>
              <a:t>: Shared accountability for AI implementation success.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Accelerated Delivery</a:t>
            </a:r>
            <a:r>
              <a:rPr lang="en-NZ" sz="1000" b="0" i="0" noProof="0" dirty="0">
                <a:solidFill>
                  <a:schemeClr val="tx1">
                    <a:lumMod val="50000"/>
                  </a:schemeClr>
                </a:solidFill>
                <a:effectLst/>
                <a:latin typeface="Aptos Light" panose="020B0004020202020204" pitchFamily="34" charset="0"/>
              </a:rPr>
              <a:t>: Pre-built frameworks reduce implementation timelines from years to months.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Global Best Practices</a:t>
            </a:r>
            <a:r>
              <a:rPr lang="en-NZ" sz="1000" b="0" i="0" noProof="0" dirty="0">
                <a:solidFill>
                  <a:schemeClr val="tx1">
                    <a:lumMod val="50000"/>
                  </a:schemeClr>
                </a:solidFill>
                <a:effectLst/>
                <a:latin typeface="Aptos Light" panose="020B0004020202020204" pitchFamily="34" charset="0"/>
              </a:rPr>
              <a:t>: Access to cross-industry AI implementations and lessons learned.</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Continuous Innovation</a:t>
            </a:r>
            <a:r>
              <a:rPr lang="en-NZ" sz="1000" b="0" i="0" noProof="0" dirty="0">
                <a:solidFill>
                  <a:schemeClr val="tx1">
                    <a:lumMod val="50000"/>
                  </a:schemeClr>
                </a:solidFill>
                <a:effectLst/>
                <a:latin typeface="Aptos Light" panose="020B0004020202020204" pitchFamily="34" charset="0"/>
              </a:rPr>
              <a:t>: Ongoing platform evolution through R&amp;D investment and client feedback.</a:t>
            </a:r>
          </a:p>
          <a:p>
            <a:pPr algn="l">
              <a:spcBef>
                <a:spcPts val="600"/>
              </a:spcBef>
              <a:spcAft>
                <a:spcPts val="1200"/>
              </a:spcAft>
              <a:buNone/>
            </a:pPr>
            <a:r>
              <a:rPr lang="en-NZ" sz="1000" b="1" i="0" noProof="0" dirty="0">
                <a:solidFill>
                  <a:schemeClr val="tx1">
                    <a:lumMod val="50000"/>
                  </a:schemeClr>
                </a:solidFill>
                <a:effectLst/>
                <a:latin typeface="Aptos Light" panose="020B0004020202020204" pitchFamily="34" charset="0"/>
              </a:rPr>
              <a:t>Alignment with BNZ Requirements:</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Scale Match</a:t>
            </a:r>
            <a:r>
              <a:rPr lang="en-NZ" sz="1000" b="0" i="0" noProof="0" dirty="0">
                <a:solidFill>
                  <a:schemeClr val="tx1">
                    <a:lumMod val="50000"/>
                  </a:schemeClr>
                </a:solidFill>
                <a:effectLst/>
                <a:latin typeface="Aptos Light" panose="020B0004020202020204" pitchFamily="34" charset="0"/>
              </a:rPr>
              <a:t>: Mid-tier banks (like BNZ) represent optimal partnership targets - sufficient complexity to justify enterprise AI but manageable scope for focused implementation.</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Regional Expertise</a:t>
            </a:r>
            <a:r>
              <a:rPr lang="en-NZ" sz="1000" b="0" i="0" noProof="0" dirty="0">
                <a:solidFill>
                  <a:schemeClr val="tx1">
                    <a:lumMod val="50000"/>
                  </a:schemeClr>
                </a:solidFill>
                <a:effectLst/>
                <a:latin typeface="Aptos Light" panose="020B0004020202020204" pitchFamily="34" charset="0"/>
              </a:rPr>
              <a:t>: Strong presence in Asia-Pacific with understanding of local regulatory environments.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Partnership Philosophy</a:t>
            </a:r>
            <a:r>
              <a:rPr lang="en-NZ" sz="1000" b="0" i="0" noProof="0" dirty="0">
                <a:solidFill>
                  <a:schemeClr val="tx1">
                    <a:lumMod val="50000"/>
                  </a:schemeClr>
                </a:solidFill>
                <a:effectLst/>
                <a:latin typeface="Aptos Light" panose="020B0004020202020204" pitchFamily="34" charset="0"/>
              </a:rPr>
              <a:t>: Emphasis on building client capabilities rather than creating dependency.</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Technology Transfer</a:t>
            </a:r>
            <a:r>
              <a:rPr lang="en-NZ" sz="1000" b="0" i="0" noProof="0" dirty="0">
                <a:solidFill>
                  <a:schemeClr val="tx1">
                    <a:lumMod val="50000"/>
                  </a:schemeClr>
                </a:solidFill>
                <a:effectLst/>
                <a:latin typeface="Aptos Light" panose="020B0004020202020204" pitchFamily="34" charset="0"/>
              </a:rPr>
              <a:t>: Commitment to developing internal client AI literacy alongside platform implementation.</a:t>
            </a:r>
          </a:p>
          <a:p>
            <a:pPr algn="l">
              <a:buFont typeface="Arial" panose="020B0604020202020204" pitchFamily="34" charset="0"/>
              <a:buChar char="•"/>
            </a:pPr>
            <a:endParaRPr lang="en-NZ" sz="1000" b="0" i="0" noProof="0" dirty="0">
              <a:solidFill>
                <a:schemeClr val="tx1">
                  <a:lumMod val="50000"/>
                </a:schemeClr>
              </a:solidFill>
              <a:effectLst/>
              <a:latin typeface="Aptos Light" panose="020B0004020202020204" pitchFamily="34" charset="0"/>
            </a:endParaRPr>
          </a:p>
          <a:p>
            <a:pPr algn="l">
              <a:spcAft>
                <a:spcPts val="1200"/>
              </a:spcAft>
              <a:buNone/>
            </a:pPr>
            <a:r>
              <a:rPr lang="en-NZ" sz="1000" b="1" i="0" noProof="0" dirty="0">
                <a:solidFill>
                  <a:schemeClr val="tx1">
                    <a:lumMod val="50000"/>
                  </a:schemeClr>
                </a:solidFill>
                <a:effectLst/>
                <a:latin typeface="Aptos Light" panose="020B0004020202020204" pitchFamily="34" charset="0"/>
              </a:rPr>
              <a:t>Competitive Differentiation:</a:t>
            </a:r>
            <a:endParaRPr lang="en-NZ" sz="1000" b="0" i="0" noProof="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Banking Focus</a:t>
            </a:r>
            <a:r>
              <a:rPr lang="en-NZ" sz="1000" b="0" i="0" noProof="0" dirty="0">
                <a:solidFill>
                  <a:schemeClr val="tx1">
                    <a:lumMod val="50000"/>
                  </a:schemeClr>
                </a:solidFill>
                <a:effectLst/>
                <a:latin typeface="Aptos Light" panose="020B0004020202020204" pitchFamily="34" charset="0"/>
              </a:rPr>
              <a:t>: Industry-specific solutions vs. generic enterprise AI platforms.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Full-Service Model</a:t>
            </a:r>
            <a:r>
              <a:rPr lang="en-NZ" sz="1000" b="0" i="0" noProof="0" dirty="0">
                <a:solidFill>
                  <a:schemeClr val="tx1">
                    <a:lumMod val="50000"/>
                  </a:schemeClr>
                </a:solidFill>
                <a:effectLst/>
                <a:latin typeface="Aptos Light" panose="020B0004020202020204" pitchFamily="34" charset="0"/>
              </a:rPr>
              <a:t>: Strategy, implementation, and operations support vs. technology-only vendors.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Global Scale with Local Delivery</a:t>
            </a:r>
            <a:r>
              <a:rPr lang="en-NZ" sz="1000" b="0" i="0" noProof="0" dirty="0">
                <a:solidFill>
                  <a:schemeClr val="tx1">
                    <a:lumMod val="50000"/>
                  </a:schemeClr>
                </a:solidFill>
                <a:effectLst/>
                <a:latin typeface="Aptos Light" panose="020B0004020202020204" pitchFamily="34" charset="0"/>
              </a:rPr>
              <a:t>: 40,000+ AI professionals with regional implementation teams.</a:t>
            </a:r>
          </a:p>
          <a:p>
            <a:pPr marL="171450" indent="-171450" algn="l">
              <a:buFont typeface="Arial" panose="020B0604020202020204" pitchFamily="34" charset="0"/>
              <a:buChar char="•"/>
            </a:pPr>
            <a:r>
              <a:rPr lang="en-NZ" sz="1000" b="1" i="0" noProof="0" dirty="0">
                <a:solidFill>
                  <a:schemeClr val="tx1">
                    <a:lumMod val="50000"/>
                  </a:schemeClr>
                </a:solidFill>
                <a:effectLst/>
                <a:latin typeface="Aptos Light" panose="020B0004020202020204" pitchFamily="34" charset="0"/>
              </a:rPr>
              <a:t>Proven ROI</a:t>
            </a:r>
            <a:r>
              <a:rPr lang="en-NZ" sz="1000" b="0" i="0" noProof="0" dirty="0">
                <a:solidFill>
                  <a:schemeClr val="tx1">
                    <a:lumMod val="50000"/>
                  </a:schemeClr>
                </a:solidFill>
                <a:effectLst/>
                <a:latin typeface="Aptos Light" panose="020B0004020202020204" pitchFamily="34" charset="0"/>
              </a:rPr>
              <a:t>: Track record of successful AI transformations in comparable banking institutions</a:t>
            </a:r>
          </a:p>
          <a:p>
            <a:pPr marL="171450" indent="-171450">
              <a:spcAft>
                <a:spcPts val="1200"/>
              </a:spcAft>
              <a:buFont typeface="Arial" panose="020B0604020202020204" pitchFamily="34" charset="0"/>
              <a:buChar char="•"/>
            </a:pPr>
            <a:r>
              <a:rPr lang="en-NZ" sz="1000" b="1" noProof="0" dirty="0">
                <a:solidFill>
                  <a:schemeClr val="tx1">
                    <a:lumMod val="50000"/>
                  </a:schemeClr>
                </a:solidFill>
                <a:latin typeface="Aptos Light" panose="020B0004020202020204" pitchFamily="34" charset="0"/>
              </a:rPr>
              <a:t>Relationship</a:t>
            </a:r>
            <a:r>
              <a:rPr lang="en-NZ" sz="1000" noProof="0" dirty="0">
                <a:solidFill>
                  <a:schemeClr val="tx1">
                    <a:lumMod val="50000"/>
                  </a:schemeClr>
                </a:solidFill>
                <a:latin typeface="Aptos Light" panose="020B0004020202020204" pitchFamily="34" charset="0"/>
              </a:rPr>
              <a:t>: Already a BNZ partner.</a:t>
            </a:r>
            <a:endParaRPr lang="en-NZ" sz="1000" b="0" i="0" noProof="0" dirty="0">
              <a:solidFill>
                <a:schemeClr val="tx1">
                  <a:lumMod val="50000"/>
                </a:schemeClr>
              </a:solidFill>
              <a:effectLst/>
              <a:latin typeface="Aptos Light" panose="020B0004020202020204" pitchFamily="34" charset="0"/>
            </a:endParaRPr>
          </a:p>
        </p:txBody>
      </p:sp>
    </p:spTree>
    <p:extLst>
      <p:ext uri="{BB962C8B-B14F-4D97-AF65-F5344CB8AC3E}">
        <p14:creationId xmlns:p14="http://schemas.microsoft.com/office/powerpoint/2010/main" val="2107179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81D0-B1FD-CF97-ABE4-E8D8805C1F76}"/>
              </a:ext>
            </a:extLst>
          </p:cNvPr>
          <p:cNvSpPr>
            <a:spLocks noGrp="1"/>
          </p:cNvSpPr>
          <p:nvPr>
            <p:ph type="title"/>
          </p:nvPr>
        </p:nvSpPr>
        <p:spPr>
          <a:xfrm>
            <a:off x="298858" y="213021"/>
            <a:ext cx="10512424" cy="502605"/>
          </a:xfrm>
        </p:spPr>
        <p:txBody>
          <a:bodyPr/>
          <a:lstStyle/>
          <a:p>
            <a:r>
              <a:rPr lang="en-NZ" noProof="0" dirty="0"/>
              <a:t>References</a:t>
            </a:r>
          </a:p>
        </p:txBody>
      </p:sp>
      <p:sp>
        <p:nvSpPr>
          <p:cNvPr id="3" name="TextBox 2">
            <a:extLst>
              <a:ext uri="{FF2B5EF4-FFF2-40B4-BE49-F238E27FC236}">
                <a16:creationId xmlns:a16="http://schemas.microsoft.com/office/drawing/2014/main" id="{B00B7C3D-4B3A-57FF-C73C-0F2592DEF631}"/>
              </a:ext>
            </a:extLst>
          </p:cNvPr>
          <p:cNvSpPr txBox="1"/>
          <p:nvPr/>
        </p:nvSpPr>
        <p:spPr>
          <a:xfrm>
            <a:off x="584790" y="1382232"/>
            <a:ext cx="9784760" cy="923330"/>
          </a:xfrm>
          <a:prstGeom prst="rect">
            <a:avLst/>
          </a:prstGeom>
          <a:noFill/>
        </p:spPr>
        <p:txBody>
          <a:bodyPr wrap="square" rtlCol="0">
            <a:spAutoFit/>
          </a:bodyPr>
          <a:lstStyle/>
          <a:p>
            <a:pPr marL="342900" indent="-342900">
              <a:buFont typeface="+mj-lt"/>
              <a:buAutoNum type="arabicPeriod"/>
            </a:pPr>
            <a:r>
              <a:rPr lang="en-NZ" i="1" noProof="0" dirty="0"/>
              <a:t>Technology modernisation - Tech Spike - </a:t>
            </a:r>
            <a:r>
              <a:rPr lang="en-NZ" i="1" noProof="0" dirty="0" err="1"/>
              <a:t>AgenticAI</a:t>
            </a:r>
            <a:r>
              <a:rPr lang="en-NZ" i="1" noProof="0" dirty="0"/>
              <a:t> Feasibility Assessment</a:t>
            </a:r>
            <a:r>
              <a:rPr lang="en-NZ" noProof="0" dirty="0"/>
              <a:t>. NAB, August 2025.</a:t>
            </a:r>
          </a:p>
          <a:p>
            <a:pPr marL="342900" indent="-342900">
              <a:buFont typeface="+mj-lt"/>
              <a:buAutoNum type="arabicPeriod"/>
            </a:pPr>
            <a:r>
              <a:rPr lang="en-NZ" i="1" noProof="0" dirty="0">
                <a:hlinkClick r:id="rId2"/>
              </a:rPr>
              <a:t>AI Refinery – Design</a:t>
            </a:r>
            <a:r>
              <a:rPr lang="en-NZ" noProof="0" dirty="0"/>
              <a:t>. Accenture. August 2025.</a:t>
            </a:r>
          </a:p>
          <a:p>
            <a:pPr marL="342900" indent="-342900">
              <a:buFont typeface="+mj-lt"/>
              <a:buAutoNum type="arabicPeriod"/>
            </a:pPr>
            <a:r>
              <a:rPr lang="en-NZ" i="1" noProof="0" dirty="0">
                <a:hlinkClick r:id="rId3"/>
              </a:rPr>
              <a:t>AI Refinery – Design on a page</a:t>
            </a:r>
            <a:r>
              <a:rPr lang="en-NZ" noProof="0" dirty="0"/>
              <a:t>. BNZ / Accenture, August 2025.</a:t>
            </a:r>
          </a:p>
        </p:txBody>
      </p:sp>
    </p:spTree>
    <p:extLst>
      <p:ext uri="{BB962C8B-B14F-4D97-AF65-F5344CB8AC3E}">
        <p14:creationId xmlns:p14="http://schemas.microsoft.com/office/powerpoint/2010/main" val="3822684874"/>
      </p:ext>
    </p:extLst>
  </p:cSld>
  <p:clrMapOvr>
    <a:masterClrMapping/>
  </p:clrMapOvr>
</p:sld>
</file>

<file path=ppt/theme/theme1.xml><?xml version="1.0" encoding="utf-8"?>
<a:theme xmlns:a="http://schemas.openxmlformats.org/drawingml/2006/main" name="BNZ POWERPOINT TEMPLATE TITLE SLIDES">
  <a:themeElements>
    <a:clrScheme name="Custom 3">
      <a:dk1>
        <a:srgbClr val="002F6B"/>
      </a:dk1>
      <a:lt1>
        <a:srgbClr val="FAA61A"/>
      </a:lt1>
      <a:dk2>
        <a:srgbClr val="FFE500"/>
      </a:dk2>
      <a:lt2>
        <a:srgbClr val="E95160"/>
      </a:lt2>
      <a:accent1>
        <a:srgbClr val="007DC3"/>
      </a:accent1>
      <a:accent2>
        <a:srgbClr val="B5CD71"/>
      </a:accent2>
      <a:accent3>
        <a:srgbClr val="99CAD2"/>
      </a:accent3>
      <a:accent4>
        <a:srgbClr val="ED6B06"/>
      </a:accent4>
      <a:accent5>
        <a:srgbClr val="0B909F"/>
      </a:accent5>
      <a:accent6>
        <a:srgbClr val="5A1E58"/>
      </a:accent6>
      <a:hlink>
        <a:srgbClr val="007DC3"/>
      </a:hlink>
      <a:folHlink>
        <a:srgbClr val="59595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NZ Partners Powerpoint Template PRESENTATION" id="{AC7BB68A-2EFB-4A95-99B5-289DA6F147F6}" vid="{EE926F40-3CF5-48E3-9E6D-EEE78155B9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c9fbb4b-1c1e-4c73-bf96-26dac659926c" xsi:nil="true"/>
    <lcf76f155ced4ddcb4097134ff3c332f xmlns="ac12aba4-ac4f-49e7-b449-a8a58dcefcea">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Status xmlns="ac12aba4-ac4f-49e7-b449-a8a58dcefcea">ENDORSED</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06C705445D8BB4F8B95CEABD4D3B776" ma:contentTypeVersion="22" ma:contentTypeDescription="Create a new document." ma:contentTypeScope="" ma:versionID="5ee42203fabafafb1d9f6a8664b60be6">
  <xsd:schema xmlns:xsd="http://www.w3.org/2001/XMLSchema" xmlns:xs="http://www.w3.org/2001/XMLSchema" xmlns:p="http://schemas.microsoft.com/office/2006/metadata/properties" xmlns:ns1="http://schemas.microsoft.com/sharepoint/v3" xmlns:ns2="ac12aba4-ac4f-49e7-b449-a8a58dcefcea" xmlns:ns3="4c9fbb4b-1c1e-4c73-bf96-26dac659926c" targetNamespace="http://schemas.microsoft.com/office/2006/metadata/properties" ma:root="true" ma:fieldsID="4f69b25ccd5923eacfdba6fc3e27c9bd" ns1:_="" ns2:_="" ns3:_="">
    <xsd:import namespace="http://schemas.microsoft.com/sharepoint/v3"/>
    <xsd:import namespace="ac12aba4-ac4f-49e7-b449-a8a58dcefcea"/>
    <xsd:import namespace="4c9fbb4b-1c1e-4c73-bf96-26dac659926c"/>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1:_ip_UnifiedCompliancePolicyProperties" minOccurs="0"/>
                <xsd:element ref="ns1:_ip_UnifiedCompliancePolicyUIActio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12aba4-ac4f-49e7-b449-a8a58dcefc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0e30fd2-a112-4581-92a9-68851288a518"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Status" ma:index="27" nillable="true" ma:displayName="Status" ma:default="DRAFT" ma:format="Dropdown" ma:internalName="Status">
      <xsd:simpleType>
        <xsd:restriction base="dms:Choice">
          <xsd:enumeration value="ENDORSED"/>
          <xsd:enumeration value="DRAFT"/>
        </xsd:restriction>
      </xsd:simpleType>
    </xsd:element>
  </xsd:schema>
  <xsd:schema xmlns:xsd="http://www.w3.org/2001/XMLSchema" xmlns:xs="http://www.w3.org/2001/XMLSchema" xmlns:dms="http://schemas.microsoft.com/office/2006/documentManagement/types" xmlns:pc="http://schemas.microsoft.com/office/infopath/2007/PartnerControls" targetNamespace="4c9fbb4b-1c1e-4c73-bf96-26dac659926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066327f-67b0-47e4-8b07-a567c467af42}" ma:internalName="TaxCatchAll" ma:showField="CatchAllData" ma:web="4c9fbb4b-1c1e-4c73-bf96-26dac65992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FBB26B-B0A7-4F13-80CE-02523DE07724}">
  <ds:schemaRefs>
    <ds:schemaRef ds:uri="http://schemas.microsoft.com/sharepoint/v3/contenttype/forms"/>
  </ds:schemaRefs>
</ds:datastoreItem>
</file>

<file path=customXml/itemProps2.xml><?xml version="1.0" encoding="utf-8"?>
<ds:datastoreItem xmlns:ds="http://schemas.openxmlformats.org/officeDocument/2006/customXml" ds:itemID="{A5AA2A45-F78F-4084-B341-B95958AE5DCE}">
  <ds:schemaRefs>
    <ds:schemaRef ds:uri="http://purl.org/dc/terms/"/>
    <ds:schemaRef ds:uri="4c9fbb4b-1c1e-4c73-bf96-26dac659926c"/>
    <ds:schemaRef ds:uri="http://schemas.microsoft.com/office/2006/documentManagement/types"/>
    <ds:schemaRef ds:uri="ac12aba4-ac4f-49e7-b449-a8a58dcefcea"/>
    <ds:schemaRef ds:uri="http://purl.org/dc/elements/1.1/"/>
    <ds:schemaRef ds:uri="http://schemas.microsoft.com/office/2006/metadata/properties"/>
    <ds:schemaRef ds:uri="http://schemas.microsoft.com/sharepoint/v3"/>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693222D-1F26-4BFB-99D3-9C53D2493CC4}">
  <ds:schemaRefs>
    <ds:schemaRef ds:uri="4c9fbb4b-1c1e-4c73-bf96-26dac659926c"/>
    <ds:schemaRef ds:uri="ac12aba4-ac4f-49e7-b449-a8a58dcefc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857</TotalTime>
  <Words>2183</Words>
  <Application>Microsoft Office PowerPoint</Application>
  <PresentationFormat>Widescreen</PresentationFormat>
  <Paragraphs>167</Paragraphs>
  <Slides>10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Aptos Light</vt:lpstr>
      <vt:lpstr>Arial</vt:lpstr>
      <vt:lpstr>Calibri</vt:lpstr>
      <vt:lpstr>Calibri Light</vt:lpstr>
      <vt:lpstr>Serrano Bold Italic</vt:lpstr>
      <vt:lpstr>Serrano Book</vt:lpstr>
      <vt:lpstr>System Font Regular</vt:lpstr>
      <vt:lpstr>Wingdings</vt:lpstr>
      <vt:lpstr>BNZ POWERPOINT TEMPLATE TITLE SLIDES</vt:lpstr>
      <vt:lpstr>Agentic AI Strategy  NAB and Accenture considerations  September  9,  2025 Dermot O’Brien</vt:lpstr>
      <vt:lpstr>Agentic Platform - Strategic Position</vt:lpstr>
      <vt:lpstr>NAB agentic strategy alignment</vt:lpstr>
      <vt:lpstr>Considering alignment with NAB Agentic AI strategy </vt:lpstr>
      <vt:lpstr>AI Refinery is misaligned with NAB Agentic AI strategy </vt:lpstr>
      <vt:lpstr>Our BNZ design for AI Refinery can accommodate both AI Refinery applications and other built applications</vt:lpstr>
      <vt:lpstr>Partnering Considerations</vt:lpstr>
      <vt:lpstr>Partnership vs DIY Decisions</vt:lpstr>
      <vt:lpstr>Accenture AI Capabilities and Strategic Investment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Name – Target State</dc:title>
  <dc:creator>Corina Elama</dc:creator>
  <cp:lastModifiedBy>Dermot O'Brien</cp:lastModifiedBy>
  <cp:revision>17</cp:revision>
  <dcterms:created xsi:type="dcterms:W3CDTF">2024-08-26T23:36:39Z</dcterms:created>
  <dcterms:modified xsi:type="dcterms:W3CDTF">2025-09-08T23:09:52Z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7d1e36-6fc3-4f53-9115-a90510e29109_Enabled">
    <vt:lpwstr>true</vt:lpwstr>
  </property>
  <property fmtid="{D5CDD505-2E9C-101B-9397-08002B2CF9AE}" pid="3" name="MSIP_Label_387d1e36-6fc3-4f53-9115-a90510e29109_SetDate">
    <vt:lpwstr>2024-08-26T23:36:46Z</vt:lpwstr>
  </property>
  <property fmtid="{D5CDD505-2E9C-101B-9397-08002B2CF9AE}" pid="4" name="MSIP_Label_387d1e36-6fc3-4f53-9115-a90510e29109_Method">
    <vt:lpwstr>Privileged</vt:lpwstr>
  </property>
  <property fmtid="{D5CDD505-2E9C-101B-9397-08002B2CF9AE}" pid="5" name="MSIP_Label_387d1e36-6fc3-4f53-9115-a90510e29109_Name">
    <vt:lpwstr>387d1e36-6fc3-4f53-9115-a90510e29109</vt:lpwstr>
  </property>
  <property fmtid="{D5CDD505-2E9C-101B-9397-08002B2CF9AE}" pid="6" name="MSIP_Label_387d1e36-6fc3-4f53-9115-a90510e29109_SiteId">
    <vt:lpwstr>2dc32a81-25ce-4e14-b7bd-f7a45d1170c0</vt:lpwstr>
  </property>
  <property fmtid="{D5CDD505-2E9C-101B-9397-08002B2CF9AE}" pid="7" name="MSIP_Label_387d1e36-6fc3-4f53-9115-a90510e29109_ActionId">
    <vt:lpwstr>248941ed-95c0-42d8-86ca-41ad2835623e</vt:lpwstr>
  </property>
  <property fmtid="{D5CDD505-2E9C-101B-9397-08002B2CF9AE}" pid="8" name="MSIP_Label_387d1e36-6fc3-4f53-9115-a90510e29109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PRIVATE</vt:lpwstr>
  </property>
  <property fmtid="{D5CDD505-2E9C-101B-9397-08002B2CF9AE}" pid="11" name="ClassificationContentMarkingHeaderLocations">
    <vt:lpwstr>Office Theme:9</vt:lpwstr>
  </property>
  <property fmtid="{D5CDD505-2E9C-101B-9397-08002B2CF9AE}" pid="12" name="ClassificationContentMarkingHeaderText">
    <vt:lpwstr>PRIVATE</vt:lpwstr>
  </property>
  <property fmtid="{D5CDD505-2E9C-101B-9397-08002B2CF9AE}" pid="13" name="ContentTypeId">
    <vt:lpwstr>0x010100406C705445D8BB4F8B95CEABD4D3B776</vt:lpwstr>
  </property>
  <property fmtid="{D5CDD505-2E9C-101B-9397-08002B2CF9AE}" pid="14" name="MediaServiceImageTags">
    <vt:lpwstr/>
  </property>
  <property fmtid="{D5CDD505-2E9C-101B-9397-08002B2CF9AE}" pid="15" name="Tranche">
    <vt:lpwstr>March 2025</vt:lpwstr>
  </property>
</Properties>
</file>